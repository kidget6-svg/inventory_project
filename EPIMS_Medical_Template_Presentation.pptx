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5912" cy="5394960"/>
          </a:xfrm>
          <a:prstGeom prst="roundRect">
            <a:avLst>
              <a:gd name="adj" fmla="val 2034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51560"/>
            <a:ext cx="4937760" cy="347472"/>
          </a:xfrm>
          <a:prstGeom prst="roundRect">
            <a:avLst>
              <a:gd name="adj" fmla="val 2105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515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WOLDIA UNIVERSITY  •  INSTITUTE OF TECHNOLOGY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COMPUTER SCIENCE  •  SENIOR DEFENSE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System (EPIMS)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97280" y="35204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Decoupled Full-Stack Architecture for Clinical Dispensing, FEFO Batch Control &amp; Auditable Procurement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4160520"/>
            <a:ext cx="4754880" cy="1691640"/>
          </a:xfrm>
          <a:prstGeom prst="roundRect">
            <a:avLst>
              <a:gd name="adj" fmla="val 4324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42976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TEAM MEMBERS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461772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Mahlet Yimenu 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(ID: 160805)
</a:t>
            </a:r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Kidist Getaneh 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(ID: 160785)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4160520"/>
            <a:ext cx="4846320" cy="1691640"/>
          </a:xfrm>
          <a:prstGeom prst="roundRect">
            <a:avLst>
              <a:gd name="adj" fmla="val 4324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42976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SPECIFICATIONS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46177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Tech Stack: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 12 API + React 18 SPA (Vite)
</a:t>
            </a:r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(23 Tables, 3NF Schema)
</a:t>
            </a:r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Date &amp; Venue: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August 2026  |  Woldia, Ethiopia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Roadmap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5727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15727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&amp; Context  —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Healthcare environment and the pharmacy distribution lifecycle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249424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3591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89888" y="235915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 —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bin card errors, expiry losses, and audit bottlenecks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35808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1455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145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89888" y="314553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Objectives  —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objective and four specific engineering milestones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822192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89888" y="39319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Scope  —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functional inclusions across all user domains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608576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7183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718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89888" y="471830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Delimitations  —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Architectural boundaries and future expansion phases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5394960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5504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89888" y="550468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 &amp; Sprints  —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gathering in Woldia and 5 Agile development sprints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1463040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27648" y="15727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76288" y="15727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vs. Proposed System  —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limitations and core Business Rules (BR1-BR5)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2249424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7648" y="23591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76288" y="235915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Stack  —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Decoupled React 18 SPA + Laravel 12 REST API + MySQL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3035808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27648" y="31455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3145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76288" y="314553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Dispensing &amp; POS  —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Segregated pharmacist staging and cashier payment workflows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3822192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27648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76288" y="39319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&amp; FEFO Engine  —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batch allocation and immutable stock movements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4608576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7648" y="47183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27648" y="4718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76288" y="471830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&amp; State Machine  —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5-Stage Purchase Order lifecycle preventing duplicate entries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17920" y="5394960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27648" y="5504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76288" y="550468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Future Work  —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achievements, testing results, and future enhancements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Background: Pharmacy Distribution &amp; Care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459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CONTEXT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Foundational Healthcare Pillar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2697480"/>
            <a:ext cx="29718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Pharmaceutical distribution is vital in Ethiopian dispensaries (Woldia, Dessie, Addis Ababa).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Consistent drug availability and timely replenishment directly impact patient clinical recovery.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Ensuring affordable access while upholding strict safety protocols is essential for public health.
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6459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FLOW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0" y="2011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Pharmacy Lifecycle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2697480"/>
            <a:ext cx="29718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Procurement: Supplier requisitioning, purchase orders, and lead time tracking.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Warehousing: Multi-batch logging, manufacturing/expiry dates, and shelf coordinates.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Clinical Dispensing: Prescription dosage validation and patient safety checks.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Point of Sale &amp; Audit: Financial checkout, thermal receipting, and EFDA regulatory reporting.
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5528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6459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MODERNIZATION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183880" y="2011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Digital Imperative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83880" y="2697480"/>
            <a:ext cx="29718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Rapid population growth overwhelms traditional paper bin cards and spreadsheets.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Dispensaries require real-time stock counts and instant generic name/barcode search.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 centralized web system prevents medication stock-outs and avoids expiration waste.
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PROBLEM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Statement of the Problem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459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459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DISCREPANCIES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0120" y="199339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Inaccuracies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7744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paper bin cards diverge from physical shelf counts, creating unrecorded inventory discrepancies and untraceable shrinkage.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6459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6459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LOSS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0" y="199339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Medication Expiry Waste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37744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Absence of automated First Expiry, First Out (FEFO) sorting causes older drug batches to expire unnoticed on dispensary shelves.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146304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6459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6459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UNVERIFIED ORDERS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183880" y="199339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Disconnected Purchasing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237744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Informal verbal/paper orders prevent tracking supplier delivery lead times and reconciling physical stock against approved orders.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402336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2062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2062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 QUEUES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0120" y="455371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 Bottlenecks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93776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Conflating clinical dispensing with cashier payment collection causes counter delays, long patient queues, and reconciliation errors.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402336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42062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2062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DEFICIT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46520" y="455371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EFDA Traceability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46520" y="493776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paper registries fail to provide immutable, chronological audit trails legally mandated by the Ethiopian Food and Drug Authority.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OBJECTIVES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Objectives: General &amp; Specific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10725912" cy="1234440"/>
          </a:xfrm>
          <a:prstGeom prst="roundRect">
            <a:avLst>
              <a:gd name="adj" fmla="val 7407"/>
            </a:avLst>
          </a:prstGeom>
          <a:solidFill>
            <a:srgbClr val="0B3C5D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00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design, develop, test, and document a secure, automated, full-stack web-based Ethiopian Pharmacy Inventory Management System (EPIMS) that centralizes inventory control, procurement workflows, two-stage prescription and retail dispensing, financial checkout, and role-based auditing.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5239512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3063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Modeling &amp; FEFO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41071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a 3NF relational database schema modeling medicine catalogs, multi-batch records, dynamic reorder thresholds, and strict First Expiry, First Out (FEFO) dispensing algorithms.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880360"/>
            <a:ext cx="5239512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3063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PO State Machine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341071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 an automated multi-stage Purchase Order lifecycle (Draft → Pending → Sent → Received → Completed) to eliminate duplicate stock entries and generate vendor PDF purchase orders.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572000"/>
            <a:ext cx="5239512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754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4754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Two-Stage Dispensing &amp; POS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54480" y="510235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segregated clinical prescription dispensing queue for pharmacists and a high-speed cashier POS interface supporting cash, Telebirr, and CBE Birr payments.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4572000"/>
            <a:ext cx="5239512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754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4754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RBAC &amp; Automated Exports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510235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Sanctum bearer token security with fine-grained RBAC permission middleware, automated DOMPDF thermal receipts/invoices, and Laravel Excel report streams.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SCOPE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Scope of EPIMS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5239512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45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16459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&amp; Security Governance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17320" y="1993392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registration, Admin approval gates, Sanctum bearer tokens, and granular Role-Based Access Control (RBAC).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5239512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645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16459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Medicine &amp; Retail Product Catalog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03720" y="1993392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CRUD cataloging with generic/brand names, dosage forms, therapeutic classes, shelf codes, and barcode lookup.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090672"/>
            <a:ext cx="5239512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2735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73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7320" y="32735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Multi-Batch &amp; Expiry Monitoring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417320" y="3621024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Tracking batch numbers, manufacturing/expiration dates, purchase costs, automated low-stock warnings, and FEFO allocation.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090672"/>
            <a:ext cx="5239512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2735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273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32735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Order Lifecycle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03720" y="3621024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registry, requisition draft-to-completed state transitions, vendor PDF generation, and atomic stock incrementation.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718304"/>
            <a:ext cx="5239512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49011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901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17320" y="490118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Two-Stage Dispensing &amp; POS Terminal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417320" y="5248656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Pharmacist clinical staging queue, cashier retail POS, and support for Telebirr, CBE Birr mobile banking, and Cash.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718304"/>
            <a:ext cx="5239512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49011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901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03720" y="490118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Analytics &amp; Audit Logs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03720" y="5248656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Chart.js revenue visualizations, DOMPDF thermal receipts and invoices, Excel data streams, and immutable user audit trails.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DELIMITATIONS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Delimitations &amp; Architectural Boundaries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10725912" cy="1444752"/>
          </a:xfrm>
          <a:prstGeom prst="roundRect">
            <a:avLst>
              <a:gd name="adj" fmla="val 5063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459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162763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Patient E-Commerce &amp; Home Delivery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196596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public consumer web storefronts, online shopping carts, and courier shipping dispatch integrations are excluded.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91640" y="2395728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Rationale: The system is engineered to solve internal dispensary workflows, physical counter queuing, and institutional stock controls first.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10725912" cy="1444752"/>
          </a:xfrm>
          <a:prstGeom prst="roundRect">
            <a:avLst>
              <a:gd name="adj" fmla="val 5063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2461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322783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Robotic Dispensing Hardware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356616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physical integration with robotic pick-and-pack machines or hospital pneumatic tube transport systems is delimited.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91640" y="3995928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Rationale: Ethiopian community and hospital pharmacies operate primarily with human pharmacist clinical verification and manual shelf retrieval.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663440"/>
            <a:ext cx="10725912" cy="1444752"/>
          </a:xfrm>
          <a:prstGeom prst="roundRect">
            <a:avLst>
              <a:gd name="adj" fmla="val 5063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8463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482803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Electronic Health Record (EHR) Telecommunication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91640" y="516636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bidirectional integration with nationwide health databases and central hospital EHR systems is deferred to future iterations.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91640" y="5596128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Rationale: Requires national FHIR/HL7 standard compliance protocols which are currently evolving across regional health bureaus.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Gathering &amp; Requirements Elicitation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459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RESEARCH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 Interviews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69748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Conducted structured and semi-structured interview sessions with practicing licensed pharmacists, pharmacy branch managers, and cashier staff in Woldia town.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" y="4526280"/>
            <a:ext cx="2971800" cy="1508760"/>
          </a:xfrm>
          <a:prstGeom prst="roundRect">
            <a:avLst>
              <a:gd name="adj" fmla="val 3636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61772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Findings: Identified major pain points around manual bin card math, cashier queue delays during peak hours, and stock loss from unmonitored expiration dates.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4340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6459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STUDY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0" y="20574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Operational Observation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69748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Performed direct on-site observation of dispensary operations to map customer queuing patterns, shelf bin card updates, and cashier payment handoffs.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4526280"/>
            <a:ext cx="2971800" cy="1508760"/>
          </a:xfrm>
          <a:prstGeom prst="roundRect">
            <a:avLst>
              <a:gd name="adj" fmla="val 3636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61772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Findings: Revealed severe bottlenecks caused when dispensing pharmacists handle both medicine verification and cash collection simultaneously.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5528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16459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83880" y="20574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&amp; Regulatory Analysis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83880" y="269748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Systematically reviewed physical paper artifacts including paper bin cards, supplier delivery invoices, manual prescription slips, and daily balance ledgers.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83880" y="4526280"/>
            <a:ext cx="2971800" cy="1508760"/>
          </a:xfrm>
          <a:prstGeom prst="roundRect">
            <a:avLst>
              <a:gd name="adj" fmla="val 3636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461772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Findings: Integrated mandatory data fields required by Ethiopian Food and Drug Authority (EFDA) Good Dispensing Practice guidelines.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 SDLC: 5 Functional Development Sprints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Iterative and Incremental Agile Development Model was adopted across five progressive sprints: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2057400" cy="4389120"/>
          </a:xfrm>
          <a:prstGeom prst="roundRect">
            <a:avLst>
              <a:gd name="adj" fmla="val 3556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20240"/>
            <a:ext cx="2057400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20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Architecture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200400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migrations, user authentication, Sanctum token engine, and dynamic Role-Based Access Control (RBAC).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07792" y="1920240"/>
            <a:ext cx="2057400" cy="4389120"/>
          </a:xfrm>
          <a:prstGeom prst="roundRect">
            <a:avLst>
              <a:gd name="adj" fmla="val 3556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07792" y="1920240"/>
            <a:ext cx="2057400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1920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99232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Medicine Catalog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44952" y="3200400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Medicine master data CRUD, multi-batch tracking, shelf location mapping, and wholesale supplier directory.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84064" y="1920240"/>
            <a:ext cx="2057400" cy="4389120"/>
          </a:xfrm>
          <a:prstGeom prst="roundRect">
            <a:avLst>
              <a:gd name="adj" fmla="val 3556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4064" y="1920240"/>
            <a:ext cx="2057400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4064" y="1920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75504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Lifecycle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21224" y="3200400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order state machine, supplier PDF generation, and automated stock movement audit ledgers.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60336" y="1920240"/>
            <a:ext cx="2057400" cy="4389120"/>
          </a:xfrm>
          <a:prstGeom prst="roundRect">
            <a:avLst>
              <a:gd name="adj" fmla="val 3556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60336" y="1920240"/>
            <a:ext cx="2057400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0336" y="1920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51776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Dispensing &amp; POS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97496" y="3200400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prescription staging queue, cashier retail POS, Telebirr &amp; CBE Birr payment options, and receipt generation.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36608" y="1920240"/>
            <a:ext cx="2057400" cy="4389120"/>
          </a:xfrm>
          <a:prstGeom prst="roundRect">
            <a:avLst>
              <a:gd name="adj" fmla="val 3556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36608" y="1920240"/>
            <a:ext cx="2057400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36608" y="1920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28048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UAT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73768" y="3200400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Chart.js executive dashboards, audit trail logging, four-tier testing hierarchy, and user acceptance evaluations.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FEASIBILITY STUDY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Feasibility Analysis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6459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6459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0584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Feasibility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205740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Proven modern web technologies: Laravel 12 on PHP 8.2+ and React 18 SPA.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Stateless RESTful API ensures low server resource consumption and horizontal scalability.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Native Sanctum token issuance and Eloquent ORM ensure rapid, reliable data modeling.
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0" y="16459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0" y="16459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9224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Feasibility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205740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Tailwind CSS delivers clean, role-tailored dashboards minimizing staff training time.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High-speed barcode scanner listener reduces cashier checkout clicks dramatically.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Integrated localized payment options (Telebirr &amp; CBE Birr) mirror everyday customer behavior.
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40690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4069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ROI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0584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 Feasibility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5840" y="448056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100% open-source software stack with zero proprietary vendor licensing fees.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Drastically curtails financial losses by preventing unmonitored medication expiration.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Eliminates recurring physical paper stationery, ledger books, and bin card printing costs.
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88620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66960" y="40690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4069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9224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Scheduling Feasibility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92240" y="448056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Project planned and structured across a 4-month senior academic capstone timeline.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Iterative sprint milestones ensured progressive validation of database, API, and UI.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All software features, test suites, and documentation delivered on schedule.
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2 • EXISTING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Traditional Process &amp; Limitations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72591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6519672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Traditional Process Limitation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 Operational &amp; Financial Consequence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3C5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Fragmented Paper Records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unified single source of truth; persistent discrepancies between shelf counts &amp; ledgers.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3C5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Stock Tracking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human calculation errors; unrecorded stock shrinkage and theft cannot be traced.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3C5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Absence of Automated FEFO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Expired medicines remain undetected on shelves; severe financial losses &amp; patient health hazards.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3C5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Uncontrolled Staff Access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Lack of role segregation; unauthorized staff may modify medicine prices or alter inventory counts.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3C5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Informal Procurement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Verbal/paper purchase orders prevent tracking supplier delivery lead times and verifying quantities.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3C5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Dispensing &amp; Checkout Bottlenecks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Conflating dispensing and payment causes queue delays; lacks auditable digital receipts for EFDA.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2 • BUSINESS RULES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Business Rules (BR-1 to BR-5)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09344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09344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1572768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&amp; Admin Approval Gate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186537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users authenticate via Sanctum tokens. Newly registered accounts remain inactive until an Administrator explicitly reviews and activates the account.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414016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560320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6032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2523744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Granular Role-Based Access Control (RBAC)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281635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mutations (medicine CRUD, user approvals, role configurations, audit trail inspection) are protected by strict route middleware permissions.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364992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511296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11296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3474720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Expiry, First Out (FEFO) Inventory Deduction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3767328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 dispensing and retail POS sales automatically allocate stock from active batches possessing the earliest expiration date to minimize waste.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315968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462272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6227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94560" y="4425696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Order Lifecycle &amp; Stock Integrity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94560" y="4718304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quantities increment atomically ONLY when a Purchase Order transitions to 'COMPLETED' status after QC inspection, preventing duplicate counts.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266944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413248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41324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94560" y="5376672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Segregated Clinical &amp; Financial Dispensing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94560" y="566928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Pharmacists validate prescriptions and stage orders in a PENDING queue; Cashiers retrieve the order, collect payments, and finalize the transaction.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3 •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Decoupled Client-Server System Architecture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3429000" cy="5943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630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Single Page App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463040" y="2194560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1945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VITE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React 18 SPA: Reusable component hierarchy with virtual DOM rendering.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Tailwind CSS: Utility-first responsive design for desktop &amp; POS terminals.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Vite &amp; NPM: Rapid Hot Module Replacement and production bundling.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Axios HTTP Client: Intercepts Sanctum tokens and dispatches API calls.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Chart.js &amp; Recharts: Visual revenue trends and inventory stock charts.
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0B3C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463040"/>
            <a:ext cx="3429000" cy="5943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4630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RESTful API Backend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74920" y="2194560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1945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 12 (PHP 8.2+)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0" y="260604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MVC Architecture: Modular controllers, FormRequest validation layers.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Laravel Sanctum: Cryptographically signed Bearer API tokens.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Eloquent ORM: Object-relational mapping with pessimistic row locks.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Middleware Security: EnsureApproved &amp; EnsureHasPermission filters.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ACID Transactions: Automatic DB rollback upon transaction failure.
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1463040"/>
            <a:ext cx="3429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4630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Output Layer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0" y="2194560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21945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+ EXPORTS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83880" y="260604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MySQL 8.0: 23 normalized tables adhering to 3NF schema constraints.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barryvdh/laravel-dompdf: Formatted thermal slips and A4 invoices.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maatwebsite/excel: Multi-sheet inventory valuation exports.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Immutable Audit Logs: User ID, event type, IP address, and timestamps.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Redis / Cache Store: Optimized performance for dashboard KPIs.
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SYSTEM ACTORS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Actors &amp; Operational Responsibilities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0020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00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System Governance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08960" y="1572768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Approves newly registered user accounts, assigns roles &amp; dynamic permissions, monitors branch analytics, audits sensitive logs, and manages system categories.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414016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551176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511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Pharmacist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8254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Dispensing &amp; Inventory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08960" y="2523744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Maintains medicine catalog, validates doctor prescriptions, allocates FEFO batches, stages pending orders for cashiers, and monitors expiration dates.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364992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502152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021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7764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of Sale &amp; Payments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08960" y="3474720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Retrieves staged prescription orders, scans OTC retail barcodes, accepts payments (Telebirr, CBE Birr, Cash), prints thermal receipts, and audits sales.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315968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453128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531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Purchasing Staff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727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&amp; Suppliers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108960" y="4425696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Registers wholesale pharmaceutical suppliers, drafts purchase requisitions, submits POs for manager approval, and dispatches PDF orders to vendors.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266944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404104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4041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Clerk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567842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Stock Receiving &amp; QC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108960" y="5376672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Inspects incoming shipments, records batch numbers and manufacturing/expiry dates, executes inter-branch stock transfers, and logs damaged items.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OPERATIONAL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Two-Stage Dispensing: Clinical Staging &amp; POS Checkout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5239512" cy="4754880"/>
          </a:xfrm>
          <a:prstGeom prst="roundRect">
            <a:avLst>
              <a:gd name="adj" fmla="val 1923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5239512" cy="5029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63040"/>
            <a:ext cx="5239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1: PHARMACIST (CLINICAL STAGING)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4884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2585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 Prescription &amp; Dosage Review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53288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Pharmacist verifies physician prescription, dosage instructions, contraindications, and patient info.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347472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5844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 Automated FEFO Batch Allocation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85876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engine queries inventory and automatically binds units from earliest expiring active batches.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480060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9103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 Stage to Cashier Queue (PENDING)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518464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is registered with status 'PENDING_PAYMENT'. Stock is temporarily reserved to prevent collisions.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463040"/>
            <a:ext cx="5239512" cy="4754880"/>
          </a:xfrm>
          <a:prstGeom prst="roundRect">
            <a:avLst>
              <a:gd name="adj" fmla="val 1923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0B3C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463040"/>
            <a:ext cx="5239512" cy="50292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463040"/>
            <a:ext cx="5239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2: CASHIER (FINANCIAL POS CHECKOUT)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214884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2585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 Retrieve Staged Order / Scan Barcode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29400" y="253288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 pulls patient order from queue or scans retail health/OTC items with the barcode listener.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92240" y="347472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5844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 Collect Payment (Telebirr / CBE / Cash)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29400" y="385876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modal supports popular Ethiopian channels: Telebirr, CBE Birr mobile banking, or Cash.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480060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49103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06.  Atomic Deduction &amp; Receipt Printing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29400" y="518464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ACID transaction finalizes: inventory decrements, ledger updates, and thermal receipt prints instantly.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INVENTORY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FEFO Batch Allocation &amp; Immutable Stock Ledger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5239512" cy="4754880"/>
          </a:xfrm>
          <a:prstGeom prst="roundRect">
            <a:avLst>
              <a:gd name="adj" fmla="val 1923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FEFO DISPENSING ENGINE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201168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0848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Trigger Event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23042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 sale or retail barcode checkout initiated.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278892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8620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Active Batch Query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3000" y="30815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queries batches table for non-zero stock (quantity &gt; 0).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" y="356616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6393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Ascending Expiry Sort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3000" y="38587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Sorts ORDER BY expiry_date ASC; expired items automatically filtered out.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05840" y="434340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4165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Waterfall Deduction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" y="463600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Deducts quantity from earliest batch; cascades to next batch if needed.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05840" y="512064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1937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Threshold Alert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3000" y="54132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Calculates total remaining stock; flags low-stock alert if below reorder level.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463040"/>
            <a:ext cx="5239512" cy="4754880"/>
          </a:xfrm>
          <a:prstGeom prst="roundRect">
            <a:avLst>
              <a:gd name="adj" fmla="val 1923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645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STOCK LEDGER (`stock_movements`)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965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eliminate untracked stock leakage and satisfy EFDA audits, every inventory mutation appends an immutable transaction record: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2560320"/>
            <a:ext cx="4690872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274320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2743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(Receipt)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46720" y="2697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incremented automatically upon PO Completion.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3429000"/>
            <a:ext cx="4690872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361188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3611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(Dispensed)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46720" y="3566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decremented upon finalized cashier POS checkout.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92240" y="4297680"/>
            <a:ext cx="4690872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29400" y="448056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4480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046720" y="4434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transferred between warehouse and dispensary.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5166360"/>
            <a:ext cx="4690872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9400" y="53492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5349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ADJUSTMENT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046720" y="5303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Damaged vial write-off or expired batch disposal with reason.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PROCUREMENT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State Machine &amp; Lifecycle Control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eliminate inventory discrepancies and prevent premature or duplicate stock additions, EPIMS enforces a strict multi-stage state machine: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65960"/>
            <a:ext cx="205740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Purchasing Staff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supplier, specify medicines, requested batch quantities, and negotiated unit costs.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974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07792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07792" y="1965960"/>
            <a:ext cx="205740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99232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Review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44952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Requisition is locked against unauthorized edits awaiting administrative review.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73752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84064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4064" y="1965960"/>
            <a:ext cx="2057400" cy="411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75504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21224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auto-generates professional PDF purchase order and dispatches it via email to vendor.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50024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60336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0B3C5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0336" y="1965960"/>
            <a:ext cx="2057400" cy="41148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0336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51776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QC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97496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Goods arrive physically; warehouse clerk inspects lot numbers, expiries, and packaging integrity.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226296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436608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36608" y="196596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36608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28048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Credited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573768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 verified: system ATOMICALLY increments batch stock and writes immutable stock ledger.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1520" y="6172200"/>
            <a:ext cx="10725912" cy="411480"/>
          </a:xfrm>
          <a:prstGeom prst="roundRect">
            <a:avLst>
              <a:gd name="adj" fmla="val 13333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61722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Duplicate Stock Prevention: The system checks existing completion logs before crediting inventory. Rejected orders transition to CANCELLED.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DATABASE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Database Specification (23 Tables, 3NF)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RBAC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users, roles, permissions, role_permission, personal_access_tokens, password_reset_tokens, sessions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0" y="1600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credentials (Bcrypt), approval gates, Sanctum tokens, and dynamic role matrices.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414016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5511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&amp; Shelves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282549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categories, shelves, medicines, batches, retail_products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2551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Therapeutic categories, physical shelf codes, medicine attributes, batch expiries, barcodes.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364992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502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37764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suppliers, purchase_orders, purchase_order_items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0" y="3502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Wholesale vendor profiles (TIN, contact), PO state transitions, line-item batch costs.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315968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453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&amp; POS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" y="47274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sales, sale_items, stock_movements, stock_transfers, branches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0" y="4453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Prescription/retail orders, payment channels, immutable stock ledgers, and branches.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5266944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4041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05840" y="567842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audit_logs, cache, jobs, failed_jobs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5404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administrative audit trail, dashboard KPI cache, and queued email notifications.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SECURITY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Security, Sanctum &amp; RBAC Pipeline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3429000" cy="5943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630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Sanctum Token Auth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554480" y="2194560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1945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User authenticates with email &amp; password via /api/login.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Bcrypt hash verification via Hash::check().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Administrative account approval gate (is_approved flag).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Cryptographically signed Bearer API token issued.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Tokens passed asynchronously in Axios headers.
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0B3C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463040"/>
            <a:ext cx="3429000" cy="59436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4630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 Barriers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66360" y="2194560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1945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0" y="260604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EnsureUserApproved: Blocks unapproved user accounts with 403.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EnsureHasRole: Validates user operational role boundary.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EnsureHasPermission: Verifies granular route permission.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CSRF Protection: Shields state-changing API mutations.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Rate Limiting: Prevents brute-force authentication attempts.
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1463040"/>
            <a:ext cx="3429000" cy="4754880"/>
          </a:xfrm>
          <a:prstGeom prst="roundRect">
            <a:avLst>
              <a:gd name="adj" fmla="val 2667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1463040"/>
            <a:ext cx="3429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4630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&amp; Audit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78240" y="2194560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0" y="21945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83880" y="2606040"/>
            <a:ext cx="2971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Pessimistic Locking: lockForUpdate() prevents batch overselling.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ACID DB Transactions: DB::transaction() auto-rollbacks failures.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audit_logs Table: Logs user ID, action, model, IP, timestamp.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Immutable stock ledger records prevent tampering.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PDO parameterized queries defend against SQL injection.
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• 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Verification &amp; 4-Tier Testing Hierarchy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10725912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27632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ALGORITHMS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17520" y="1627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1: Unit Testing (PHPUnit)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 cases validating core calculations, batch deduction logic, FEFO expiration date sorting, and Bcrypt security hashing.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88336"/>
            <a:ext cx="10725912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852928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529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ENDPOINTS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17520" y="28529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2: API Integration Testing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3236976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of JSON API payloads, FormRequest error responses (HTTP 422), foreign key constraints, and database transaction rollbacks.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913632"/>
            <a:ext cx="10725912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078224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782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BARRIERS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017520" y="407822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3: Security &amp; RBAC Boundary Tests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462272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Rigorous verification of route middleware gates preventing unapproved user logins, cross-role tampering, and SQL injection exploits.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5138928"/>
            <a:ext cx="10725912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30352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3035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EVALUATION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17520" y="53035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4: User Acceptance Testing (UAT)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4400" y="5687568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Conducted with practicing pharmacists and cashiers in Woldia pharmacies to evaluate POS checkout speed, FEFO clarity, and report export usability.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• PROJECT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Software Innovations &amp; Stakeholder Impact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Pharmacy Owners &amp; Managers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1572768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real-time inventory valuation visibility, eradication of stock pilferage, and data-driven procurement through automated sales analytics.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414016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511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💊  Dispensing Pharmacists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2523744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manual bin card tallying, automated FEFO batch allocation suggestions, immediate alerts for near-expiry drugs (&lt; 90 days), and dedicated clinical focus.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364992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021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Cashiers &amp; Counter Personnel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3474720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High-speed barcode scanner POS shopping cart, dedicated staged prescription queue, native Telebirr/CBE Birr support, and automated thermal printing.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315968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53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Patients &amp; Consumers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4425696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Significant reduction in counter waiting times, 100% protection against receiving expired pharmaceuticals, and transparent itemized receipts.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5266944"/>
            <a:ext cx="10725912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4041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  Regulatory Bodies (EFDA)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5376672"/>
            <a:ext cx="7040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batch number lot traceability, permanent audit trail logs for controlled medications, and standardized electronic compliance reporting.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• 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Project Summary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10725912" cy="1444752"/>
          </a:xfrm>
          <a:prstGeom prst="roundRect">
            <a:avLst>
              <a:gd name="adj" fmla="val 5063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459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162763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Elimination of Manual Bottlenecks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196596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Replaced error-prone paper bin cards, ledger books, and verbal purchasing with an integrated digital workflow.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Established a centralized single source of truth for stock quantities, batch expiries, and customer transactions.
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10725912" cy="1444752"/>
          </a:xfrm>
          <a:prstGeom prst="roundRect">
            <a:avLst>
              <a:gd name="adj" fmla="val 5063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2461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322783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Decoupled 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356616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Delivered a responsive React 18 SPA coupled with a high-throughput Laravel 12 REST API backend.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Sub-second POS checkout transactions and robust concurrency locking prevent stock overselling.
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663440"/>
            <a:ext cx="10725912" cy="1444752"/>
          </a:xfrm>
          <a:prstGeom prst="roundRect">
            <a:avLst>
              <a:gd name="adj" fmla="val 5063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48463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482803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Safety &amp; Institutional Governance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91640" y="516636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First Expiry, First Out (FEFO) dispensing systematically eliminates expired medication hazards.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Sanctum token authentication, dynamic RBAC matrices, and immutable audit logs ensure EFDA regulatory compliance.
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• FUTURE 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 &amp; Technical Recommendations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85000"/>
            </a:srgbClr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3737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  |  August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45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36192" y="16276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Payment Gateway Webhooks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536192" y="1965960"/>
            <a:ext cx="1737360" cy="228600"/>
          </a:xfrm>
          <a:prstGeom prst="roundRect">
            <a:avLst>
              <a:gd name="adj" fmla="val 16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36192" y="19659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FINTECH INTEGRATION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60120" y="2286000"/>
            <a:ext cx="4782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server-to-server API webhooks with Ethio Telecom (Telebirr SuperApp API) and Commercial Bank of Ethiopia (CBE Birr API) for automated real-time transaction verification without manual cashier confirmation.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645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22592" y="16276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Predictive Demand Forecasting via Machine Learning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22592" y="1965960"/>
            <a:ext cx="1737360" cy="228600"/>
          </a:xfrm>
          <a:prstGeom prst="roundRect">
            <a:avLst>
              <a:gd name="adj" fmla="val 16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19659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/ DATA SCIENCE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46520" y="2286000"/>
            <a:ext cx="4782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time-series machine learning models (e.g., ARIMA or Random Forest) to analyze seasonal disease trends (e.g., malaria, respiratory infections) and automatically generate proactive purchase order requisitions.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388620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069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36192" y="40507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EFDA Portal &amp; Hospital EHR Interoperability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536192" y="4389120"/>
            <a:ext cx="1737360" cy="228600"/>
          </a:xfrm>
          <a:prstGeom prst="roundRect">
            <a:avLst>
              <a:gd name="adj" fmla="val 16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36192" y="43891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STANDARDS COMPLIANCE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60120" y="4709160"/>
            <a:ext cx="4782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secure FHIR and HL7 compliant API bridges with the Ethiopian Food and Drug Authority verification portal and regional hospital Electronic Health Record (EHR) databases for electronic prescription transfers.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388620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069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22592" y="40507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Progressive Web App (PWA) Mode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022592" y="4389120"/>
            <a:ext cx="1737360" cy="228600"/>
          </a:xfrm>
          <a:prstGeom prst="roundRect">
            <a:avLst>
              <a:gd name="adj" fmla="val 16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22592" y="43891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RELIABILITY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446520" y="4709160"/>
            <a:ext cx="4782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 the React frontend with service workers and IndexedDB caching to enable uninterrupted cashier checkout and receipt generation during intermittent internet outages common in regional towns.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097280"/>
            <a:ext cx="8531352" cy="4754880"/>
          </a:xfrm>
          <a:prstGeom prst="roundRect">
            <a:avLst>
              <a:gd name="adj" fmla="val 2308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1371600"/>
            <a:ext cx="5788152" cy="384048"/>
          </a:xfrm>
          <a:prstGeom prst="roundRect">
            <a:avLst>
              <a:gd name="adj" fmla="val 19048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1371600"/>
            <a:ext cx="5788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WOLDIA UNIVERSITY  •  FACULTY OF COMPUTING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85313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31089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0" y="3886200"/>
            <a:ext cx="7068312" cy="1691640"/>
          </a:xfrm>
          <a:prstGeom prst="roundRect">
            <a:avLst>
              <a:gd name="adj" fmla="val 4324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4069080"/>
            <a:ext cx="6702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
</a:t>
            </a:r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Senior Undergraduate Internship Defense Project
</a:t>
            </a:r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Presenters: Mahlet Yimenu (160805) &amp; Kidist Getaneh (160785)
</a:t>
            </a:r>
            <a:pPr algn="ctr" indent="0" marL="0">
              <a:buNone/>
            </a:pPr>
            <a:r>
              <a:rPr lang="en-US" sz="110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Computer Science  |  August,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Woldia University - School of Computing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Ethiopian Pharmacy Inventory Management System (EPIMS)</dc:title>
  <dc:subject>PptxGenJS Presentation</dc:subject>
  <dc:creator>Mahlet Yimenu &amp; Kidist Getaneh</dc:creator>
  <cp:lastModifiedBy>Mahlet Yimenu &amp; Kidist Getaneh</cp:lastModifiedBy>
  <cp:revision>1</cp:revision>
  <dcterms:created xsi:type="dcterms:W3CDTF">2026-10-12T16:42:46Z</dcterms:created>
  <dcterms:modified xsi:type="dcterms:W3CDTF">2026-10-12T16:42:46Z</dcterms:modified>
</cp:coreProperties>
</file>