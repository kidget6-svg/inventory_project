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esteemed instructors and evaluation committee. Today, we are proud to present our Pharmacy Inventory Management System — Multi-Branch Edition. In pharmaceutical healthcare, accurate inventory management is vital to saving lives, preventing expired medicine hazards, and eliminating stock-outs. Our project delivers an enterprise-grade web application built on Laravel to centralize pharmacy operations, manage multiple branches, enforce FEFO dispensing, and automate purchasing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roadmap for today's presentation. We have structured our defense into five core phases: First, we examine the operational challenges motivating this system and our core objectives. Second, we dive into the architectural blueprint and relational database design. Third, we break down the Laravel backend implementation, models, and workflows. Fourth, we review the system interface, screenshots, and live demo plan. Finally, we evaluate testing results, data security, and future development horizons.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pharmacy inventory management matter so critically? In conventional community dispensaries and hospital pharmacies, operations frequently rely on paper bin cards and handwritten ledger books. This creates severe operational vulnerabilities: physical shelf counts constantly deviate from paper tallies; older batches expire unnoticed on shelves because there is no automated FEFO sorting; tracking orders across wholesale suppliers is disjointed; and critically, managing stock across different pharmacy branches is almost impossible without a synchronized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these challenges, we built EPIMS: One unified system for complete inventory control. At the center sits a consolidated pharmacy operational engine that connects six critical operational modules: Medicine information and therapeutic categorizing; Supplier and procurement management; Multi-batch tracking with immutable movement ledgers; Point of sale purchasing and sales; Expiration and low-stock alerts; and unified Multi-branch inventory tracking. By replacing disconnected spreadsheets with a central relational database, pharmacy staff gain immediate, verifiable control over their supply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Slide 5, we define our project objectives and transparently delineate the functional scope. Our primary objectives focus on centralizing medicine records, automating FEFO dispensing, and streamlining purchasing. Our multi-branch objectives ensure that stock quantities remain distinguishable by location and support branch transfers. Finally, regarding scope: all core inventory, multi-batch, PO, and sales modules are fully implemented; while advanced features like external e-commerce and national EHR telemetry are reserved for future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shows how the system functions from end to end. We implemented a decoupled, high-throughput web application architecture. When a user interacts with the React 18 browser interface, an asynchronous Axios request is dispatched to the Laravel routing layer. Middleware validates authentication tokens and RBAC permissions. Next, the Controller invokes business logic, querying the database through Eloquent ORM with pessimistic row locking to prevent overselling. Finally, MySQL returns the records, and the controller sends a clean JSON response back to render the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details the technologies used in developing the application. On the backend, we utilized Laravel 12 powered by PHP 8.2+, taking advantage of its expressive routing, Eloquent ORM, and FormRequest validation. The relational database is MySQL 8.0, structured into 23 normalized tables. On the frontend, the project uses React 18 with Tailwind CSS and Vite, delivering high responsiveness. Version control was managed via Git and GitHub, and development took place in Visual Studio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presents the relational database design. The system organizes data into 23 normalized tables adhering to Third Normal Form (3NF). This structure completely eliminates data duplication while ensuring referential integrity through foreign key constraints. Here we see the primary verified entity groups: Users and Roles for authentication; Medicines and Categories for catalog management; Batches for expiration and unit prices; Suppliers and Purchase Orders for procurement; Sales and Sale Items for checkout; and Branches and Stock Transfers for multi-location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highlights the crucial entity relationships connecting our data. In relational databases, foreign keys establish strict relationships between tables: Categories have a One-to-Many relationship with Medicines; Medicines have a One-to-Many relationship with Batches, enabling granular expiration tracking; Purchase Orders and Sales connect to their respective Items tables through One-to-Many links; and crucially for our multi-branch requirement, the Branches table links to Stock Transfers, Users, and Retail Products, guaranteeing that every piece of inventory has an identifiable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illustrates how the codebase is organized inside the Laravel project. Following Laravel's standard architectural conventions: app/Models contains our 20 Eloquent entity classes such as Medicine, Batch, Branch, and Sale; app/Http/Controllers houses the application logic and request orchestration; routes/api.php and web.php define the endpoints protected by Sanctum middleware; database/migrations manages the version-controlled schema definitions; and public/ serves compiled assets.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focuses on Medicine and Category Management. In EPIMS, each pharmaceutical record captures essential clinical and logistical attributes: brand name, generic name, barcode, therapeutic category, strength, shelf location, and reorder levels. We have also included an actual screenshot from the running application on the right side. Staff can instantly filter medicines by category, search by barcode, and monitor stock status badges.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explains the purchasing workflow. To ensure strict inventory traceability, we built a 5-stage procurement lifecycle: Staff select a registered wholesale supplier; create a Draft Purchase Order; add individual line items specifying medicines and unit costs; submit for administrative approval; and upon physical arrival, warehouse staff conduct quality inspection. Crucially, stock increments atomically ONLY when the order transitions to COMPLETED, preventing premature or duplicate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details our sales and First Expired, First Out (FEFO) dispensing mechanism. In a pharmacy, dispensing medicines randomly risks leaving older batches on shelves until they expire. FEFO solves this: when a medicine is sold, our engine automatically sorts active batches by expiration date in ascending order, allocating units from the earliest expiring batch first. For example, if Batch A expires in January 2027 and Batch B in June 2027, Batch A is systematically dispensed first. This eliminates waste and protects patient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highlights one of the most important architectural requirements of this project: Multi-Branch Inventory Management. Unlike single-location systems, EPIMS is designed so that multiple pharmacy branches operate on a centralized database. The branches table records distinct locations; inventory batches are linked to specific shelves and branches; staff can view stock levels across branches; and the stock_transfers table supports verified inventory transfers between a main warehouse and dispensary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presents the actual user interface and executive dashboard of EPIMS. Built with React 18 and Tailwind CSS, the interface provides pharmacy managers with real-time indicators: total active medicines, low-stock alerts, expiring batches, and revenue trends. On the right, you can see the verified landing page and navigation layout. The interface was engineered for maximum clarity, low cognitive load, and quick operation during busy clinic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outlines our live demonstration sequence. During the live demo, we guide the committee through eight verified steps: 1. Log in using authenticated credentials; 2. View the dashboard KPIs; 3. Open the medicine catalog and search by generic name; 4. View a medicine's active batches; 5. Review supplier registers; 6. Demonstrate the purchase order lifecycle; 7. Demonstrate the two-stage prescription and POS checkout with FEFO allocation; and 8. Inspect the branch inventory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covers security, validation, and data integrity. In a medical and financial application, software reliability is paramount. Laravel FormRequest classes validate every inbound field, intercepting invalid quantities or missing barcodes with standard HTTP 422 responses. Concurrency control uses lockForUpdate() to prevent race conditions during POS sales. Multi-step operations are wrapped in ACID DB transactions that automatically rollback on error. Finally, the audit_logs table immutably logs every sensitive administrative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presents our verification testing matrix. We executed functional unit and integration tests across all core operational modules. As shown in the table, all critical test cases passed: creating medicines with valid data succeeds; invalid quantities and duplicate barcodes are properly rejected; FEFO batch queries correctly return earliest-expiring stock; purchase order state transitions increment stock atomically upon completion; and unapproved user accounts are blocked by route middleware.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reflects on what we learned and what comes next. During development, our main challenges were handling multi-batch FEFO deduction across splitting quantities, enforcing atomic PO state changes, and modeling multi-branch ownership. For future improvements, we propose integrating direct payment webhooks for Telebirr and CBE Birr, machine learning for seasonal demand forecasting, and an offline Progressive Web App mode. In conclusion, EPIMS successfully proves that a modern Laravel architecture provides the security, efficiency, and accountability needed for contemporary pharmacy inventory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very much for your time and attention. That concludes our presentation of the Pharmacy Inventory Management System — Multi-Branch Edition. We would now be honored to answer any questions, discuss our implementation choices, or demonstrate specific features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640080"/>
            <a:ext cx="10725912" cy="5577840"/>
          </a:xfrm>
          <a:prstGeom prst="roundRect">
            <a:avLst>
              <a:gd name="adj" fmla="val 1639"/>
            </a:avLst>
          </a:prstGeom>
          <a:solidFill>
            <a:srgbClr val="111B35"/>
          </a:solidFill>
          <a:ln w="19050">
            <a:solidFill>
              <a:srgbClr val="3B82F6"/>
            </a:solidFill>
            <a:prstDash val="solid"/>
          </a:ln>
        </p:spPr>
      </p:sp>
      <p:sp>
        <p:nvSpPr>
          <p:cNvPr id="3" name="Shape 1"/>
          <p:cNvSpPr/>
          <p:nvPr/>
        </p:nvSpPr>
        <p:spPr>
          <a:xfrm>
            <a:off x="1097280" y="1005840"/>
            <a:ext cx="5120640" cy="365760"/>
          </a:xfrm>
          <a:prstGeom prst="roundRect">
            <a:avLst>
              <a:gd name="adj" fmla="val 20000"/>
            </a:avLst>
          </a:prstGeom>
          <a:solidFill>
            <a:srgbClr val="0B1020"/>
          </a:solidFill>
          <a:ln w="12700">
            <a:solidFill>
              <a:srgbClr val="22D3EE"/>
            </a:solidFill>
            <a:prstDash val="solid"/>
          </a:ln>
        </p:spPr>
      </p:sp>
      <p:sp>
        <p:nvSpPr>
          <p:cNvPr id="4" name="Text 2"/>
          <p:cNvSpPr/>
          <p:nvPr/>
        </p:nvSpPr>
        <p:spPr>
          <a:xfrm>
            <a:off x="1097280" y="1005840"/>
            <a:ext cx="5120640" cy="365760"/>
          </a:xfrm>
          <a:prstGeom prst="rect">
            <a:avLst/>
          </a:prstGeom>
          <a:noFill/>
          <a:ln/>
        </p:spPr>
        <p:txBody>
          <a:bodyPr wrap="square" rtlCol="0" anchor="ctr"/>
          <a:lstStyle/>
          <a:p>
            <a:pPr algn="ctr" indent="0" marL="0">
              <a:buNone/>
            </a:pPr>
            <a:r>
              <a:rPr lang="en-US" sz="1000" b="1" dirty="0">
                <a:solidFill>
                  <a:srgbClr val="22D3EE"/>
                </a:solidFill>
                <a:latin typeface="Segoe UI" pitchFamily="34" charset="0"/>
                <a:ea typeface="Segoe UI" pitchFamily="34" charset="-122"/>
                <a:cs typeface="Segoe UI" pitchFamily="34" charset="-120"/>
              </a:rPr>
              <a:t>WOLDIA UNIVERSITY  •  SCHOOL OF COMPUTING</a:t>
            </a:r>
            <a:endParaRPr lang="en-US" sz="1000" dirty="0"/>
          </a:p>
        </p:txBody>
      </p:sp>
      <p:sp>
        <p:nvSpPr>
          <p:cNvPr id="5" name="Text 3"/>
          <p:cNvSpPr/>
          <p:nvPr/>
        </p:nvSpPr>
        <p:spPr>
          <a:xfrm>
            <a:off x="1097280" y="1463040"/>
            <a:ext cx="7772400" cy="274320"/>
          </a:xfrm>
          <a:prstGeom prst="rect">
            <a:avLst/>
          </a:prstGeom>
          <a:noFill/>
          <a:ln/>
        </p:spPr>
        <p:txBody>
          <a:bodyPr wrap="square" rtlCol="0" anchor="ctr"/>
          <a:lstStyle/>
          <a:p>
            <a:pPr indent="0" marL="0">
              <a:buNone/>
            </a:pPr>
            <a:r>
              <a:rPr lang="en-US" sz="1100" b="1" dirty="0">
                <a:solidFill>
                  <a:srgbClr val="94A3B8"/>
                </a:solidFill>
                <a:latin typeface="Segoe UI" pitchFamily="34" charset="0"/>
                <a:ea typeface="Segoe UI" pitchFamily="34" charset="-122"/>
                <a:cs typeface="Segoe UI" pitchFamily="34" charset="-120"/>
              </a:rPr>
              <a:t>DEPARTMENT OF COMPUTER SCIENCE  •  CAPSTONE DEFENSE</a:t>
            </a:r>
            <a:endParaRPr lang="en-US" sz="1100" dirty="0"/>
          </a:p>
        </p:txBody>
      </p:sp>
      <p:sp>
        <p:nvSpPr>
          <p:cNvPr id="6" name="Text 4"/>
          <p:cNvSpPr/>
          <p:nvPr/>
        </p:nvSpPr>
        <p:spPr>
          <a:xfrm>
            <a:off x="1097280" y="1874520"/>
            <a:ext cx="9601200" cy="1463040"/>
          </a:xfrm>
          <a:prstGeom prst="rect">
            <a:avLst/>
          </a:prstGeom>
          <a:noFill/>
          <a:ln/>
        </p:spPr>
        <p:txBody>
          <a:bodyPr wrap="square" rtlCol="0" anchor="ctr"/>
          <a:lstStyle/>
          <a:p>
            <a:pPr indent="0" marL="0">
              <a:lnSpc>
                <a:spcPct val="115000"/>
              </a:lnSpc>
              <a:buNone/>
            </a:pPr>
            <a:r>
              <a:rPr lang="en-US" sz="3600" b="1" dirty="0">
                <a:solidFill>
                  <a:srgbClr val="F8FAFC"/>
                </a:solidFill>
                <a:latin typeface="Segoe UI" pitchFamily="34" charset="0"/>
                <a:ea typeface="Segoe UI" pitchFamily="34" charset="-122"/>
                <a:cs typeface="Segoe UI" pitchFamily="34" charset="-120"/>
              </a:rPr>
              <a:t>Pharmacy Inventory</a:t>
            </a:r>
            <a:endParaRPr lang="en-US" sz="3600" dirty="0"/>
          </a:p>
          <a:p>
            <a:pPr indent="0" marL="0">
              <a:lnSpc>
                <a:spcPct val="115000"/>
              </a:lnSpc>
              <a:buNone/>
            </a:pPr>
            <a:r>
              <a:rPr lang="en-US" sz="3600" b="1" dirty="0">
                <a:solidFill>
                  <a:srgbClr val="F8FAFC"/>
                </a:solidFill>
                <a:latin typeface="Segoe UI" pitchFamily="34" charset="0"/>
                <a:ea typeface="Segoe UI" pitchFamily="34" charset="-122"/>
                <a:cs typeface="Segoe UI" pitchFamily="34" charset="-120"/>
              </a:rPr>
              <a:t>Management System</a:t>
            </a:r>
            <a:endParaRPr lang="en-US" sz="3600" dirty="0"/>
          </a:p>
        </p:txBody>
      </p:sp>
      <p:sp>
        <p:nvSpPr>
          <p:cNvPr id="7" name="Text 5"/>
          <p:cNvSpPr/>
          <p:nvPr/>
        </p:nvSpPr>
        <p:spPr>
          <a:xfrm>
            <a:off x="1097280" y="3474720"/>
            <a:ext cx="9601200" cy="457200"/>
          </a:xfrm>
          <a:prstGeom prst="rect">
            <a:avLst/>
          </a:prstGeom>
          <a:noFill/>
          <a:ln/>
        </p:spPr>
        <p:txBody>
          <a:bodyPr wrap="square" rtlCol="0" anchor="ctr"/>
          <a:lstStyle/>
          <a:p>
            <a:pPr indent="0" marL="0">
              <a:buNone/>
            </a:pPr>
            <a:r>
              <a:rPr lang="en-US" sz="1400" dirty="0">
                <a:solidFill>
                  <a:srgbClr val="22D3EE"/>
                </a:solidFill>
                <a:latin typeface="Segoe UI" pitchFamily="34" charset="0"/>
                <a:ea typeface="Segoe UI" pitchFamily="34" charset="-122"/>
                <a:cs typeface="Segoe UI" pitchFamily="34" charset="-120"/>
              </a:rPr>
              <a:t>A Laravel-Based Web Application for Multi-Branch Pharmacy Inventory Management</a:t>
            </a:r>
            <a:endParaRPr lang="en-US" sz="1400" dirty="0"/>
          </a:p>
        </p:txBody>
      </p:sp>
      <p:sp>
        <p:nvSpPr>
          <p:cNvPr id="8" name="Shape 6"/>
          <p:cNvSpPr/>
          <p:nvPr/>
        </p:nvSpPr>
        <p:spPr>
          <a:xfrm>
            <a:off x="1097280" y="4114800"/>
            <a:ext cx="4754880" cy="1737360"/>
          </a:xfrm>
          <a:prstGeom prst="roundRect">
            <a:avLst>
              <a:gd name="adj" fmla="val 4211"/>
            </a:avLst>
          </a:prstGeom>
          <a:solidFill>
            <a:srgbClr val="0B1020"/>
          </a:solidFill>
          <a:ln w="12700">
            <a:solidFill>
              <a:srgbClr val="334155"/>
            </a:solidFill>
            <a:prstDash val="solid"/>
          </a:ln>
        </p:spPr>
      </p:sp>
      <p:sp>
        <p:nvSpPr>
          <p:cNvPr id="9" name="Text 7"/>
          <p:cNvSpPr/>
          <p:nvPr/>
        </p:nvSpPr>
        <p:spPr>
          <a:xfrm>
            <a:off x="1325880" y="4251960"/>
            <a:ext cx="4297680" cy="228600"/>
          </a:xfrm>
          <a:prstGeom prst="rect">
            <a:avLst/>
          </a:prstGeom>
          <a:noFill/>
          <a:ln/>
        </p:spPr>
        <p:txBody>
          <a:bodyPr wrap="square" rtlCol="0" anchor="ctr"/>
          <a:lstStyle/>
          <a:p>
            <a:pPr indent="0" marL="0">
              <a:buNone/>
            </a:pPr>
            <a:r>
              <a:rPr lang="en-US" sz="1000" b="1" dirty="0">
                <a:solidFill>
                  <a:srgbClr val="3B82F6"/>
                </a:solidFill>
                <a:latin typeface="Segoe UI" pitchFamily="34" charset="0"/>
                <a:ea typeface="Segoe UI" pitchFamily="34" charset="-122"/>
                <a:cs typeface="Segoe UI" pitchFamily="34" charset="-120"/>
              </a:rPr>
              <a:t>PRESENTERS / PROJECT TEAM</a:t>
            </a:r>
            <a:endParaRPr lang="en-US" sz="1000" dirty="0"/>
          </a:p>
        </p:txBody>
      </p:sp>
      <p:sp>
        <p:nvSpPr>
          <p:cNvPr id="10" name="Text 8"/>
          <p:cNvSpPr/>
          <p:nvPr/>
        </p:nvSpPr>
        <p:spPr>
          <a:xfrm>
            <a:off x="1325880" y="4553712"/>
            <a:ext cx="4297680" cy="118872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 Mahlet Yimenu   </a:t>
            </a:r>
            <a:pPr indent="0" marL="0">
              <a:buNone/>
            </a:pPr>
            <a:r>
              <a:rPr lang="en-US" sz="1050" dirty="0">
                <a:solidFill>
                  <a:srgbClr val="94A3B8"/>
                </a:solidFill>
                <a:latin typeface="Segoe UI" pitchFamily="34" charset="0"/>
                <a:ea typeface="Segoe UI" pitchFamily="34" charset="-122"/>
                <a:cs typeface="Segoe UI" pitchFamily="34" charset="-120"/>
              </a:rPr>
              <a:t>(Student ID: 160805)
</a:t>
            </a:r>
            <a:pPr indent="0" marL="0">
              <a:buNone/>
            </a:pPr>
            <a:r>
              <a:rPr lang="en-US" sz="1300" b="1" dirty="0">
                <a:solidFill>
                  <a:srgbClr val="F8FAFC"/>
                </a:solidFill>
                <a:latin typeface="Segoe UI" pitchFamily="34" charset="0"/>
                <a:ea typeface="Segoe UI" pitchFamily="34" charset="-122"/>
                <a:cs typeface="Segoe UI" pitchFamily="34" charset="-120"/>
              </a:rPr>
              <a:t>• Kidist Getaneh   </a:t>
            </a:r>
            <a:pPr indent="0" marL="0">
              <a:buNone/>
            </a:pPr>
            <a:r>
              <a:rPr lang="en-US" sz="1050" dirty="0">
                <a:solidFill>
                  <a:srgbClr val="94A3B8"/>
                </a:solidFill>
                <a:latin typeface="Segoe UI" pitchFamily="34" charset="0"/>
                <a:ea typeface="Segoe UI" pitchFamily="34" charset="-122"/>
                <a:cs typeface="Segoe UI" pitchFamily="34" charset="-120"/>
              </a:rPr>
              <a:t>(Student ID: 160785)</a:t>
            </a:r>
            <a:endParaRPr lang="en-US" sz="1300" dirty="0"/>
          </a:p>
        </p:txBody>
      </p:sp>
      <p:sp>
        <p:nvSpPr>
          <p:cNvPr id="11" name="Shape 9"/>
          <p:cNvSpPr/>
          <p:nvPr/>
        </p:nvSpPr>
        <p:spPr>
          <a:xfrm>
            <a:off x="6217920" y="4114800"/>
            <a:ext cx="4846320" cy="1737360"/>
          </a:xfrm>
          <a:prstGeom prst="roundRect">
            <a:avLst>
              <a:gd name="adj" fmla="val 4211"/>
            </a:avLst>
          </a:prstGeom>
          <a:solidFill>
            <a:srgbClr val="0B1020"/>
          </a:solidFill>
          <a:ln w="12700">
            <a:solidFill>
              <a:srgbClr val="334155"/>
            </a:solidFill>
            <a:prstDash val="solid"/>
          </a:ln>
        </p:spPr>
      </p:sp>
      <p:sp>
        <p:nvSpPr>
          <p:cNvPr id="12" name="Text 10"/>
          <p:cNvSpPr/>
          <p:nvPr/>
        </p:nvSpPr>
        <p:spPr>
          <a:xfrm>
            <a:off x="6446520" y="4251960"/>
            <a:ext cx="4389120" cy="228600"/>
          </a:xfrm>
          <a:prstGeom prst="rect">
            <a:avLst/>
          </a:prstGeom>
          <a:noFill/>
          <a:ln/>
        </p:spPr>
        <p:txBody>
          <a:bodyPr wrap="square" rtlCol="0" anchor="ctr"/>
          <a:lstStyle/>
          <a:p>
            <a:pPr indent="0" marL="0">
              <a:buNone/>
            </a:pPr>
            <a:r>
              <a:rPr lang="en-US" sz="1000" b="1" dirty="0">
                <a:solidFill>
                  <a:srgbClr val="3B82F6"/>
                </a:solidFill>
                <a:latin typeface="Segoe UI" pitchFamily="34" charset="0"/>
                <a:ea typeface="Segoe UI" pitchFamily="34" charset="-122"/>
                <a:cs typeface="Segoe UI" pitchFamily="34" charset="-120"/>
              </a:rPr>
              <a:t>ACADEMIC &amp; SYSTEM CONTEXT</a:t>
            </a:r>
            <a:endParaRPr lang="en-US" sz="1000" dirty="0"/>
          </a:p>
        </p:txBody>
      </p:sp>
      <p:sp>
        <p:nvSpPr>
          <p:cNvPr id="13" name="Text 11"/>
          <p:cNvSpPr/>
          <p:nvPr/>
        </p:nvSpPr>
        <p:spPr>
          <a:xfrm>
            <a:off x="6446520" y="4553712"/>
            <a:ext cx="4389120" cy="1188720"/>
          </a:xfrm>
          <a:prstGeom prst="rect">
            <a:avLst/>
          </a:prstGeom>
          <a:noFill/>
          <a:ln/>
        </p:spPr>
        <p:txBody>
          <a:bodyPr wrap="square" rtlCol="0" anchor="ctr"/>
          <a:lstStyle/>
          <a:p>
            <a:pPr indent="0" marL="0">
              <a:buNone/>
            </a:pPr>
            <a:r>
              <a:rPr lang="en-US" sz="1100" b="1" dirty="0">
                <a:solidFill>
                  <a:srgbClr val="F8FAFC"/>
                </a:solidFill>
                <a:latin typeface="Segoe UI" pitchFamily="34" charset="0"/>
                <a:ea typeface="Segoe UI" pitchFamily="34" charset="-122"/>
                <a:cs typeface="Segoe UI" pitchFamily="34" charset="-120"/>
              </a:rPr>
              <a:t>• Course: </a:t>
            </a:r>
            <a:pPr indent="0" marL="0">
              <a:buNone/>
            </a:pPr>
            <a:r>
              <a:rPr lang="en-US" sz="1100" dirty="0">
                <a:solidFill>
                  <a:srgbClr val="94A3B8"/>
                </a:solidFill>
                <a:latin typeface="Segoe UI" pitchFamily="34" charset="0"/>
                <a:ea typeface="Segoe UI" pitchFamily="34" charset="-122"/>
                <a:cs typeface="Segoe UI" pitchFamily="34" charset="-120"/>
              </a:rPr>
              <a:t>BSc Senior Internship Project
</a:t>
            </a:r>
            <a:pPr indent="0" marL="0">
              <a:buNone/>
            </a:pPr>
            <a:r>
              <a:rPr lang="en-US" sz="1100" b="1" dirty="0">
                <a:solidFill>
                  <a:srgbClr val="F8FAFC"/>
                </a:solidFill>
                <a:latin typeface="Segoe UI" pitchFamily="34" charset="0"/>
                <a:ea typeface="Segoe UI" pitchFamily="34" charset="-122"/>
                <a:cs typeface="Segoe UI" pitchFamily="34" charset="-120"/>
              </a:rPr>
              <a:t>• Architecture: </a:t>
            </a:r>
            <a:pPr indent="0" marL="0">
              <a:buNone/>
            </a:pPr>
            <a:r>
              <a:rPr lang="en-US" sz="1100" dirty="0">
                <a:solidFill>
                  <a:srgbClr val="94A3B8"/>
                </a:solidFill>
                <a:latin typeface="Segoe UI" pitchFamily="34" charset="0"/>
                <a:ea typeface="Segoe UI" pitchFamily="34" charset="-122"/>
                <a:cs typeface="Segoe UI" pitchFamily="34" charset="-120"/>
              </a:rPr>
              <a:t>Laravel 12 Backend + React 18 SPA (Vite)
</a:t>
            </a:r>
            <a:pPr indent="0" marL="0">
              <a:buNone/>
            </a:pPr>
            <a:r>
              <a:rPr lang="en-US" sz="1100" b="1" dirty="0">
                <a:solidFill>
                  <a:srgbClr val="F8FAFC"/>
                </a:solidFill>
                <a:latin typeface="Segoe UI" pitchFamily="34" charset="0"/>
                <a:ea typeface="Segoe UI" pitchFamily="34" charset="-122"/>
                <a:cs typeface="Segoe UI" pitchFamily="34" charset="-120"/>
              </a:rPr>
              <a:t>• Edition: </a:t>
            </a:r>
            <a:pPr indent="0" marL="0">
              <a:buNone/>
            </a:pPr>
            <a:r>
              <a:rPr lang="en-US" sz="1100" dirty="0">
                <a:solidFill>
                  <a:srgbClr val="94A3B8"/>
                </a:solidFill>
                <a:latin typeface="Segoe UI" pitchFamily="34" charset="0"/>
                <a:ea typeface="Segoe UI" pitchFamily="34" charset="-122"/>
                <a:cs typeface="Segoe UI" pitchFamily="34" charset="-120"/>
              </a:rPr>
              <a:t>Multi-Branch Centralized Schema
</a:t>
            </a:r>
            <a:pPr indent="0" marL="0">
              <a:buNone/>
            </a:pPr>
            <a:r>
              <a:rPr lang="en-US" sz="1100" b="1" dirty="0">
                <a:solidFill>
                  <a:srgbClr val="F8FAFC"/>
                </a:solidFill>
                <a:latin typeface="Segoe UI" pitchFamily="34" charset="0"/>
                <a:ea typeface="Segoe UI" pitchFamily="34" charset="-122"/>
                <a:cs typeface="Segoe UI" pitchFamily="34" charset="-120"/>
              </a:rPr>
              <a:t>• Defense Date: </a:t>
            </a:r>
            <a:pPr indent="0" marL="0">
              <a:buNone/>
            </a:pPr>
            <a:r>
              <a:rPr lang="en-US" sz="1100" dirty="0">
                <a:solidFill>
                  <a:srgbClr val="94A3B8"/>
                </a:solidFill>
                <a:latin typeface="Segoe UI" pitchFamily="34" charset="0"/>
                <a:ea typeface="Segoe UI" pitchFamily="34" charset="-122"/>
                <a:cs typeface="Segoe UI" pitchFamily="34" charset="-120"/>
              </a:rPr>
              <a:t>August 2026  |  Woldia, Ethiopia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PRESENTATION ROADMAP</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What We Will Explore</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sp>
        <p:nvSpPr>
          <p:cNvPr id="9" name="Shape 6"/>
          <p:cNvSpPr/>
          <p:nvPr/>
        </p:nvSpPr>
        <p:spPr>
          <a:xfrm>
            <a:off x="731520" y="1645920"/>
            <a:ext cx="2057400" cy="4389120"/>
          </a:xfrm>
          <a:prstGeom prst="roundRect">
            <a:avLst>
              <a:gd name="adj" fmla="val 3556"/>
            </a:avLst>
          </a:prstGeom>
          <a:solidFill>
            <a:srgbClr val="111B35"/>
          </a:solidFill>
          <a:ln w="15240">
            <a:solidFill>
              <a:srgbClr val="334155"/>
            </a:solidFill>
            <a:prstDash val="solid"/>
          </a:ln>
        </p:spPr>
      </p:sp>
      <p:sp>
        <p:nvSpPr>
          <p:cNvPr id="10" name="Shape 7"/>
          <p:cNvSpPr/>
          <p:nvPr/>
        </p:nvSpPr>
        <p:spPr>
          <a:xfrm>
            <a:off x="868680" y="1874520"/>
            <a:ext cx="640080" cy="640080"/>
          </a:xfrm>
          <a:prstGeom prst="roundRect">
            <a:avLst>
              <a:gd name="adj" fmla="val 11429"/>
            </a:avLst>
          </a:prstGeom>
          <a:solidFill>
            <a:srgbClr val="0B1020"/>
          </a:solidFill>
          <a:ln w="19050">
            <a:solidFill>
              <a:srgbClr val="3B82F6"/>
            </a:solidFill>
            <a:prstDash val="solid"/>
          </a:ln>
        </p:spPr>
      </p:sp>
      <p:sp>
        <p:nvSpPr>
          <p:cNvPr id="11" name="Text 8"/>
          <p:cNvSpPr/>
          <p:nvPr/>
        </p:nvSpPr>
        <p:spPr>
          <a:xfrm>
            <a:off x="868680" y="1874520"/>
            <a:ext cx="640080" cy="640080"/>
          </a:xfrm>
          <a:prstGeom prst="rect">
            <a:avLst/>
          </a:prstGeom>
          <a:noFill/>
          <a:ln/>
        </p:spPr>
        <p:txBody>
          <a:bodyPr wrap="square" rtlCol="0" anchor="ctr"/>
          <a:lstStyle/>
          <a:p>
            <a:pPr algn="ctr" indent="0" marL="0">
              <a:buNone/>
            </a:pPr>
            <a:r>
              <a:rPr lang="en-US" sz="1600" b="1" dirty="0">
                <a:solidFill>
                  <a:srgbClr val="22D3EE"/>
                </a:solidFill>
                <a:latin typeface="Segoe UI" pitchFamily="34" charset="0"/>
                <a:ea typeface="Segoe UI" pitchFamily="34" charset="-122"/>
                <a:cs typeface="Segoe UI" pitchFamily="34" charset="-120"/>
              </a:rPr>
              <a:t>01</a:t>
            </a:r>
            <a:endParaRPr lang="en-US" sz="1600" dirty="0"/>
          </a:p>
        </p:txBody>
      </p:sp>
      <p:sp>
        <p:nvSpPr>
          <p:cNvPr id="12" name="Text 9"/>
          <p:cNvSpPr/>
          <p:nvPr/>
        </p:nvSpPr>
        <p:spPr>
          <a:xfrm>
            <a:off x="868680" y="2743200"/>
            <a:ext cx="1783080" cy="731520"/>
          </a:xfrm>
          <a:prstGeom prst="rect">
            <a:avLst/>
          </a:prstGeom>
          <a:noFill/>
          <a:ln/>
        </p:spPr>
        <p:txBody>
          <a:bodyPr wrap="square" rtlCol="0" anchor="ctr"/>
          <a:lstStyle/>
          <a:p>
            <a:pPr indent="0" marL="0">
              <a:lnSpc>
                <a:spcPct val="115000"/>
              </a:lnSpc>
              <a:buNone/>
            </a:pPr>
            <a:r>
              <a:rPr lang="en-US" sz="1300" b="1" dirty="0">
                <a:solidFill>
                  <a:srgbClr val="F8FAFC"/>
                </a:solidFill>
                <a:latin typeface="Segoe UI" pitchFamily="34" charset="0"/>
                <a:ea typeface="Segoe UI" pitchFamily="34" charset="-122"/>
                <a:cs typeface="Segoe UI" pitchFamily="34" charset="-120"/>
              </a:rPr>
              <a:t>Project Introduction &amp; Objectives</a:t>
            </a:r>
            <a:endParaRPr lang="en-US" sz="1300" dirty="0"/>
          </a:p>
        </p:txBody>
      </p:sp>
      <p:sp>
        <p:nvSpPr>
          <p:cNvPr id="13" name="Text 10"/>
          <p:cNvSpPr/>
          <p:nvPr/>
        </p:nvSpPr>
        <p:spPr>
          <a:xfrm>
            <a:off x="868680" y="3566160"/>
            <a:ext cx="1783080" cy="219456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Pharmacy challenges, operational motivation, multi-branch scope, and functional objectives.</a:t>
            </a:r>
            <a:endParaRPr lang="en-US" sz="1000" dirty="0"/>
          </a:p>
        </p:txBody>
      </p:sp>
      <p:sp>
        <p:nvSpPr>
          <p:cNvPr id="14" name="Shape 11"/>
          <p:cNvSpPr/>
          <p:nvPr/>
        </p:nvSpPr>
        <p:spPr>
          <a:xfrm>
            <a:off x="2907792" y="1645920"/>
            <a:ext cx="2057400" cy="4389120"/>
          </a:xfrm>
          <a:prstGeom prst="roundRect">
            <a:avLst>
              <a:gd name="adj" fmla="val 3556"/>
            </a:avLst>
          </a:prstGeom>
          <a:solidFill>
            <a:srgbClr val="111B35"/>
          </a:solidFill>
          <a:ln w="15240">
            <a:solidFill>
              <a:srgbClr val="334155"/>
            </a:solidFill>
            <a:prstDash val="solid"/>
          </a:ln>
        </p:spPr>
      </p:sp>
      <p:sp>
        <p:nvSpPr>
          <p:cNvPr id="15" name="Shape 12"/>
          <p:cNvSpPr/>
          <p:nvPr/>
        </p:nvSpPr>
        <p:spPr>
          <a:xfrm>
            <a:off x="3044952" y="1874520"/>
            <a:ext cx="640080" cy="640080"/>
          </a:xfrm>
          <a:prstGeom prst="roundRect">
            <a:avLst>
              <a:gd name="adj" fmla="val 11429"/>
            </a:avLst>
          </a:prstGeom>
          <a:solidFill>
            <a:srgbClr val="0B1020"/>
          </a:solidFill>
          <a:ln w="19050">
            <a:solidFill>
              <a:srgbClr val="3B82F6"/>
            </a:solidFill>
            <a:prstDash val="solid"/>
          </a:ln>
        </p:spPr>
      </p:sp>
      <p:sp>
        <p:nvSpPr>
          <p:cNvPr id="16" name="Text 13"/>
          <p:cNvSpPr/>
          <p:nvPr/>
        </p:nvSpPr>
        <p:spPr>
          <a:xfrm>
            <a:off x="3044952" y="1874520"/>
            <a:ext cx="640080" cy="640080"/>
          </a:xfrm>
          <a:prstGeom prst="rect">
            <a:avLst/>
          </a:prstGeom>
          <a:noFill/>
          <a:ln/>
        </p:spPr>
        <p:txBody>
          <a:bodyPr wrap="square" rtlCol="0" anchor="ctr"/>
          <a:lstStyle/>
          <a:p>
            <a:pPr algn="ctr" indent="0" marL="0">
              <a:buNone/>
            </a:pPr>
            <a:r>
              <a:rPr lang="en-US" sz="1600" b="1" dirty="0">
                <a:solidFill>
                  <a:srgbClr val="22D3EE"/>
                </a:solidFill>
                <a:latin typeface="Segoe UI" pitchFamily="34" charset="0"/>
                <a:ea typeface="Segoe UI" pitchFamily="34" charset="-122"/>
                <a:cs typeface="Segoe UI" pitchFamily="34" charset="-120"/>
              </a:rPr>
              <a:t>02</a:t>
            </a:r>
            <a:endParaRPr lang="en-US" sz="1600" dirty="0"/>
          </a:p>
        </p:txBody>
      </p:sp>
      <p:sp>
        <p:nvSpPr>
          <p:cNvPr id="17" name="Text 14"/>
          <p:cNvSpPr/>
          <p:nvPr/>
        </p:nvSpPr>
        <p:spPr>
          <a:xfrm>
            <a:off x="3044952" y="2743200"/>
            <a:ext cx="1783080" cy="731520"/>
          </a:xfrm>
          <a:prstGeom prst="rect">
            <a:avLst/>
          </a:prstGeom>
          <a:noFill/>
          <a:ln/>
        </p:spPr>
        <p:txBody>
          <a:bodyPr wrap="square" rtlCol="0" anchor="ctr"/>
          <a:lstStyle/>
          <a:p>
            <a:pPr indent="0" marL="0">
              <a:lnSpc>
                <a:spcPct val="115000"/>
              </a:lnSpc>
              <a:buNone/>
            </a:pPr>
            <a:r>
              <a:rPr lang="en-US" sz="1300" b="1" dirty="0">
                <a:solidFill>
                  <a:srgbClr val="F8FAFC"/>
                </a:solidFill>
                <a:latin typeface="Segoe UI" pitchFamily="34" charset="0"/>
                <a:ea typeface="Segoe UI" pitchFamily="34" charset="-122"/>
                <a:cs typeface="Segoe UI" pitchFamily="34" charset="-120"/>
              </a:rPr>
              <a:t>System Design &amp; Database</a:t>
            </a:r>
            <a:endParaRPr lang="en-US" sz="1300" dirty="0"/>
          </a:p>
        </p:txBody>
      </p:sp>
      <p:sp>
        <p:nvSpPr>
          <p:cNvPr id="18" name="Text 15"/>
          <p:cNvSpPr/>
          <p:nvPr/>
        </p:nvSpPr>
        <p:spPr>
          <a:xfrm>
            <a:off x="3044952" y="3566160"/>
            <a:ext cx="1783080" cy="219456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Decoupled web architecture, 3NF relational schema, and entity-relationship models.</a:t>
            </a:r>
            <a:endParaRPr lang="en-US" sz="1000" dirty="0"/>
          </a:p>
        </p:txBody>
      </p:sp>
      <p:sp>
        <p:nvSpPr>
          <p:cNvPr id="19" name="Shape 16"/>
          <p:cNvSpPr/>
          <p:nvPr/>
        </p:nvSpPr>
        <p:spPr>
          <a:xfrm>
            <a:off x="5084064" y="1645920"/>
            <a:ext cx="2057400" cy="4389120"/>
          </a:xfrm>
          <a:prstGeom prst="roundRect">
            <a:avLst>
              <a:gd name="adj" fmla="val 3556"/>
            </a:avLst>
          </a:prstGeom>
          <a:solidFill>
            <a:srgbClr val="111B35"/>
          </a:solidFill>
          <a:ln w="15240">
            <a:solidFill>
              <a:srgbClr val="334155"/>
            </a:solidFill>
            <a:prstDash val="solid"/>
          </a:ln>
        </p:spPr>
      </p:sp>
      <p:sp>
        <p:nvSpPr>
          <p:cNvPr id="20" name="Shape 17"/>
          <p:cNvSpPr/>
          <p:nvPr/>
        </p:nvSpPr>
        <p:spPr>
          <a:xfrm>
            <a:off x="5221224" y="1874520"/>
            <a:ext cx="640080" cy="640080"/>
          </a:xfrm>
          <a:prstGeom prst="roundRect">
            <a:avLst>
              <a:gd name="adj" fmla="val 11429"/>
            </a:avLst>
          </a:prstGeom>
          <a:solidFill>
            <a:srgbClr val="0B1020"/>
          </a:solidFill>
          <a:ln w="19050">
            <a:solidFill>
              <a:srgbClr val="3B82F6"/>
            </a:solidFill>
            <a:prstDash val="solid"/>
          </a:ln>
        </p:spPr>
      </p:sp>
      <p:sp>
        <p:nvSpPr>
          <p:cNvPr id="21" name="Text 18"/>
          <p:cNvSpPr/>
          <p:nvPr/>
        </p:nvSpPr>
        <p:spPr>
          <a:xfrm>
            <a:off x="5221224" y="1874520"/>
            <a:ext cx="640080" cy="640080"/>
          </a:xfrm>
          <a:prstGeom prst="rect">
            <a:avLst/>
          </a:prstGeom>
          <a:noFill/>
          <a:ln/>
        </p:spPr>
        <p:txBody>
          <a:bodyPr wrap="square" rtlCol="0" anchor="ctr"/>
          <a:lstStyle/>
          <a:p>
            <a:pPr algn="ctr" indent="0" marL="0">
              <a:buNone/>
            </a:pPr>
            <a:r>
              <a:rPr lang="en-US" sz="1600" b="1" dirty="0">
                <a:solidFill>
                  <a:srgbClr val="22D3EE"/>
                </a:solidFill>
                <a:latin typeface="Segoe UI" pitchFamily="34" charset="0"/>
                <a:ea typeface="Segoe UI" pitchFamily="34" charset="-122"/>
                <a:cs typeface="Segoe UI" pitchFamily="34" charset="-120"/>
              </a:rPr>
              <a:t>03</a:t>
            </a:r>
            <a:endParaRPr lang="en-US" sz="1600" dirty="0"/>
          </a:p>
        </p:txBody>
      </p:sp>
      <p:sp>
        <p:nvSpPr>
          <p:cNvPr id="22" name="Text 19"/>
          <p:cNvSpPr/>
          <p:nvPr/>
        </p:nvSpPr>
        <p:spPr>
          <a:xfrm>
            <a:off x="5221224" y="2743200"/>
            <a:ext cx="1783080" cy="731520"/>
          </a:xfrm>
          <a:prstGeom prst="rect">
            <a:avLst/>
          </a:prstGeom>
          <a:noFill/>
          <a:ln/>
        </p:spPr>
        <p:txBody>
          <a:bodyPr wrap="square" rtlCol="0" anchor="ctr"/>
          <a:lstStyle/>
          <a:p>
            <a:pPr indent="0" marL="0">
              <a:lnSpc>
                <a:spcPct val="115000"/>
              </a:lnSpc>
              <a:buNone/>
            </a:pPr>
            <a:r>
              <a:rPr lang="en-US" sz="1300" b="1" dirty="0">
                <a:solidFill>
                  <a:srgbClr val="F8FAFC"/>
                </a:solidFill>
                <a:latin typeface="Segoe UI" pitchFamily="34" charset="0"/>
                <a:ea typeface="Segoe UI" pitchFamily="34" charset="-122"/>
                <a:cs typeface="Segoe UI" pitchFamily="34" charset="-120"/>
              </a:rPr>
              <a:t>Laravel Implementation</a:t>
            </a:r>
            <a:endParaRPr lang="en-US" sz="1300" dirty="0"/>
          </a:p>
        </p:txBody>
      </p:sp>
      <p:sp>
        <p:nvSpPr>
          <p:cNvPr id="23" name="Text 20"/>
          <p:cNvSpPr/>
          <p:nvPr/>
        </p:nvSpPr>
        <p:spPr>
          <a:xfrm>
            <a:off x="5221224" y="3566160"/>
            <a:ext cx="1783080" cy="219456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Directory structure, Eloquent models, controllers, FEFO algorithm, and multi-branch handling.</a:t>
            </a:r>
            <a:endParaRPr lang="en-US" sz="1000" dirty="0"/>
          </a:p>
        </p:txBody>
      </p:sp>
      <p:sp>
        <p:nvSpPr>
          <p:cNvPr id="24" name="Shape 21"/>
          <p:cNvSpPr/>
          <p:nvPr/>
        </p:nvSpPr>
        <p:spPr>
          <a:xfrm>
            <a:off x="7260336" y="1645920"/>
            <a:ext cx="2057400" cy="4389120"/>
          </a:xfrm>
          <a:prstGeom prst="roundRect">
            <a:avLst>
              <a:gd name="adj" fmla="val 3556"/>
            </a:avLst>
          </a:prstGeom>
          <a:solidFill>
            <a:srgbClr val="111B35"/>
          </a:solidFill>
          <a:ln w="15240">
            <a:solidFill>
              <a:srgbClr val="334155"/>
            </a:solidFill>
            <a:prstDash val="solid"/>
          </a:ln>
        </p:spPr>
      </p:sp>
      <p:sp>
        <p:nvSpPr>
          <p:cNvPr id="25" name="Shape 22"/>
          <p:cNvSpPr/>
          <p:nvPr/>
        </p:nvSpPr>
        <p:spPr>
          <a:xfrm>
            <a:off x="7397496" y="1874520"/>
            <a:ext cx="640080" cy="640080"/>
          </a:xfrm>
          <a:prstGeom prst="roundRect">
            <a:avLst>
              <a:gd name="adj" fmla="val 11429"/>
            </a:avLst>
          </a:prstGeom>
          <a:solidFill>
            <a:srgbClr val="0B1020"/>
          </a:solidFill>
          <a:ln w="19050">
            <a:solidFill>
              <a:srgbClr val="3B82F6"/>
            </a:solidFill>
            <a:prstDash val="solid"/>
          </a:ln>
        </p:spPr>
      </p:sp>
      <p:sp>
        <p:nvSpPr>
          <p:cNvPr id="26" name="Text 23"/>
          <p:cNvSpPr/>
          <p:nvPr/>
        </p:nvSpPr>
        <p:spPr>
          <a:xfrm>
            <a:off x="7397496" y="1874520"/>
            <a:ext cx="640080" cy="640080"/>
          </a:xfrm>
          <a:prstGeom prst="rect">
            <a:avLst/>
          </a:prstGeom>
          <a:noFill/>
          <a:ln/>
        </p:spPr>
        <p:txBody>
          <a:bodyPr wrap="square" rtlCol="0" anchor="ctr"/>
          <a:lstStyle/>
          <a:p>
            <a:pPr algn="ctr" indent="0" marL="0">
              <a:buNone/>
            </a:pPr>
            <a:r>
              <a:rPr lang="en-US" sz="1600" b="1" dirty="0">
                <a:solidFill>
                  <a:srgbClr val="22D3EE"/>
                </a:solidFill>
                <a:latin typeface="Segoe UI" pitchFamily="34" charset="0"/>
                <a:ea typeface="Segoe UI" pitchFamily="34" charset="-122"/>
                <a:cs typeface="Segoe UI" pitchFamily="34" charset="-120"/>
              </a:rPr>
              <a:t>04</a:t>
            </a:r>
            <a:endParaRPr lang="en-US" sz="1600" dirty="0"/>
          </a:p>
        </p:txBody>
      </p:sp>
      <p:sp>
        <p:nvSpPr>
          <p:cNvPr id="27" name="Text 24"/>
          <p:cNvSpPr/>
          <p:nvPr/>
        </p:nvSpPr>
        <p:spPr>
          <a:xfrm>
            <a:off x="7397496" y="2743200"/>
            <a:ext cx="1783080" cy="731520"/>
          </a:xfrm>
          <a:prstGeom prst="rect">
            <a:avLst/>
          </a:prstGeom>
          <a:noFill/>
          <a:ln/>
        </p:spPr>
        <p:txBody>
          <a:bodyPr wrap="square" rtlCol="0" anchor="ctr"/>
          <a:lstStyle/>
          <a:p>
            <a:pPr indent="0" marL="0">
              <a:lnSpc>
                <a:spcPct val="115000"/>
              </a:lnSpc>
              <a:buNone/>
            </a:pPr>
            <a:r>
              <a:rPr lang="en-US" sz="1300" b="1" dirty="0">
                <a:solidFill>
                  <a:srgbClr val="F8FAFC"/>
                </a:solidFill>
                <a:latin typeface="Segoe UI" pitchFamily="34" charset="0"/>
                <a:ea typeface="Segoe UI" pitchFamily="34" charset="-122"/>
                <a:cs typeface="Segoe UI" pitchFamily="34" charset="-120"/>
              </a:rPr>
              <a:t>Screenshots &amp; Demonstration</a:t>
            </a:r>
            <a:endParaRPr lang="en-US" sz="1300" dirty="0"/>
          </a:p>
        </p:txBody>
      </p:sp>
      <p:sp>
        <p:nvSpPr>
          <p:cNvPr id="28" name="Text 25"/>
          <p:cNvSpPr/>
          <p:nvPr/>
        </p:nvSpPr>
        <p:spPr>
          <a:xfrm>
            <a:off x="7397496" y="3566160"/>
            <a:ext cx="1783080" cy="219456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Live application walkthrough, user interface dashboard, and clinical dispensing flow.</a:t>
            </a:r>
            <a:endParaRPr lang="en-US" sz="1000" dirty="0"/>
          </a:p>
        </p:txBody>
      </p:sp>
      <p:sp>
        <p:nvSpPr>
          <p:cNvPr id="29" name="Shape 26"/>
          <p:cNvSpPr/>
          <p:nvPr/>
        </p:nvSpPr>
        <p:spPr>
          <a:xfrm>
            <a:off x="9436608" y="1645920"/>
            <a:ext cx="2057400" cy="4389120"/>
          </a:xfrm>
          <a:prstGeom prst="roundRect">
            <a:avLst>
              <a:gd name="adj" fmla="val 3556"/>
            </a:avLst>
          </a:prstGeom>
          <a:solidFill>
            <a:srgbClr val="111B35"/>
          </a:solidFill>
          <a:ln w="15240">
            <a:solidFill>
              <a:srgbClr val="334155"/>
            </a:solidFill>
            <a:prstDash val="solid"/>
          </a:ln>
        </p:spPr>
      </p:sp>
      <p:sp>
        <p:nvSpPr>
          <p:cNvPr id="30" name="Shape 27"/>
          <p:cNvSpPr/>
          <p:nvPr/>
        </p:nvSpPr>
        <p:spPr>
          <a:xfrm>
            <a:off x="9573768" y="1874520"/>
            <a:ext cx="640080" cy="640080"/>
          </a:xfrm>
          <a:prstGeom prst="roundRect">
            <a:avLst>
              <a:gd name="adj" fmla="val 11429"/>
            </a:avLst>
          </a:prstGeom>
          <a:solidFill>
            <a:srgbClr val="0B1020"/>
          </a:solidFill>
          <a:ln w="19050">
            <a:solidFill>
              <a:srgbClr val="3B82F6"/>
            </a:solidFill>
            <a:prstDash val="solid"/>
          </a:ln>
        </p:spPr>
      </p:sp>
      <p:sp>
        <p:nvSpPr>
          <p:cNvPr id="31" name="Text 28"/>
          <p:cNvSpPr/>
          <p:nvPr/>
        </p:nvSpPr>
        <p:spPr>
          <a:xfrm>
            <a:off x="9573768" y="1874520"/>
            <a:ext cx="640080" cy="640080"/>
          </a:xfrm>
          <a:prstGeom prst="rect">
            <a:avLst/>
          </a:prstGeom>
          <a:noFill/>
          <a:ln/>
        </p:spPr>
        <p:txBody>
          <a:bodyPr wrap="square" rtlCol="0" anchor="ctr"/>
          <a:lstStyle/>
          <a:p>
            <a:pPr algn="ctr" indent="0" marL="0">
              <a:buNone/>
            </a:pPr>
            <a:r>
              <a:rPr lang="en-US" sz="1600" b="1" dirty="0">
                <a:solidFill>
                  <a:srgbClr val="22D3EE"/>
                </a:solidFill>
                <a:latin typeface="Segoe UI" pitchFamily="34" charset="0"/>
                <a:ea typeface="Segoe UI" pitchFamily="34" charset="-122"/>
                <a:cs typeface="Segoe UI" pitchFamily="34" charset="-120"/>
              </a:rPr>
              <a:t>05</a:t>
            </a:r>
            <a:endParaRPr lang="en-US" sz="1600" dirty="0"/>
          </a:p>
        </p:txBody>
      </p:sp>
      <p:sp>
        <p:nvSpPr>
          <p:cNvPr id="32" name="Text 29"/>
          <p:cNvSpPr/>
          <p:nvPr/>
        </p:nvSpPr>
        <p:spPr>
          <a:xfrm>
            <a:off x="9573768" y="2743200"/>
            <a:ext cx="1783080" cy="731520"/>
          </a:xfrm>
          <a:prstGeom prst="rect">
            <a:avLst/>
          </a:prstGeom>
          <a:noFill/>
          <a:ln/>
        </p:spPr>
        <p:txBody>
          <a:bodyPr wrap="square" rtlCol="0" anchor="ctr"/>
          <a:lstStyle/>
          <a:p>
            <a:pPr indent="0" marL="0">
              <a:lnSpc>
                <a:spcPct val="115000"/>
              </a:lnSpc>
              <a:buNone/>
            </a:pPr>
            <a:r>
              <a:rPr lang="en-US" sz="1300" b="1" dirty="0">
                <a:solidFill>
                  <a:srgbClr val="F8FAFC"/>
                </a:solidFill>
                <a:latin typeface="Segoe UI" pitchFamily="34" charset="0"/>
                <a:ea typeface="Segoe UI" pitchFamily="34" charset="-122"/>
                <a:cs typeface="Segoe UI" pitchFamily="34" charset="-120"/>
              </a:rPr>
              <a:t>Testing, Results &amp; Conclusion</a:t>
            </a:r>
            <a:endParaRPr lang="en-US" sz="1300" dirty="0"/>
          </a:p>
        </p:txBody>
      </p:sp>
      <p:sp>
        <p:nvSpPr>
          <p:cNvPr id="33" name="Text 30"/>
          <p:cNvSpPr/>
          <p:nvPr/>
        </p:nvSpPr>
        <p:spPr>
          <a:xfrm>
            <a:off x="9573768" y="3566160"/>
            <a:ext cx="1783080" cy="219456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Unit/integration testing matrix, RBAC data integrity, project impact, and future work.</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PROBLEM MOTIVATION</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Why Does Pharmacy Inventory Management Matter?</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sp>
        <p:nvSpPr>
          <p:cNvPr id="9" name="Shape 6"/>
          <p:cNvSpPr/>
          <p:nvPr/>
        </p:nvSpPr>
        <p:spPr>
          <a:xfrm>
            <a:off x="731520" y="1508760"/>
            <a:ext cx="5239512" cy="4572000"/>
          </a:xfrm>
          <a:prstGeom prst="roundRect">
            <a:avLst>
              <a:gd name="adj" fmla="val 1600"/>
            </a:avLst>
          </a:prstGeom>
          <a:solidFill>
            <a:srgbClr val="111B35"/>
          </a:solidFill>
          <a:ln w="19050">
            <a:solidFill>
              <a:srgbClr val="EF4444"/>
            </a:solidFill>
            <a:prstDash val="solid"/>
          </a:ln>
        </p:spPr>
      </p:sp>
      <p:sp>
        <p:nvSpPr>
          <p:cNvPr id="10" name="Shape 7"/>
          <p:cNvSpPr/>
          <p:nvPr/>
        </p:nvSpPr>
        <p:spPr>
          <a:xfrm>
            <a:off x="1005840" y="1737360"/>
            <a:ext cx="2560320" cy="320040"/>
          </a:xfrm>
          <a:prstGeom prst="roundRect">
            <a:avLst>
              <a:gd name="adj" fmla="val 14286"/>
            </a:avLst>
          </a:prstGeom>
          <a:solidFill>
            <a:srgbClr val="3B1219"/>
          </a:solidFill>
          <a:ln w="12700">
            <a:solidFill>
              <a:srgbClr val="EF4444"/>
            </a:solidFill>
            <a:prstDash val="solid"/>
          </a:ln>
        </p:spPr>
      </p:sp>
      <p:sp>
        <p:nvSpPr>
          <p:cNvPr id="11" name="Text 8"/>
          <p:cNvSpPr/>
          <p:nvPr/>
        </p:nvSpPr>
        <p:spPr>
          <a:xfrm>
            <a:off x="1005840" y="1737360"/>
            <a:ext cx="2560320" cy="320040"/>
          </a:xfrm>
          <a:prstGeom prst="rect">
            <a:avLst/>
          </a:prstGeom>
          <a:noFill/>
          <a:ln/>
        </p:spPr>
        <p:txBody>
          <a:bodyPr wrap="square" rtlCol="0" anchor="ctr"/>
          <a:lstStyle/>
          <a:p>
            <a:pPr algn="ctr" indent="0" marL="0">
              <a:buNone/>
            </a:pPr>
            <a:r>
              <a:rPr lang="en-US" sz="900" b="1" dirty="0">
                <a:solidFill>
                  <a:srgbClr val="EF4444"/>
                </a:solidFill>
                <a:latin typeface="Segoe UI" pitchFamily="34" charset="0"/>
                <a:ea typeface="Segoe UI" pitchFamily="34" charset="-122"/>
                <a:cs typeface="Segoe UI" pitchFamily="34" charset="-120"/>
              </a:rPr>
              <a:t>TRADITIONAL MANUAL PROCESS</a:t>
            </a:r>
            <a:endParaRPr lang="en-US" sz="900" dirty="0"/>
          </a:p>
        </p:txBody>
      </p:sp>
      <p:sp>
        <p:nvSpPr>
          <p:cNvPr id="12" name="Text 9"/>
          <p:cNvSpPr/>
          <p:nvPr/>
        </p:nvSpPr>
        <p:spPr>
          <a:xfrm>
            <a:off x="1005840" y="2240280"/>
            <a:ext cx="4663440" cy="658368"/>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  Difficulty Monitoring Stock:
</a:t>
            </a:r>
            <a:pPr indent="0" marL="0">
              <a:buNone/>
            </a:pPr>
            <a:r>
              <a:rPr lang="en-US" sz="950" dirty="0">
                <a:solidFill>
                  <a:srgbClr val="94A3B8"/>
                </a:solidFill>
                <a:latin typeface="Segoe UI" pitchFamily="34" charset="0"/>
                <a:ea typeface="Segoe UI" pitchFamily="34" charset="-122"/>
                <a:cs typeface="Segoe UI" pitchFamily="34" charset="-120"/>
              </a:rPr>
              <a:t>    Manual bin cards fail to reflect live shelf levels, causing unexpected stock-outs of life-saving medications.</a:t>
            </a:r>
            <a:endParaRPr lang="en-US" sz="1050" dirty="0"/>
          </a:p>
        </p:txBody>
      </p:sp>
      <p:sp>
        <p:nvSpPr>
          <p:cNvPr id="13" name="Text 10"/>
          <p:cNvSpPr/>
          <p:nvPr/>
        </p:nvSpPr>
        <p:spPr>
          <a:xfrm>
            <a:off x="1005840" y="2953512"/>
            <a:ext cx="4663440" cy="658368"/>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  High Medication Expiration Waste:
</a:t>
            </a:r>
            <a:pPr indent="0" marL="0">
              <a:buNone/>
            </a:pPr>
            <a:r>
              <a:rPr lang="en-US" sz="950" dirty="0">
                <a:solidFill>
                  <a:srgbClr val="94A3B8"/>
                </a:solidFill>
                <a:latin typeface="Segoe UI" pitchFamily="34" charset="0"/>
                <a:ea typeface="Segoe UI" pitchFamily="34" charset="-122"/>
                <a:cs typeface="Segoe UI" pitchFamily="34" charset="-120"/>
              </a:rPr>
              <a:t>    Lack of automated expiration tracking causes older batches to expire unnoticed, causing heavy financial and safety risks.</a:t>
            </a:r>
            <a:endParaRPr lang="en-US" sz="1050" dirty="0"/>
          </a:p>
        </p:txBody>
      </p:sp>
      <p:sp>
        <p:nvSpPr>
          <p:cNvPr id="14" name="Text 11"/>
          <p:cNvSpPr/>
          <p:nvPr/>
        </p:nvSpPr>
        <p:spPr>
          <a:xfrm>
            <a:off x="1005840" y="3666744"/>
            <a:ext cx="4663440" cy="658368"/>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  Time-Consuming Recordkeeping:
</a:t>
            </a:r>
            <a:pPr indent="0" marL="0">
              <a:buNone/>
            </a:pPr>
            <a:r>
              <a:rPr lang="en-US" sz="950" dirty="0">
                <a:solidFill>
                  <a:srgbClr val="94A3B8"/>
                </a:solidFill>
                <a:latin typeface="Segoe UI" pitchFamily="34" charset="0"/>
                <a:ea typeface="Segoe UI" pitchFamily="34" charset="-122"/>
                <a:cs typeface="Segoe UI" pitchFamily="34" charset="-120"/>
              </a:rPr>
              <a:t>    Handwritten sales ledgers require hours of end-of-day tallying prone to mathematical errors.</a:t>
            </a:r>
            <a:endParaRPr lang="en-US" sz="1050" dirty="0"/>
          </a:p>
        </p:txBody>
      </p:sp>
      <p:sp>
        <p:nvSpPr>
          <p:cNvPr id="15" name="Text 12"/>
          <p:cNvSpPr/>
          <p:nvPr/>
        </p:nvSpPr>
        <p:spPr>
          <a:xfrm>
            <a:off x="1005840" y="4379976"/>
            <a:ext cx="4663440" cy="658368"/>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  Disconnected Supplier Purchasing:
</a:t>
            </a:r>
            <a:pPr indent="0" marL="0">
              <a:buNone/>
            </a:pPr>
            <a:r>
              <a:rPr lang="en-US" sz="950" dirty="0">
                <a:solidFill>
                  <a:srgbClr val="94A3B8"/>
                </a:solidFill>
                <a:latin typeface="Segoe UI" pitchFamily="34" charset="0"/>
                <a:ea typeface="Segoe UI" pitchFamily="34" charset="-122"/>
                <a:cs typeface="Segoe UI" pitchFamily="34" charset="-120"/>
              </a:rPr>
              <a:t>    Paper purchase orders lack delivery verification and lead-time tracking.</a:t>
            </a:r>
            <a:endParaRPr lang="en-US" sz="1050" dirty="0"/>
          </a:p>
        </p:txBody>
      </p:sp>
      <p:sp>
        <p:nvSpPr>
          <p:cNvPr id="16" name="Text 13"/>
          <p:cNvSpPr/>
          <p:nvPr/>
        </p:nvSpPr>
        <p:spPr>
          <a:xfrm>
            <a:off x="1005840" y="5093208"/>
            <a:ext cx="4663440" cy="658368"/>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  Zero Multi-Branch Visibility:
</a:t>
            </a:r>
            <a:pPr indent="0" marL="0">
              <a:buNone/>
            </a:pPr>
            <a:r>
              <a:rPr lang="en-US" sz="950" dirty="0">
                <a:solidFill>
                  <a:srgbClr val="94A3B8"/>
                </a:solidFill>
                <a:latin typeface="Segoe UI" pitchFamily="34" charset="0"/>
                <a:ea typeface="Segoe UI" pitchFamily="34" charset="-122"/>
                <a:cs typeface="Segoe UI" pitchFamily="34" charset="-120"/>
              </a:rPr>
              <a:t>    Dispensary branches operate as isolated islands unable to view or transfer surplus stock.</a:t>
            </a:r>
            <a:endParaRPr lang="en-US" sz="1050" dirty="0"/>
          </a:p>
        </p:txBody>
      </p:sp>
      <p:sp>
        <p:nvSpPr>
          <p:cNvPr id="17" name="Shape 14"/>
          <p:cNvSpPr/>
          <p:nvPr/>
        </p:nvSpPr>
        <p:spPr>
          <a:xfrm>
            <a:off x="6217920" y="1508760"/>
            <a:ext cx="5239512" cy="4572000"/>
          </a:xfrm>
          <a:prstGeom prst="roundRect">
            <a:avLst>
              <a:gd name="adj" fmla="val 1600"/>
            </a:avLst>
          </a:prstGeom>
          <a:solidFill>
            <a:srgbClr val="111B35"/>
          </a:solidFill>
          <a:ln w="19050">
            <a:solidFill>
              <a:srgbClr val="22D3EE"/>
            </a:solidFill>
            <a:prstDash val="solid"/>
          </a:ln>
        </p:spPr>
      </p:sp>
      <p:sp>
        <p:nvSpPr>
          <p:cNvPr id="18" name="Shape 15"/>
          <p:cNvSpPr/>
          <p:nvPr/>
        </p:nvSpPr>
        <p:spPr>
          <a:xfrm>
            <a:off x="6492240" y="1737360"/>
            <a:ext cx="2560320" cy="320040"/>
          </a:xfrm>
          <a:prstGeom prst="roundRect">
            <a:avLst>
              <a:gd name="adj" fmla="val 14286"/>
            </a:avLst>
          </a:prstGeom>
          <a:solidFill>
            <a:srgbClr val="0E3A4A"/>
          </a:solidFill>
          <a:ln w="12700">
            <a:solidFill>
              <a:srgbClr val="22D3EE"/>
            </a:solidFill>
            <a:prstDash val="solid"/>
          </a:ln>
        </p:spPr>
      </p:sp>
      <p:sp>
        <p:nvSpPr>
          <p:cNvPr id="19" name="Text 16"/>
          <p:cNvSpPr/>
          <p:nvPr/>
        </p:nvSpPr>
        <p:spPr>
          <a:xfrm>
            <a:off x="6492240" y="1737360"/>
            <a:ext cx="2560320" cy="320040"/>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STRUCTURED DIGITAL SYSTEM</a:t>
            </a:r>
            <a:endParaRPr lang="en-US" sz="900" dirty="0"/>
          </a:p>
        </p:txBody>
      </p:sp>
      <p:sp>
        <p:nvSpPr>
          <p:cNvPr id="20" name="Text 17"/>
          <p:cNvSpPr/>
          <p:nvPr/>
        </p:nvSpPr>
        <p:spPr>
          <a:xfrm>
            <a:off x="6492240" y="2240280"/>
            <a:ext cx="4663440" cy="658368"/>
          </a:xfrm>
          <a:prstGeom prst="rect">
            <a:avLst/>
          </a:prstGeom>
          <a:noFill/>
          <a:ln/>
        </p:spPr>
        <p:txBody>
          <a:bodyPr wrap="square" rtlCol="0" anchor="ctr"/>
          <a:lstStyle/>
          <a:p>
            <a:pPr indent="0" marL="0">
              <a:buNone/>
            </a:pPr>
            <a:r>
              <a:rPr lang="en-US" sz="1050" b="1" dirty="0">
                <a:solidFill>
                  <a:srgbClr val="22D3EE"/>
                </a:solidFill>
                <a:latin typeface="Segoe UI" pitchFamily="34" charset="0"/>
                <a:ea typeface="Segoe UI" pitchFamily="34" charset="-122"/>
                <a:cs typeface="Segoe UI" pitchFamily="34" charset="-120"/>
              </a:rPr>
              <a:t>✔  Real-Time Centralized Inventory:
</a:t>
            </a:r>
            <a:pPr indent="0" marL="0">
              <a:buNone/>
            </a:pPr>
            <a:r>
              <a:rPr lang="en-US" sz="950" dirty="0">
                <a:solidFill>
                  <a:srgbClr val="F8FAFC"/>
                </a:solidFill>
                <a:latin typeface="Segoe UI" pitchFamily="34" charset="0"/>
                <a:ea typeface="Segoe UI" pitchFamily="34" charset="-122"/>
                <a:cs typeface="Segoe UI" pitchFamily="34" charset="-120"/>
              </a:rPr>
              <a:t>    Instant visibility across all medicine catalog records, active batches, and physical shelf coordinates.</a:t>
            </a:r>
            <a:endParaRPr lang="en-US" sz="1050" dirty="0"/>
          </a:p>
        </p:txBody>
      </p:sp>
      <p:sp>
        <p:nvSpPr>
          <p:cNvPr id="21" name="Text 18"/>
          <p:cNvSpPr/>
          <p:nvPr/>
        </p:nvSpPr>
        <p:spPr>
          <a:xfrm>
            <a:off x="6492240" y="2953512"/>
            <a:ext cx="4663440" cy="658368"/>
          </a:xfrm>
          <a:prstGeom prst="rect">
            <a:avLst/>
          </a:prstGeom>
          <a:noFill/>
          <a:ln/>
        </p:spPr>
        <p:txBody>
          <a:bodyPr wrap="square" rtlCol="0" anchor="ctr"/>
          <a:lstStyle/>
          <a:p>
            <a:pPr indent="0" marL="0">
              <a:buNone/>
            </a:pPr>
            <a:r>
              <a:rPr lang="en-US" sz="1050" b="1" dirty="0">
                <a:solidFill>
                  <a:srgbClr val="22D3EE"/>
                </a:solidFill>
                <a:latin typeface="Segoe UI" pitchFamily="34" charset="0"/>
                <a:ea typeface="Segoe UI" pitchFamily="34" charset="-122"/>
                <a:cs typeface="Segoe UI" pitchFamily="34" charset="-120"/>
              </a:rPr>
              <a:t>✔  Automated FEFO Expiry Protection:
</a:t>
            </a:r>
            <a:pPr indent="0" marL="0">
              <a:buNone/>
            </a:pPr>
            <a:r>
              <a:rPr lang="en-US" sz="950" dirty="0">
                <a:solidFill>
                  <a:srgbClr val="F8FAFC"/>
                </a:solidFill>
                <a:latin typeface="Segoe UI" pitchFamily="34" charset="0"/>
                <a:ea typeface="Segoe UI" pitchFamily="34" charset="-122"/>
                <a:cs typeface="Segoe UI" pitchFamily="34" charset="-120"/>
              </a:rPr>
              <a:t>    First Expired, First Out dispensing algorithm automatically allocates stock nearing expiration first.</a:t>
            </a:r>
            <a:endParaRPr lang="en-US" sz="1050" dirty="0"/>
          </a:p>
        </p:txBody>
      </p:sp>
      <p:sp>
        <p:nvSpPr>
          <p:cNvPr id="22" name="Text 19"/>
          <p:cNvSpPr/>
          <p:nvPr/>
        </p:nvSpPr>
        <p:spPr>
          <a:xfrm>
            <a:off x="6492240" y="3666744"/>
            <a:ext cx="4663440" cy="658368"/>
          </a:xfrm>
          <a:prstGeom prst="rect">
            <a:avLst/>
          </a:prstGeom>
          <a:noFill/>
          <a:ln/>
        </p:spPr>
        <p:txBody>
          <a:bodyPr wrap="square" rtlCol="0" anchor="ctr"/>
          <a:lstStyle/>
          <a:p>
            <a:pPr indent="0" marL="0">
              <a:buNone/>
            </a:pPr>
            <a:r>
              <a:rPr lang="en-US" sz="1050" b="1" dirty="0">
                <a:solidFill>
                  <a:srgbClr val="22D3EE"/>
                </a:solidFill>
                <a:latin typeface="Segoe UI" pitchFamily="34" charset="0"/>
                <a:ea typeface="Segoe UI" pitchFamily="34" charset="-122"/>
                <a:cs typeface="Segoe UI" pitchFamily="34" charset="-120"/>
              </a:rPr>
              <a:t>✔  Automated Transaction Ledgers:
</a:t>
            </a:r>
            <a:pPr indent="0" marL="0">
              <a:buNone/>
            </a:pPr>
            <a:r>
              <a:rPr lang="en-US" sz="950" dirty="0">
                <a:solidFill>
                  <a:srgbClr val="F8FAFC"/>
                </a:solidFill>
                <a:latin typeface="Segoe UI" pitchFamily="34" charset="0"/>
                <a:ea typeface="Segoe UI" pitchFamily="34" charset="-122"/>
                <a:cs typeface="Segoe UI" pitchFamily="34" charset="-120"/>
              </a:rPr>
              <a:t>    Every sale, purchase receipt, and transfer appends an immutable stock ledger row automatically.</a:t>
            </a:r>
            <a:endParaRPr lang="en-US" sz="1050" dirty="0"/>
          </a:p>
        </p:txBody>
      </p:sp>
      <p:sp>
        <p:nvSpPr>
          <p:cNvPr id="23" name="Text 20"/>
          <p:cNvSpPr/>
          <p:nvPr/>
        </p:nvSpPr>
        <p:spPr>
          <a:xfrm>
            <a:off x="6492240" y="4379976"/>
            <a:ext cx="4663440" cy="658368"/>
          </a:xfrm>
          <a:prstGeom prst="rect">
            <a:avLst/>
          </a:prstGeom>
          <a:noFill/>
          <a:ln/>
        </p:spPr>
        <p:txBody>
          <a:bodyPr wrap="square" rtlCol="0" anchor="ctr"/>
          <a:lstStyle/>
          <a:p>
            <a:pPr indent="0" marL="0">
              <a:buNone/>
            </a:pPr>
            <a:r>
              <a:rPr lang="en-US" sz="1050" b="1" dirty="0">
                <a:solidFill>
                  <a:srgbClr val="22D3EE"/>
                </a:solidFill>
                <a:latin typeface="Segoe UI" pitchFamily="34" charset="0"/>
                <a:ea typeface="Segoe UI" pitchFamily="34" charset="-122"/>
                <a:cs typeface="Segoe UI" pitchFamily="34" charset="-120"/>
              </a:rPr>
              <a:t>✔  Structured 5-Stage Procurement:
</a:t>
            </a:r>
            <a:pPr indent="0" marL="0">
              <a:buNone/>
            </a:pPr>
            <a:r>
              <a:rPr lang="en-US" sz="950" dirty="0">
                <a:solidFill>
                  <a:srgbClr val="F8FAFC"/>
                </a:solidFill>
                <a:latin typeface="Segoe UI" pitchFamily="34" charset="0"/>
                <a:ea typeface="Segoe UI" pitchFamily="34" charset="-122"/>
                <a:cs typeface="Segoe UI" pitchFamily="34" charset="-120"/>
              </a:rPr>
              <a:t>    Complete purchase order lifecycle prevents duplicate stock additions and tracks vendor lead times.</a:t>
            </a:r>
            <a:endParaRPr lang="en-US" sz="1050" dirty="0"/>
          </a:p>
        </p:txBody>
      </p:sp>
      <p:sp>
        <p:nvSpPr>
          <p:cNvPr id="24" name="Text 21"/>
          <p:cNvSpPr/>
          <p:nvPr/>
        </p:nvSpPr>
        <p:spPr>
          <a:xfrm>
            <a:off x="6492240" y="5093208"/>
            <a:ext cx="4663440" cy="658368"/>
          </a:xfrm>
          <a:prstGeom prst="rect">
            <a:avLst/>
          </a:prstGeom>
          <a:noFill/>
          <a:ln/>
        </p:spPr>
        <p:txBody>
          <a:bodyPr wrap="square" rtlCol="0" anchor="ctr"/>
          <a:lstStyle/>
          <a:p>
            <a:pPr indent="0" marL="0">
              <a:buNone/>
            </a:pPr>
            <a:r>
              <a:rPr lang="en-US" sz="1050" b="1" dirty="0">
                <a:solidFill>
                  <a:srgbClr val="22D3EE"/>
                </a:solidFill>
                <a:latin typeface="Segoe UI" pitchFamily="34" charset="0"/>
                <a:ea typeface="Segoe UI" pitchFamily="34" charset="-122"/>
                <a:cs typeface="Segoe UI" pitchFamily="34" charset="-120"/>
              </a:rPr>
              <a:t>✔  Unified Multi-Branch Oversight:
</a:t>
            </a:r>
            <a:pPr indent="0" marL="0">
              <a:buNone/>
            </a:pPr>
            <a:r>
              <a:rPr lang="en-US" sz="950" dirty="0">
                <a:solidFill>
                  <a:srgbClr val="F8FAFC"/>
                </a:solidFill>
                <a:latin typeface="Segoe UI" pitchFamily="34" charset="0"/>
                <a:ea typeface="Segoe UI" pitchFamily="34" charset="-122"/>
                <a:cs typeface="Segoe UI" pitchFamily="34" charset="-120"/>
              </a:rPr>
              <a:t>    Central database distinguishes branch inventory and supports verified inter-branch stock transfers.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PROPOSED SOLUTION</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One System, Better Inventory Control</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sp>
        <p:nvSpPr>
          <p:cNvPr id="9" name="Shape 6"/>
          <p:cNvSpPr/>
          <p:nvPr/>
        </p:nvSpPr>
        <p:spPr>
          <a:xfrm>
            <a:off x="731520" y="1508760"/>
            <a:ext cx="3429000" cy="2148840"/>
          </a:xfrm>
          <a:prstGeom prst="roundRect">
            <a:avLst>
              <a:gd name="adj" fmla="val 3404"/>
            </a:avLst>
          </a:prstGeom>
          <a:solidFill>
            <a:srgbClr val="111B35"/>
          </a:solidFill>
          <a:ln w="15240">
            <a:solidFill>
              <a:srgbClr val="334155"/>
            </a:solidFill>
            <a:prstDash val="solid"/>
          </a:ln>
        </p:spPr>
      </p:sp>
      <p:sp>
        <p:nvSpPr>
          <p:cNvPr id="10" name="Shape 7"/>
          <p:cNvSpPr/>
          <p:nvPr/>
        </p:nvSpPr>
        <p:spPr>
          <a:xfrm>
            <a:off x="914400" y="1691640"/>
            <a:ext cx="548640" cy="548640"/>
          </a:xfrm>
          <a:prstGeom prst="roundRect">
            <a:avLst>
              <a:gd name="adj" fmla="val 10000"/>
            </a:avLst>
          </a:prstGeom>
          <a:solidFill>
            <a:srgbClr val="0B1020"/>
          </a:solidFill>
          <a:ln w="12700">
            <a:solidFill>
              <a:srgbClr val="3B82F6"/>
            </a:solidFill>
            <a:prstDash val="solid"/>
          </a:ln>
        </p:spPr>
      </p:sp>
      <p:sp>
        <p:nvSpPr>
          <p:cNvPr id="11" name="Text 8"/>
          <p:cNvSpPr/>
          <p:nvPr/>
        </p:nvSpPr>
        <p:spPr>
          <a:xfrm>
            <a:off x="914400" y="1691640"/>
            <a:ext cx="548640" cy="548640"/>
          </a:xfrm>
          <a:prstGeom prst="rect">
            <a:avLst/>
          </a:prstGeom>
          <a:noFill/>
          <a:ln/>
        </p:spPr>
        <p:txBody>
          <a:bodyPr wrap="square" rtlCol="0" anchor="ctr"/>
          <a:lstStyle/>
          <a:p>
            <a:pPr algn="ctr" indent="0" marL="0">
              <a:buNone/>
            </a:pPr>
            <a:r>
              <a:rPr lang="en-US" sz="1600" dirty="0">
                <a:solidFill>
                  <a:srgbClr val="000000"/>
                </a:solidFill>
                <a:latin typeface="Segoe UI" pitchFamily="34" charset="0"/>
                <a:ea typeface="Segoe UI" pitchFamily="34" charset="-122"/>
                <a:cs typeface="Segoe UI" pitchFamily="34" charset="-120"/>
              </a:rPr>
              <a:t>💊</a:t>
            </a:r>
            <a:endParaRPr lang="en-US" sz="1600" dirty="0"/>
          </a:p>
        </p:txBody>
      </p:sp>
      <p:sp>
        <p:nvSpPr>
          <p:cNvPr id="12" name="Text 9"/>
          <p:cNvSpPr/>
          <p:nvPr/>
        </p:nvSpPr>
        <p:spPr>
          <a:xfrm>
            <a:off x="1600200" y="1691640"/>
            <a:ext cx="2377440" cy="548640"/>
          </a:xfrm>
          <a:prstGeom prst="rect">
            <a:avLst/>
          </a:prstGeom>
          <a:noFill/>
          <a:ln/>
        </p:spPr>
        <p:txBody>
          <a:bodyPr wrap="square" rtlCol="0" anchor="ctr"/>
          <a:lstStyle/>
          <a:p>
            <a:pPr indent="0" marL="0">
              <a:buNone/>
            </a:pPr>
            <a:r>
              <a:rPr lang="en-US" sz="1250" b="1" dirty="0">
                <a:solidFill>
                  <a:srgbClr val="F8FAFC"/>
                </a:solidFill>
                <a:latin typeface="Segoe UI" pitchFamily="34" charset="0"/>
                <a:ea typeface="Segoe UI" pitchFamily="34" charset="-122"/>
                <a:cs typeface="Segoe UI" pitchFamily="34" charset="-120"/>
              </a:rPr>
              <a:t>Medicine &amp; Categories</a:t>
            </a:r>
            <a:endParaRPr lang="en-US" sz="1250" dirty="0"/>
          </a:p>
        </p:txBody>
      </p:sp>
      <p:sp>
        <p:nvSpPr>
          <p:cNvPr id="13" name="Text 10"/>
          <p:cNvSpPr/>
          <p:nvPr/>
        </p:nvSpPr>
        <p:spPr>
          <a:xfrm>
            <a:off x="914400" y="2377440"/>
            <a:ext cx="3063240" cy="109728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Cataloging generic/brand names, dosage forms, therapeutic categories, and shelf locations.</a:t>
            </a:r>
            <a:endParaRPr lang="en-US" sz="1000" dirty="0"/>
          </a:p>
        </p:txBody>
      </p:sp>
      <p:sp>
        <p:nvSpPr>
          <p:cNvPr id="14" name="Shape 11"/>
          <p:cNvSpPr/>
          <p:nvPr/>
        </p:nvSpPr>
        <p:spPr>
          <a:xfrm>
            <a:off x="4343400" y="1508760"/>
            <a:ext cx="3429000" cy="2148840"/>
          </a:xfrm>
          <a:prstGeom prst="roundRect">
            <a:avLst>
              <a:gd name="adj" fmla="val 3404"/>
            </a:avLst>
          </a:prstGeom>
          <a:solidFill>
            <a:srgbClr val="111B35"/>
          </a:solidFill>
          <a:ln w="15240">
            <a:solidFill>
              <a:srgbClr val="334155"/>
            </a:solidFill>
            <a:prstDash val="solid"/>
          </a:ln>
        </p:spPr>
      </p:sp>
      <p:sp>
        <p:nvSpPr>
          <p:cNvPr id="15" name="Shape 12"/>
          <p:cNvSpPr/>
          <p:nvPr/>
        </p:nvSpPr>
        <p:spPr>
          <a:xfrm>
            <a:off x="4526280" y="1691640"/>
            <a:ext cx="548640" cy="548640"/>
          </a:xfrm>
          <a:prstGeom prst="roundRect">
            <a:avLst>
              <a:gd name="adj" fmla="val 10000"/>
            </a:avLst>
          </a:prstGeom>
          <a:solidFill>
            <a:srgbClr val="0B1020"/>
          </a:solidFill>
          <a:ln w="12700">
            <a:solidFill>
              <a:srgbClr val="3B82F6"/>
            </a:solidFill>
            <a:prstDash val="solid"/>
          </a:ln>
        </p:spPr>
      </p:sp>
      <p:sp>
        <p:nvSpPr>
          <p:cNvPr id="16" name="Text 13"/>
          <p:cNvSpPr/>
          <p:nvPr/>
        </p:nvSpPr>
        <p:spPr>
          <a:xfrm>
            <a:off x="4526280" y="1691640"/>
            <a:ext cx="548640" cy="548640"/>
          </a:xfrm>
          <a:prstGeom prst="rect">
            <a:avLst/>
          </a:prstGeom>
          <a:noFill/>
          <a:ln/>
        </p:spPr>
        <p:txBody>
          <a:bodyPr wrap="square" rtlCol="0" anchor="ctr"/>
          <a:lstStyle/>
          <a:p>
            <a:pPr algn="ctr" indent="0" marL="0">
              <a:buNone/>
            </a:pPr>
            <a:r>
              <a:rPr lang="en-US" sz="1600" dirty="0">
                <a:solidFill>
                  <a:srgbClr val="000000"/>
                </a:solidFill>
                <a:latin typeface="Segoe UI" pitchFamily="34" charset="0"/>
                <a:ea typeface="Segoe UI" pitchFamily="34" charset="-122"/>
                <a:cs typeface="Segoe UI" pitchFamily="34" charset="-120"/>
              </a:rPr>
              <a:t>🏢</a:t>
            </a:r>
            <a:endParaRPr lang="en-US" sz="1600" dirty="0"/>
          </a:p>
        </p:txBody>
      </p:sp>
      <p:sp>
        <p:nvSpPr>
          <p:cNvPr id="17" name="Text 14"/>
          <p:cNvSpPr/>
          <p:nvPr/>
        </p:nvSpPr>
        <p:spPr>
          <a:xfrm>
            <a:off x="5212080" y="1691640"/>
            <a:ext cx="2377440" cy="548640"/>
          </a:xfrm>
          <a:prstGeom prst="rect">
            <a:avLst/>
          </a:prstGeom>
          <a:noFill/>
          <a:ln/>
        </p:spPr>
        <p:txBody>
          <a:bodyPr wrap="square" rtlCol="0" anchor="ctr"/>
          <a:lstStyle/>
          <a:p>
            <a:pPr indent="0" marL="0">
              <a:buNone/>
            </a:pPr>
            <a:r>
              <a:rPr lang="en-US" sz="1250" b="1" dirty="0">
                <a:solidFill>
                  <a:srgbClr val="F8FAFC"/>
                </a:solidFill>
                <a:latin typeface="Segoe UI" pitchFamily="34" charset="0"/>
                <a:ea typeface="Segoe UI" pitchFamily="34" charset="-122"/>
                <a:cs typeface="Segoe UI" pitchFamily="34" charset="-120"/>
              </a:rPr>
              <a:t>Suppliers &amp; Purchasing</a:t>
            </a:r>
            <a:endParaRPr lang="en-US" sz="1250" dirty="0"/>
          </a:p>
        </p:txBody>
      </p:sp>
      <p:sp>
        <p:nvSpPr>
          <p:cNvPr id="18" name="Text 15"/>
          <p:cNvSpPr/>
          <p:nvPr/>
        </p:nvSpPr>
        <p:spPr>
          <a:xfrm>
            <a:off x="4526280" y="2377440"/>
            <a:ext cx="3063240" cy="109728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Wholesale vendor directory, purchase order requisitions, and goods delivery inspection.</a:t>
            </a:r>
            <a:endParaRPr lang="en-US" sz="1000" dirty="0"/>
          </a:p>
        </p:txBody>
      </p:sp>
      <p:sp>
        <p:nvSpPr>
          <p:cNvPr id="19" name="Shape 16"/>
          <p:cNvSpPr/>
          <p:nvPr/>
        </p:nvSpPr>
        <p:spPr>
          <a:xfrm>
            <a:off x="7955280" y="1508760"/>
            <a:ext cx="3429000" cy="2148840"/>
          </a:xfrm>
          <a:prstGeom prst="roundRect">
            <a:avLst>
              <a:gd name="adj" fmla="val 3404"/>
            </a:avLst>
          </a:prstGeom>
          <a:solidFill>
            <a:srgbClr val="111B35"/>
          </a:solidFill>
          <a:ln w="15240">
            <a:solidFill>
              <a:srgbClr val="334155"/>
            </a:solidFill>
            <a:prstDash val="solid"/>
          </a:ln>
        </p:spPr>
      </p:sp>
      <p:sp>
        <p:nvSpPr>
          <p:cNvPr id="20" name="Shape 17"/>
          <p:cNvSpPr/>
          <p:nvPr/>
        </p:nvSpPr>
        <p:spPr>
          <a:xfrm>
            <a:off x="8138160" y="1691640"/>
            <a:ext cx="548640" cy="548640"/>
          </a:xfrm>
          <a:prstGeom prst="roundRect">
            <a:avLst>
              <a:gd name="adj" fmla="val 10000"/>
            </a:avLst>
          </a:prstGeom>
          <a:solidFill>
            <a:srgbClr val="0B1020"/>
          </a:solidFill>
          <a:ln w="12700">
            <a:solidFill>
              <a:srgbClr val="3B82F6"/>
            </a:solidFill>
            <a:prstDash val="solid"/>
          </a:ln>
        </p:spPr>
      </p:sp>
      <p:sp>
        <p:nvSpPr>
          <p:cNvPr id="21" name="Text 18"/>
          <p:cNvSpPr/>
          <p:nvPr/>
        </p:nvSpPr>
        <p:spPr>
          <a:xfrm>
            <a:off x="8138160" y="1691640"/>
            <a:ext cx="548640" cy="548640"/>
          </a:xfrm>
          <a:prstGeom prst="rect">
            <a:avLst/>
          </a:prstGeom>
          <a:noFill/>
          <a:ln/>
        </p:spPr>
        <p:txBody>
          <a:bodyPr wrap="square" rtlCol="0" anchor="ctr"/>
          <a:lstStyle/>
          <a:p>
            <a:pPr algn="ctr" indent="0" marL="0">
              <a:buNone/>
            </a:pPr>
            <a:r>
              <a:rPr lang="en-US" sz="1600" dirty="0">
                <a:solidFill>
                  <a:srgbClr val="000000"/>
                </a:solidFill>
                <a:latin typeface="Segoe UI" pitchFamily="34" charset="0"/>
                <a:ea typeface="Segoe UI" pitchFamily="34" charset="-122"/>
                <a:cs typeface="Segoe UI" pitchFamily="34" charset="-120"/>
              </a:rPr>
              <a:t>📦</a:t>
            </a:r>
            <a:endParaRPr lang="en-US" sz="1600" dirty="0"/>
          </a:p>
        </p:txBody>
      </p:sp>
      <p:sp>
        <p:nvSpPr>
          <p:cNvPr id="22" name="Text 19"/>
          <p:cNvSpPr/>
          <p:nvPr/>
        </p:nvSpPr>
        <p:spPr>
          <a:xfrm>
            <a:off x="8823960" y="1691640"/>
            <a:ext cx="2377440" cy="548640"/>
          </a:xfrm>
          <a:prstGeom prst="rect">
            <a:avLst/>
          </a:prstGeom>
          <a:noFill/>
          <a:ln/>
        </p:spPr>
        <p:txBody>
          <a:bodyPr wrap="square" rtlCol="0" anchor="ctr"/>
          <a:lstStyle/>
          <a:p>
            <a:pPr indent="0" marL="0">
              <a:buNone/>
            </a:pPr>
            <a:r>
              <a:rPr lang="en-US" sz="1250" b="1" dirty="0">
                <a:solidFill>
                  <a:srgbClr val="F8FAFC"/>
                </a:solidFill>
                <a:latin typeface="Segoe UI" pitchFamily="34" charset="0"/>
                <a:ea typeface="Segoe UI" pitchFamily="34" charset="-122"/>
                <a:cs typeface="Segoe UI" pitchFamily="34" charset="-120"/>
              </a:rPr>
              <a:t>Batch &amp; Stock Movements</a:t>
            </a:r>
            <a:endParaRPr lang="en-US" sz="1250" dirty="0"/>
          </a:p>
        </p:txBody>
      </p:sp>
      <p:sp>
        <p:nvSpPr>
          <p:cNvPr id="23" name="Text 20"/>
          <p:cNvSpPr/>
          <p:nvPr/>
        </p:nvSpPr>
        <p:spPr>
          <a:xfrm>
            <a:off x="8138160" y="2377440"/>
            <a:ext cx="3063240" cy="109728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Multi-batch inventory with manufacturing/expiry dates and immutable audit ledgers.</a:t>
            </a:r>
            <a:endParaRPr lang="en-US" sz="1000" dirty="0"/>
          </a:p>
        </p:txBody>
      </p:sp>
      <p:sp>
        <p:nvSpPr>
          <p:cNvPr id="24" name="Shape 21"/>
          <p:cNvSpPr/>
          <p:nvPr/>
        </p:nvSpPr>
        <p:spPr>
          <a:xfrm>
            <a:off x="731520" y="3840480"/>
            <a:ext cx="3429000" cy="2148840"/>
          </a:xfrm>
          <a:prstGeom prst="roundRect">
            <a:avLst>
              <a:gd name="adj" fmla="val 3404"/>
            </a:avLst>
          </a:prstGeom>
          <a:solidFill>
            <a:srgbClr val="111B35"/>
          </a:solidFill>
          <a:ln w="15240">
            <a:solidFill>
              <a:srgbClr val="334155"/>
            </a:solidFill>
            <a:prstDash val="solid"/>
          </a:ln>
        </p:spPr>
      </p:sp>
      <p:sp>
        <p:nvSpPr>
          <p:cNvPr id="25" name="Shape 22"/>
          <p:cNvSpPr/>
          <p:nvPr/>
        </p:nvSpPr>
        <p:spPr>
          <a:xfrm>
            <a:off x="914400" y="4023360"/>
            <a:ext cx="548640" cy="548640"/>
          </a:xfrm>
          <a:prstGeom prst="roundRect">
            <a:avLst>
              <a:gd name="adj" fmla="val 10000"/>
            </a:avLst>
          </a:prstGeom>
          <a:solidFill>
            <a:srgbClr val="0B1020"/>
          </a:solidFill>
          <a:ln w="12700">
            <a:solidFill>
              <a:srgbClr val="3B82F6"/>
            </a:solidFill>
            <a:prstDash val="solid"/>
          </a:ln>
        </p:spPr>
      </p:sp>
      <p:sp>
        <p:nvSpPr>
          <p:cNvPr id="26" name="Text 23"/>
          <p:cNvSpPr/>
          <p:nvPr/>
        </p:nvSpPr>
        <p:spPr>
          <a:xfrm>
            <a:off x="914400" y="4023360"/>
            <a:ext cx="548640" cy="548640"/>
          </a:xfrm>
          <a:prstGeom prst="rect">
            <a:avLst/>
          </a:prstGeom>
          <a:noFill/>
          <a:ln/>
        </p:spPr>
        <p:txBody>
          <a:bodyPr wrap="square" rtlCol="0" anchor="ctr"/>
          <a:lstStyle/>
          <a:p>
            <a:pPr algn="ctr" indent="0" marL="0">
              <a:buNone/>
            </a:pPr>
            <a:r>
              <a:rPr lang="en-US" sz="1600" dirty="0">
                <a:solidFill>
                  <a:srgbClr val="000000"/>
                </a:solidFill>
                <a:latin typeface="Segoe UI" pitchFamily="34" charset="0"/>
                <a:ea typeface="Segoe UI" pitchFamily="34" charset="-122"/>
                <a:cs typeface="Segoe UI" pitchFamily="34" charset="-120"/>
              </a:rPr>
              <a:t>🛒</a:t>
            </a:r>
            <a:endParaRPr lang="en-US" sz="1600" dirty="0"/>
          </a:p>
        </p:txBody>
      </p:sp>
      <p:sp>
        <p:nvSpPr>
          <p:cNvPr id="27" name="Text 24"/>
          <p:cNvSpPr/>
          <p:nvPr/>
        </p:nvSpPr>
        <p:spPr>
          <a:xfrm>
            <a:off x="1600200" y="4023360"/>
            <a:ext cx="2377440" cy="548640"/>
          </a:xfrm>
          <a:prstGeom prst="rect">
            <a:avLst/>
          </a:prstGeom>
          <a:noFill/>
          <a:ln/>
        </p:spPr>
        <p:txBody>
          <a:bodyPr wrap="square" rtlCol="0" anchor="ctr"/>
          <a:lstStyle/>
          <a:p>
            <a:pPr indent="0" marL="0">
              <a:buNone/>
            </a:pPr>
            <a:r>
              <a:rPr lang="en-US" sz="1250" b="1" dirty="0">
                <a:solidFill>
                  <a:srgbClr val="F8FAFC"/>
                </a:solidFill>
                <a:latin typeface="Segoe UI" pitchFamily="34" charset="0"/>
                <a:ea typeface="Segoe UI" pitchFamily="34" charset="-122"/>
                <a:cs typeface="Segoe UI" pitchFamily="34" charset="-120"/>
              </a:rPr>
              <a:t>Sales &amp; Clinical Dispensing</a:t>
            </a:r>
            <a:endParaRPr lang="en-US" sz="1250" dirty="0"/>
          </a:p>
        </p:txBody>
      </p:sp>
      <p:sp>
        <p:nvSpPr>
          <p:cNvPr id="28" name="Text 25"/>
          <p:cNvSpPr/>
          <p:nvPr/>
        </p:nvSpPr>
        <p:spPr>
          <a:xfrm>
            <a:off x="914400" y="4709160"/>
            <a:ext cx="3063240" cy="109728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Two-stage prescription staging, retail barcode checkout, and digital thermal receipts.</a:t>
            </a:r>
            <a:endParaRPr lang="en-US" sz="1000" dirty="0"/>
          </a:p>
        </p:txBody>
      </p:sp>
      <p:sp>
        <p:nvSpPr>
          <p:cNvPr id="29" name="Shape 26"/>
          <p:cNvSpPr/>
          <p:nvPr/>
        </p:nvSpPr>
        <p:spPr>
          <a:xfrm>
            <a:off x="4343400" y="3840480"/>
            <a:ext cx="3429000" cy="2148840"/>
          </a:xfrm>
          <a:prstGeom prst="roundRect">
            <a:avLst>
              <a:gd name="adj" fmla="val 3404"/>
            </a:avLst>
          </a:prstGeom>
          <a:solidFill>
            <a:srgbClr val="111B35"/>
          </a:solidFill>
          <a:ln w="15240">
            <a:solidFill>
              <a:srgbClr val="334155"/>
            </a:solidFill>
            <a:prstDash val="solid"/>
          </a:ln>
        </p:spPr>
      </p:sp>
      <p:sp>
        <p:nvSpPr>
          <p:cNvPr id="30" name="Shape 27"/>
          <p:cNvSpPr/>
          <p:nvPr/>
        </p:nvSpPr>
        <p:spPr>
          <a:xfrm>
            <a:off x="4526280" y="4023360"/>
            <a:ext cx="548640" cy="548640"/>
          </a:xfrm>
          <a:prstGeom prst="roundRect">
            <a:avLst>
              <a:gd name="adj" fmla="val 10000"/>
            </a:avLst>
          </a:prstGeom>
          <a:solidFill>
            <a:srgbClr val="0B1020"/>
          </a:solidFill>
          <a:ln w="12700">
            <a:solidFill>
              <a:srgbClr val="3B82F6"/>
            </a:solidFill>
            <a:prstDash val="solid"/>
          </a:ln>
        </p:spPr>
      </p:sp>
      <p:sp>
        <p:nvSpPr>
          <p:cNvPr id="31" name="Text 28"/>
          <p:cNvSpPr/>
          <p:nvPr/>
        </p:nvSpPr>
        <p:spPr>
          <a:xfrm>
            <a:off x="4526280" y="4023360"/>
            <a:ext cx="548640" cy="548640"/>
          </a:xfrm>
          <a:prstGeom prst="rect">
            <a:avLst/>
          </a:prstGeom>
          <a:noFill/>
          <a:ln/>
        </p:spPr>
        <p:txBody>
          <a:bodyPr wrap="square" rtlCol="0" anchor="ctr"/>
          <a:lstStyle/>
          <a:p>
            <a:pPr algn="ctr" indent="0" marL="0">
              <a:buNone/>
            </a:pPr>
            <a:r>
              <a:rPr lang="en-US" sz="1600" dirty="0">
                <a:solidFill>
                  <a:srgbClr val="000000"/>
                </a:solidFill>
                <a:latin typeface="Segoe UI" pitchFamily="34" charset="0"/>
                <a:ea typeface="Segoe UI" pitchFamily="34" charset="-122"/>
                <a:cs typeface="Segoe UI" pitchFamily="34" charset="-120"/>
              </a:rPr>
              <a:t>⚠️</a:t>
            </a:r>
            <a:endParaRPr lang="en-US" sz="1600" dirty="0"/>
          </a:p>
        </p:txBody>
      </p:sp>
      <p:sp>
        <p:nvSpPr>
          <p:cNvPr id="32" name="Text 29"/>
          <p:cNvSpPr/>
          <p:nvPr/>
        </p:nvSpPr>
        <p:spPr>
          <a:xfrm>
            <a:off x="5212080" y="4023360"/>
            <a:ext cx="2377440" cy="548640"/>
          </a:xfrm>
          <a:prstGeom prst="rect">
            <a:avLst/>
          </a:prstGeom>
          <a:noFill/>
          <a:ln/>
        </p:spPr>
        <p:txBody>
          <a:bodyPr wrap="square" rtlCol="0" anchor="ctr"/>
          <a:lstStyle/>
          <a:p>
            <a:pPr indent="0" marL="0">
              <a:buNone/>
            </a:pPr>
            <a:r>
              <a:rPr lang="en-US" sz="1250" b="1" dirty="0">
                <a:solidFill>
                  <a:srgbClr val="F8FAFC"/>
                </a:solidFill>
                <a:latin typeface="Segoe UI" pitchFamily="34" charset="0"/>
                <a:ea typeface="Segoe UI" pitchFamily="34" charset="-122"/>
                <a:cs typeface="Segoe UI" pitchFamily="34" charset="-120"/>
              </a:rPr>
              <a:t>Expiry &amp; Low-Stock Alerts</a:t>
            </a:r>
            <a:endParaRPr lang="en-US" sz="1250" dirty="0"/>
          </a:p>
        </p:txBody>
      </p:sp>
      <p:sp>
        <p:nvSpPr>
          <p:cNvPr id="33" name="Text 30"/>
          <p:cNvSpPr/>
          <p:nvPr/>
        </p:nvSpPr>
        <p:spPr>
          <a:xfrm>
            <a:off x="4526280" y="4709160"/>
            <a:ext cx="3063240" cy="109728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Automated FEFO priority allocation and visual alerts when stock breaches reorder levels.</a:t>
            </a:r>
            <a:endParaRPr lang="en-US" sz="1000" dirty="0"/>
          </a:p>
        </p:txBody>
      </p:sp>
      <p:sp>
        <p:nvSpPr>
          <p:cNvPr id="34" name="Shape 31"/>
          <p:cNvSpPr/>
          <p:nvPr/>
        </p:nvSpPr>
        <p:spPr>
          <a:xfrm>
            <a:off x="7955280" y="3840480"/>
            <a:ext cx="3429000" cy="2148840"/>
          </a:xfrm>
          <a:prstGeom prst="roundRect">
            <a:avLst>
              <a:gd name="adj" fmla="val 3404"/>
            </a:avLst>
          </a:prstGeom>
          <a:solidFill>
            <a:srgbClr val="111B35"/>
          </a:solidFill>
          <a:ln w="15240">
            <a:solidFill>
              <a:srgbClr val="334155"/>
            </a:solidFill>
            <a:prstDash val="solid"/>
          </a:ln>
        </p:spPr>
      </p:sp>
      <p:sp>
        <p:nvSpPr>
          <p:cNvPr id="35" name="Shape 32"/>
          <p:cNvSpPr/>
          <p:nvPr/>
        </p:nvSpPr>
        <p:spPr>
          <a:xfrm>
            <a:off x="8138160" y="4023360"/>
            <a:ext cx="548640" cy="548640"/>
          </a:xfrm>
          <a:prstGeom prst="roundRect">
            <a:avLst>
              <a:gd name="adj" fmla="val 10000"/>
            </a:avLst>
          </a:prstGeom>
          <a:solidFill>
            <a:srgbClr val="0B1020"/>
          </a:solidFill>
          <a:ln w="12700">
            <a:solidFill>
              <a:srgbClr val="3B82F6"/>
            </a:solidFill>
            <a:prstDash val="solid"/>
          </a:ln>
        </p:spPr>
      </p:sp>
      <p:sp>
        <p:nvSpPr>
          <p:cNvPr id="36" name="Text 33"/>
          <p:cNvSpPr/>
          <p:nvPr/>
        </p:nvSpPr>
        <p:spPr>
          <a:xfrm>
            <a:off x="8138160" y="4023360"/>
            <a:ext cx="548640" cy="548640"/>
          </a:xfrm>
          <a:prstGeom prst="rect">
            <a:avLst/>
          </a:prstGeom>
          <a:noFill/>
          <a:ln/>
        </p:spPr>
        <p:txBody>
          <a:bodyPr wrap="square" rtlCol="0" anchor="ctr"/>
          <a:lstStyle/>
          <a:p>
            <a:pPr algn="ctr" indent="0" marL="0">
              <a:buNone/>
            </a:pPr>
            <a:r>
              <a:rPr lang="en-US" sz="1600" dirty="0">
                <a:solidFill>
                  <a:srgbClr val="000000"/>
                </a:solidFill>
                <a:latin typeface="Segoe UI" pitchFamily="34" charset="0"/>
                <a:ea typeface="Segoe UI" pitchFamily="34" charset="-122"/>
                <a:cs typeface="Segoe UI" pitchFamily="34" charset="-120"/>
              </a:rPr>
              <a:t>🏬</a:t>
            </a:r>
            <a:endParaRPr lang="en-US" sz="1600" dirty="0"/>
          </a:p>
        </p:txBody>
      </p:sp>
      <p:sp>
        <p:nvSpPr>
          <p:cNvPr id="37" name="Text 34"/>
          <p:cNvSpPr/>
          <p:nvPr/>
        </p:nvSpPr>
        <p:spPr>
          <a:xfrm>
            <a:off x="8823960" y="4023360"/>
            <a:ext cx="2377440" cy="548640"/>
          </a:xfrm>
          <a:prstGeom prst="rect">
            <a:avLst/>
          </a:prstGeom>
          <a:noFill/>
          <a:ln/>
        </p:spPr>
        <p:txBody>
          <a:bodyPr wrap="square" rtlCol="0" anchor="ctr"/>
          <a:lstStyle/>
          <a:p>
            <a:pPr indent="0" marL="0">
              <a:buNone/>
            </a:pPr>
            <a:r>
              <a:rPr lang="en-US" sz="1250" b="1" dirty="0">
                <a:solidFill>
                  <a:srgbClr val="F8FAFC"/>
                </a:solidFill>
                <a:latin typeface="Segoe UI" pitchFamily="34" charset="0"/>
                <a:ea typeface="Segoe UI" pitchFamily="34" charset="-122"/>
                <a:cs typeface="Segoe UI" pitchFamily="34" charset="-120"/>
              </a:rPr>
              <a:t>Multi-Branch Management</a:t>
            </a:r>
            <a:endParaRPr lang="en-US" sz="1250" dirty="0"/>
          </a:p>
        </p:txBody>
      </p:sp>
      <p:sp>
        <p:nvSpPr>
          <p:cNvPr id="38" name="Text 35"/>
          <p:cNvSpPr/>
          <p:nvPr/>
        </p:nvSpPr>
        <p:spPr>
          <a:xfrm>
            <a:off x="8138160" y="4709160"/>
            <a:ext cx="3063240" cy="109728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Branch-specific inventory separation and verified inter-branch stock transfers.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OBJECTIVES &amp; SCOPE</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What Are We Building?</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sp>
        <p:nvSpPr>
          <p:cNvPr id="9" name="Shape 6"/>
          <p:cNvSpPr/>
          <p:nvPr/>
        </p:nvSpPr>
        <p:spPr>
          <a:xfrm>
            <a:off x="731520" y="1508760"/>
            <a:ext cx="3429000" cy="4572000"/>
          </a:xfrm>
          <a:prstGeom prst="roundRect">
            <a:avLst>
              <a:gd name="adj" fmla="val 2133"/>
            </a:avLst>
          </a:prstGeom>
          <a:solidFill>
            <a:srgbClr val="111B35"/>
          </a:solidFill>
          <a:ln w="15240">
            <a:solidFill>
              <a:srgbClr val="3B82F6"/>
            </a:solidFill>
            <a:prstDash val="solid"/>
          </a:ln>
        </p:spPr>
      </p:sp>
      <p:sp>
        <p:nvSpPr>
          <p:cNvPr id="10" name="Shape 7"/>
          <p:cNvSpPr/>
          <p:nvPr/>
        </p:nvSpPr>
        <p:spPr>
          <a:xfrm>
            <a:off x="960120" y="1737360"/>
            <a:ext cx="2011680" cy="274320"/>
          </a:xfrm>
          <a:prstGeom prst="roundRect">
            <a:avLst>
              <a:gd name="adj" fmla="val 16667"/>
            </a:avLst>
          </a:prstGeom>
          <a:solidFill>
            <a:srgbClr val="0B1020"/>
          </a:solidFill>
          <a:ln w="12700">
            <a:solidFill>
              <a:srgbClr val="3B82F6"/>
            </a:solidFill>
            <a:prstDash val="solid"/>
          </a:ln>
        </p:spPr>
      </p:sp>
      <p:sp>
        <p:nvSpPr>
          <p:cNvPr id="11" name="Text 8"/>
          <p:cNvSpPr/>
          <p:nvPr/>
        </p:nvSpPr>
        <p:spPr>
          <a:xfrm>
            <a:off x="960120" y="1737360"/>
            <a:ext cx="2011680" cy="274320"/>
          </a:xfrm>
          <a:prstGeom prst="rect">
            <a:avLst/>
          </a:prstGeom>
          <a:noFill/>
          <a:ln/>
        </p:spPr>
        <p:txBody>
          <a:bodyPr wrap="square" rtlCol="0" anchor="ctr"/>
          <a:lstStyle/>
          <a:p>
            <a:pPr algn="ctr" indent="0" marL="0">
              <a:buNone/>
            </a:pPr>
            <a:r>
              <a:rPr lang="en-US" sz="850" b="1" dirty="0">
                <a:solidFill>
                  <a:srgbClr val="3B82F6"/>
                </a:solidFill>
                <a:latin typeface="Segoe UI" pitchFamily="34" charset="0"/>
                <a:ea typeface="Segoe UI" pitchFamily="34" charset="-122"/>
                <a:cs typeface="Segoe UI" pitchFamily="34" charset="-120"/>
              </a:rPr>
              <a:t>CORE GOALS</a:t>
            </a:r>
            <a:endParaRPr lang="en-US" sz="850" dirty="0"/>
          </a:p>
        </p:txBody>
      </p:sp>
      <p:sp>
        <p:nvSpPr>
          <p:cNvPr id="12" name="Text 9"/>
          <p:cNvSpPr/>
          <p:nvPr/>
        </p:nvSpPr>
        <p:spPr>
          <a:xfrm>
            <a:off x="960120" y="2103120"/>
            <a:ext cx="2971800" cy="45720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Primary Objectives</a:t>
            </a:r>
            <a:endParaRPr lang="en-US" sz="1400" dirty="0"/>
          </a:p>
        </p:txBody>
      </p:sp>
      <p:sp>
        <p:nvSpPr>
          <p:cNvPr id="13" name="Text 10"/>
          <p:cNvSpPr/>
          <p:nvPr/>
        </p:nvSpPr>
        <p:spPr>
          <a:xfrm>
            <a:off x="960120" y="2651760"/>
            <a:ext cx="2971800" cy="3200400"/>
          </a:xfrm>
          <a:prstGeom prst="rect">
            <a:avLst/>
          </a:prstGeom>
          <a:noFill/>
          <a:ln/>
        </p:spPr>
        <p:txBody>
          <a:bodyPr wrap="square" rtlCol="0" anchor="ctr"/>
          <a:lstStyle/>
          <a:p>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Centralize all pharmaceutical records into a single relational database.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Provide real-time visibility into shelf counts, reducing unrecorded shrinkage.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Enforce automated First Expired, First Out (FEFO) dispensing algorithms.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Automate multi-stage purchase ordering and goods receipt verification.
</a:t>
            </a:r>
            <a:endParaRPr lang="en-US" sz="1000" dirty="0"/>
          </a:p>
        </p:txBody>
      </p:sp>
      <p:sp>
        <p:nvSpPr>
          <p:cNvPr id="14" name="Shape 11"/>
          <p:cNvSpPr/>
          <p:nvPr/>
        </p:nvSpPr>
        <p:spPr>
          <a:xfrm>
            <a:off x="4343400" y="1508760"/>
            <a:ext cx="3429000" cy="4572000"/>
          </a:xfrm>
          <a:prstGeom prst="roundRect">
            <a:avLst>
              <a:gd name="adj" fmla="val 2133"/>
            </a:avLst>
          </a:prstGeom>
          <a:solidFill>
            <a:srgbClr val="111B35"/>
          </a:solidFill>
          <a:ln w="15240">
            <a:solidFill>
              <a:srgbClr val="22D3EE"/>
            </a:solidFill>
            <a:prstDash val="solid"/>
          </a:ln>
        </p:spPr>
      </p:sp>
      <p:sp>
        <p:nvSpPr>
          <p:cNvPr id="15" name="Shape 12"/>
          <p:cNvSpPr/>
          <p:nvPr/>
        </p:nvSpPr>
        <p:spPr>
          <a:xfrm>
            <a:off x="4572000" y="1737360"/>
            <a:ext cx="2011680" cy="274320"/>
          </a:xfrm>
          <a:prstGeom prst="roundRect">
            <a:avLst>
              <a:gd name="adj" fmla="val 16667"/>
            </a:avLst>
          </a:prstGeom>
          <a:solidFill>
            <a:srgbClr val="0B1020"/>
          </a:solidFill>
          <a:ln w="12700">
            <a:solidFill>
              <a:srgbClr val="22D3EE"/>
            </a:solidFill>
            <a:prstDash val="solid"/>
          </a:ln>
        </p:spPr>
      </p:sp>
      <p:sp>
        <p:nvSpPr>
          <p:cNvPr id="16" name="Text 13"/>
          <p:cNvSpPr/>
          <p:nvPr/>
        </p:nvSpPr>
        <p:spPr>
          <a:xfrm>
            <a:off x="4572000" y="1737360"/>
            <a:ext cx="2011680" cy="274320"/>
          </a:xfrm>
          <a:prstGeom prst="rect">
            <a:avLst/>
          </a:prstGeom>
          <a:noFill/>
          <a:ln/>
        </p:spPr>
        <p:txBody>
          <a:bodyPr wrap="square" rtlCol="0" anchor="ctr"/>
          <a:lstStyle/>
          <a:p>
            <a:pPr algn="ctr" indent="0" marL="0">
              <a:buNone/>
            </a:pPr>
            <a:r>
              <a:rPr lang="en-US" sz="850" b="1" dirty="0">
                <a:solidFill>
                  <a:srgbClr val="22D3EE"/>
                </a:solidFill>
                <a:latin typeface="Segoe UI" pitchFamily="34" charset="0"/>
                <a:ea typeface="Segoe UI" pitchFamily="34" charset="-122"/>
                <a:cs typeface="Segoe UI" pitchFamily="34" charset="-120"/>
              </a:rPr>
              <a:t>BRANCH ARCHITECTURE</a:t>
            </a:r>
            <a:endParaRPr lang="en-US" sz="850" dirty="0"/>
          </a:p>
        </p:txBody>
      </p:sp>
      <p:sp>
        <p:nvSpPr>
          <p:cNvPr id="17" name="Text 14"/>
          <p:cNvSpPr/>
          <p:nvPr/>
        </p:nvSpPr>
        <p:spPr>
          <a:xfrm>
            <a:off x="4572000" y="2103120"/>
            <a:ext cx="2971800" cy="45720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Multi-Branch Objectives</a:t>
            </a:r>
            <a:endParaRPr lang="en-US" sz="1400" dirty="0"/>
          </a:p>
        </p:txBody>
      </p:sp>
      <p:sp>
        <p:nvSpPr>
          <p:cNvPr id="18" name="Text 15"/>
          <p:cNvSpPr/>
          <p:nvPr/>
        </p:nvSpPr>
        <p:spPr>
          <a:xfrm>
            <a:off x="4572000" y="2651760"/>
            <a:ext cx="2971800" cy="3200400"/>
          </a:xfrm>
          <a:prstGeom prst="rect">
            <a:avLst/>
          </a:prstGeom>
          <a:noFill/>
          <a:ln/>
        </p:spPr>
        <p:txBody>
          <a:bodyPr wrap="square" rtlCol="0" anchor="ctr"/>
          <a:lstStyle/>
          <a:p>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Model separate pharmacy branches within a unified schema (`branches` table).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Make branch-specific inventory distinguishable across warehouses and counters.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Support atomic inter-branch stock transfer requests (`stock_transfers`).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Enable managerial reporting comparing stock valuations across branches.
</a:t>
            </a:r>
            <a:endParaRPr lang="en-US" sz="1000" dirty="0"/>
          </a:p>
        </p:txBody>
      </p:sp>
      <p:sp>
        <p:nvSpPr>
          <p:cNvPr id="19" name="Shape 16"/>
          <p:cNvSpPr/>
          <p:nvPr/>
        </p:nvSpPr>
        <p:spPr>
          <a:xfrm>
            <a:off x="7955280" y="1508760"/>
            <a:ext cx="3429000" cy="4572000"/>
          </a:xfrm>
          <a:prstGeom prst="roundRect">
            <a:avLst>
              <a:gd name="adj" fmla="val 2133"/>
            </a:avLst>
          </a:prstGeom>
          <a:solidFill>
            <a:srgbClr val="111B35"/>
          </a:solidFill>
          <a:ln w="15240">
            <a:solidFill>
              <a:srgbClr val="10B981"/>
            </a:solidFill>
            <a:prstDash val="solid"/>
          </a:ln>
        </p:spPr>
      </p:sp>
      <p:sp>
        <p:nvSpPr>
          <p:cNvPr id="20" name="Shape 17"/>
          <p:cNvSpPr/>
          <p:nvPr/>
        </p:nvSpPr>
        <p:spPr>
          <a:xfrm>
            <a:off x="8183880" y="1737360"/>
            <a:ext cx="2011680" cy="274320"/>
          </a:xfrm>
          <a:prstGeom prst="roundRect">
            <a:avLst>
              <a:gd name="adj" fmla="val 16667"/>
            </a:avLst>
          </a:prstGeom>
          <a:solidFill>
            <a:srgbClr val="0B1020"/>
          </a:solidFill>
          <a:ln w="12700">
            <a:solidFill>
              <a:srgbClr val="10B981"/>
            </a:solidFill>
            <a:prstDash val="solid"/>
          </a:ln>
        </p:spPr>
      </p:sp>
      <p:sp>
        <p:nvSpPr>
          <p:cNvPr id="21" name="Text 18"/>
          <p:cNvSpPr/>
          <p:nvPr/>
        </p:nvSpPr>
        <p:spPr>
          <a:xfrm>
            <a:off x="8183880" y="1737360"/>
            <a:ext cx="2011680" cy="274320"/>
          </a:xfrm>
          <a:prstGeom prst="rect">
            <a:avLst/>
          </a:prstGeom>
          <a:noFill/>
          <a:ln/>
        </p:spPr>
        <p:txBody>
          <a:bodyPr wrap="square" rtlCol="0" anchor="ctr"/>
          <a:lstStyle/>
          <a:p>
            <a:pPr algn="ctr" indent="0" marL="0">
              <a:buNone/>
            </a:pPr>
            <a:r>
              <a:rPr lang="en-US" sz="850" b="1" dirty="0">
                <a:solidFill>
                  <a:srgbClr val="10B981"/>
                </a:solidFill>
                <a:latin typeface="Segoe UI" pitchFamily="34" charset="0"/>
                <a:ea typeface="Segoe UI" pitchFamily="34" charset="-122"/>
                <a:cs typeface="Segoe UI" pitchFamily="34" charset="-120"/>
              </a:rPr>
              <a:t>IMPLEMENTATION BOUNDARY</a:t>
            </a:r>
            <a:endParaRPr lang="en-US" sz="850" dirty="0"/>
          </a:p>
        </p:txBody>
      </p:sp>
      <p:sp>
        <p:nvSpPr>
          <p:cNvPr id="22" name="Text 19"/>
          <p:cNvSpPr/>
          <p:nvPr/>
        </p:nvSpPr>
        <p:spPr>
          <a:xfrm>
            <a:off x="8183880" y="2103120"/>
            <a:ext cx="2971800" cy="45720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Project Scope &amp; Status</a:t>
            </a:r>
            <a:endParaRPr lang="en-US" sz="1400" dirty="0"/>
          </a:p>
        </p:txBody>
      </p:sp>
      <p:sp>
        <p:nvSpPr>
          <p:cNvPr id="23" name="Text 20"/>
          <p:cNvSpPr/>
          <p:nvPr/>
        </p:nvSpPr>
        <p:spPr>
          <a:xfrm>
            <a:off x="8183880" y="2651760"/>
            <a:ext cx="2971800" cy="3200400"/>
          </a:xfrm>
          <a:prstGeom prst="rect">
            <a:avLst/>
          </a:prstGeom>
          <a:noFill/>
          <a:ln/>
        </p:spPr>
        <p:txBody>
          <a:bodyPr wrap="square" rtlCol="0" anchor="ctr"/>
          <a:lstStyle/>
          <a:p>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Implemented: Medicine catalog, multi-batch FEFO, PO state machine, POS, and RBAC.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Implemented: Branch ownership mapping in database schema and models.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Delimited: Direct consumer public e-commerce home delivery (internal focus).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Delimited: Hardware robotic dispensing and live national EHR interoperability.
</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SYSTEM ARCHITECTURE</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How the System Works</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sp>
        <p:nvSpPr>
          <p:cNvPr id="9" name="Shape 6"/>
          <p:cNvSpPr/>
          <p:nvPr/>
        </p:nvSpPr>
        <p:spPr>
          <a:xfrm>
            <a:off x="731520" y="1508760"/>
            <a:ext cx="3429000" cy="2148840"/>
          </a:xfrm>
          <a:prstGeom prst="roundRect">
            <a:avLst>
              <a:gd name="adj" fmla="val 3404"/>
            </a:avLst>
          </a:prstGeom>
          <a:solidFill>
            <a:srgbClr val="111B35"/>
          </a:solidFill>
          <a:ln w="15240">
            <a:solidFill>
              <a:srgbClr val="334155"/>
            </a:solidFill>
            <a:prstDash val="solid"/>
          </a:ln>
        </p:spPr>
      </p:sp>
      <p:sp>
        <p:nvSpPr>
          <p:cNvPr id="10" name="Shape 7"/>
          <p:cNvSpPr/>
          <p:nvPr/>
        </p:nvSpPr>
        <p:spPr>
          <a:xfrm>
            <a:off x="914400" y="1691640"/>
            <a:ext cx="1645920" cy="256032"/>
          </a:xfrm>
          <a:prstGeom prst="roundRect">
            <a:avLst>
              <a:gd name="adj" fmla="val 14286"/>
            </a:avLst>
          </a:prstGeom>
          <a:solidFill>
            <a:srgbClr val="0B1020"/>
          </a:solidFill>
          <a:ln w="12700">
            <a:solidFill>
              <a:srgbClr val="3B82F6"/>
            </a:solidFill>
            <a:prstDash val="solid"/>
          </a:ln>
        </p:spPr>
      </p:sp>
      <p:sp>
        <p:nvSpPr>
          <p:cNvPr id="11" name="Text 8"/>
          <p:cNvSpPr/>
          <p:nvPr/>
        </p:nvSpPr>
        <p:spPr>
          <a:xfrm>
            <a:off x="914400" y="1691640"/>
            <a:ext cx="1645920" cy="256032"/>
          </a:xfrm>
          <a:prstGeom prst="rect">
            <a:avLst/>
          </a:prstGeom>
          <a:noFill/>
          <a:ln/>
        </p:spPr>
        <p:txBody>
          <a:bodyPr wrap="square" rtlCol="0" anchor="ctr"/>
          <a:lstStyle/>
          <a:p>
            <a:pPr algn="ctr" indent="0" marL="0">
              <a:buNone/>
            </a:pPr>
            <a:r>
              <a:rPr lang="en-US" sz="850" b="1" dirty="0">
                <a:solidFill>
                  <a:srgbClr val="22D3EE"/>
                </a:solidFill>
                <a:latin typeface="Segoe UI" pitchFamily="34" charset="0"/>
                <a:ea typeface="Segoe UI" pitchFamily="34" charset="-122"/>
                <a:cs typeface="Segoe UI" pitchFamily="34" charset="-120"/>
              </a:rPr>
              <a:t>CLIENT</a:t>
            </a:r>
            <a:endParaRPr lang="en-US" sz="850" dirty="0"/>
          </a:p>
        </p:txBody>
      </p:sp>
      <p:sp>
        <p:nvSpPr>
          <p:cNvPr id="12" name="Text 9"/>
          <p:cNvSpPr/>
          <p:nvPr/>
        </p:nvSpPr>
        <p:spPr>
          <a:xfrm>
            <a:off x="914400" y="2057400"/>
            <a:ext cx="3063240" cy="36576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User / Browser</a:t>
            </a:r>
            <a:endParaRPr lang="en-US" sz="1300" dirty="0"/>
          </a:p>
        </p:txBody>
      </p:sp>
      <p:sp>
        <p:nvSpPr>
          <p:cNvPr id="13" name="Text 10"/>
          <p:cNvSpPr/>
          <p:nvPr/>
        </p:nvSpPr>
        <p:spPr>
          <a:xfrm>
            <a:off x="914400" y="2468880"/>
            <a:ext cx="3063240" cy="100584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User interacts with responsive desktop or POS terminal.</a:t>
            </a:r>
            <a:endParaRPr lang="en-US" sz="1000" dirty="0"/>
          </a:p>
        </p:txBody>
      </p:sp>
      <p:sp>
        <p:nvSpPr>
          <p:cNvPr id="14" name="Shape 11"/>
          <p:cNvSpPr/>
          <p:nvPr/>
        </p:nvSpPr>
        <p:spPr>
          <a:xfrm>
            <a:off x="4343400" y="1508760"/>
            <a:ext cx="3429000" cy="2148840"/>
          </a:xfrm>
          <a:prstGeom prst="roundRect">
            <a:avLst>
              <a:gd name="adj" fmla="val 3404"/>
            </a:avLst>
          </a:prstGeom>
          <a:solidFill>
            <a:srgbClr val="111B35"/>
          </a:solidFill>
          <a:ln w="15240">
            <a:solidFill>
              <a:srgbClr val="334155"/>
            </a:solidFill>
            <a:prstDash val="solid"/>
          </a:ln>
        </p:spPr>
      </p:sp>
      <p:sp>
        <p:nvSpPr>
          <p:cNvPr id="15" name="Shape 12"/>
          <p:cNvSpPr/>
          <p:nvPr/>
        </p:nvSpPr>
        <p:spPr>
          <a:xfrm>
            <a:off x="4526280" y="1691640"/>
            <a:ext cx="1645920" cy="256032"/>
          </a:xfrm>
          <a:prstGeom prst="roundRect">
            <a:avLst>
              <a:gd name="adj" fmla="val 14286"/>
            </a:avLst>
          </a:prstGeom>
          <a:solidFill>
            <a:srgbClr val="0B1020"/>
          </a:solidFill>
          <a:ln w="12700">
            <a:solidFill>
              <a:srgbClr val="3B82F6"/>
            </a:solidFill>
            <a:prstDash val="solid"/>
          </a:ln>
        </p:spPr>
      </p:sp>
      <p:sp>
        <p:nvSpPr>
          <p:cNvPr id="16" name="Text 13"/>
          <p:cNvSpPr/>
          <p:nvPr/>
        </p:nvSpPr>
        <p:spPr>
          <a:xfrm>
            <a:off x="4526280" y="1691640"/>
            <a:ext cx="1645920" cy="256032"/>
          </a:xfrm>
          <a:prstGeom prst="rect">
            <a:avLst/>
          </a:prstGeom>
          <a:noFill/>
          <a:ln/>
        </p:spPr>
        <p:txBody>
          <a:bodyPr wrap="square" rtlCol="0" anchor="ctr"/>
          <a:lstStyle/>
          <a:p>
            <a:pPr algn="ctr" indent="0" marL="0">
              <a:buNone/>
            </a:pPr>
            <a:r>
              <a:rPr lang="en-US" sz="850" b="1" dirty="0">
                <a:solidFill>
                  <a:srgbClr val="22D3EE"/>
                </a:solidFill>
                <a:latin typeface="Segoe UI" pitchFamily="34" charset="0"/>
                <a:ea typeface="Segoe UI" pitchFamily="34" charset="-122"/>
                <a:cs typeface="Segoe UI" pitchFamily="34" charset="-120"/>
              </a:rPr>
              <a:t>REACT 18</a:t>
            </a:r>
            <a:endParaRPr lang="en-US" sz="850" dirty="0"/>
          </a:p>
        </p:txBody>
      </p:sp>
      <p:sp>
        <p:nvSpPr>
          <p:cNvPr id="17" name="Text 14"/>
          <p:cNvSpPr/>
          <p:nvPr/>
        </p:nvSpPr>
        <p:spPr>
          <a:xfrm>
            <a:off x="4526280" y="2057400"/>
            <a:ext cx="3063240" cy="36576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Frontend (SPA)</a:t>
            </a:r>
            <a:endParaRPr lang="en-US" sz="1300" dirty="0"/>
          </a:p>
        </p:txBody>
      </p:sp>
      <p:sp>
        <p:nvSpPr>
          <p:cNvPr id="18" name="Text 15"/>
          <p:cNvSpPr/>
          <p:nvPr/>
        </p:nvSpPr>
        <p:spPr>
          <a:xfrm>
            <a:off x="4526280" y="2468880"/>
            <a:ext cx="3063240" cy="100584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Vite-bundled Single-Page App rendering components &amp; tables.</a:t>
            </a:r>
            <a:endParaRPr lang="en-US" sz="1000" dirty="0"/>
          </a:p>
        </p:txBody>
      </p:sp>
      <p:sp>
        <p:nvSpPr>
          <p:cNvPr id="19" name="Shape 16"/>
          <p:cNvSpPr/>
          <p:nvPr/>
        </p:nvSpPr>
        <p:spPr>
          <a:xfrm>
            <a:off x="7955280" y="1508760"/>
            <a:ext cx="3429000" cy="2148840"/>
          </a:xfrm>
          <a:prstGeom prst="roundRect">
            <a:avLst>
              <a:gd name="adj" fmla="val 3404"/>
            </a:avLst>
          </a:prstGeom>
          <a:solidFill>
            <a:srgbClr val="111B35"/>
          </a:solidFill>
          <a:ln w="15240">
            <a:solidFill>
              <a:srgbClr val="334155"/>
            </a:solidFill>
            <a:prstDash val="solid"/>
          </a:ln>
        </p:spPr>
      </p:sp>
      <p:sp>
        <p:nvSpPr>
          <p:cNvPr id="20" name="Shape 17"/>
          <p:cNvSpPr/>
          <p:nvPr/>
        </p:nvSpPr>
        <p:spPr>
          <a:xfrm>
            <a:off x="8138160" y="1691640"/>
            <a:ext cx="1645920" cy="256032"/>
          </a:xfrm>
          <a:prstGeom prst="roundRect">
            <a:avLst>
              <a:gd name="adj" fmla="val 14286"/>
            </a:avLst>
          </a:prstGeom>
          <a:solidFill>
            <a:srgbClr val="0B1020"/>
          </a:solidFill>
          <a:ln w="12700">
            <a:solidFill>
              <a:srgbClr val="3B82F6"/>
            </a:solidFill>
            <a:prstDash val="solid"/>
          </a:ln>
        </p:spPr>
      </p:sp>
      <p:sp>
        <p:nvSpPr>
          <p:cNvPr id="21" name="Text 18"/>
          <p:cNvSpPr/>
          <p:nvPr/>
        </p:nvSpPr>
        <p:spPr>
          <a:xfrm>
            <a:off x="8138160" y="1691640"/>
            <a:ext cx="1645920" cy="256032"/>
          </a:xfrm>
          <a:prstGeom prst="rect">
            <a:avLst/>
          </a:prstGeom>
          <a:noFill/>
          <a:ln/>
        </p:spPr>
        <p:txBody>
          <a:bodyPr wrap="square" rtlCol="0" anchor="ctr"/>
          <a:lstStyle/>
          <a:p>
            <a:pPr algn="ctr" indent="0" marL="0">
              <a:buNone/>
            </a:pPr>
            <a:r>
              <a:rPr lang="en-US" sz="850" b="1" dirty="0">
                <a:solidFill>
                  <a:srgbClr val="22D3EE"/>
                </a:solidFill>
                <a:latin typeface="Segoe UI" pitchFamily="34" charset="0"/>
                <a:ea typeface="Segoe UI" pitchFamily="34" charset="-122"/>
                <a:cs typeface="Segoe UI" pitchFamily="34" charset="-120"/>
              </a:rPr>
              <a:t>LARAVEL 12</a:t>
            </a:r>
            <a:endParaRPr lang="en-US" sz="850" dirty="0"/>
          </a:p>
        </p:txBody>
      </p:sp>
      <p:sp>
        <p:nvSpPr>
          <p:cNvPr id="22" name="Text 19"/>
          <p:cNvSpPr/>
          <p:nvPr/>
        </p:nvSpPr>
        <p:spPr>
          <a:xfrm>
            <a:off x="8138160" y="2057400"/>
            <a:ext cx="3063240" cy="36576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Routes &amp; Middleware</a:t>
            </a:r>
            <a:endParaRPr lang="en-US" sz="1300" dirty="0"/>
          </a:p>
        </p:txBody>
      </p:sp>
      <p:sp>
        <p:nvSpPr>
          <p:cNvPr id="23" name="Text 20"/>
          <p:cNvSpPr/>
          <p:nvPr/>
        </p:nvSpPr>
        <p:spPr>
          <a:xfrm>
            <a:off x="8138160" y="2468880"/>
            <a:ext cx="3063240" cy="100584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Sanctum token verification, EnsureApproved &amp; RBAC filters.</a:t>
            </a:r>
            <a:endParaRPr lang="en-US" sz="1000" dirty="0"/>
          </a:p>
        </p:txBody>
      </p:sp>
      <p:sp>
        <p:nvSpPr>
          <p:cNvPr id="24" name="Shape 21"/>
          <p:cNvSpPr/>
          <p:nvPr/>
        </p:nvSpPr>
        <p:spPr>
          <a:xfrm>
            <a:off x="731520" y="3840480"/>
            <a:ext cx="3429000" cy="2148840"/>
          </a:xfrm>
          <a:prstGeom prst="roundRect">
            <a:avLst>
              <a:gd name="adj" fmla="val 3404"/>
            </a:avLst>
          </a:prstGeom>
          <a:solidFill>
            <a:srgbClr val="111B35"/>
          </a:solidFill>
          <a:ln w="15240">
            <a:solidFill>
              <a:srgbClr val="334155"/>
            </a:solidFill>
            <a:prstDash val="solid"/>
          </a:ln>
        </p:spPr>
      </p:sp>
      <p:sp>
        <p:nvSpPr>
          <p:cNvPr id="25" name="Shape 22"/>
          <p:cNvSpPr/>
          <p:nvPr/>
        </p:nvSpPr>
        <p:spPr>
          <a:xfrm>
            <a:off x="914400" y="4023360"/>
            <a:ext cx="1645920" cy="256032"/>
          </a:xfrm>
          <a:prstGeom prst="roundRect">
            <a:avLst>
              <a:gd name="adj" fmla="val 14286"/>
            </a:avLst>
          </a:prstGeom>
          <a:solidFill>
            <a:srgbClr val="0B1020"/>
          </a:solidFill>
          <a:ln w="12700">
            <a:solidFill>
              <a:srgbClr val="3B82F6"/>
            </a:solidFill>
            <a:prstDash val="solid"/>
          </a:ln>
        </p:spPr>
      </p:sp>
      <p:sp>
        <p:nvSpPr>
          <p:cNvPr id="26" name="Text 23"/>
          <p:cNvSpPr/>
          <p:nvPr/>
        </p:nvSpPr>
        <p:spPr>
          <a:xfrm>
            <a:off x="914400" y="4023360"/>
            <a:ext cx="1645920" cy="256032"/>
          </a:xfrm>
          <a:prstGeom prst="rect">
            <a:avLst/>
          </a:prstGeom>
          <a:noFill/>
          <a:ln/>
        </p:spPr>
        <p:txBody>
          <a:bodyPr wrap="square" rtlCol="0" anchor="ctr"/>
          <a:lstStyle/>
          <a:p>
            <a:pPr algn="ctr" indent="0" marL="0">
              <a:buNone/>
            </a:pPr>
            <a:r>
              <a:rPr lang="en-US" sz="850" b="1" dirty="0">
                <a:solidFill>
                  <a:srgbClr val="22D3EE"/>
                </a:solidFill>
                <a:latin typeface="Segoe UI" pitchFamily="34" charset="0"/>
                <a:ea typeface="Segoe UI" pitchFamily="34" charset="-122"/>
                <a:cs typeface="Segoe UI" pitchFamily="34" charset="-120"/>
              </a:rPr>
              <a:t>BUSINESS LAYER</a:t>
            </a:r>
            <a:endParaRPr lang="en-US" sz="850" dirty="0"/>
          </a:p>
        </p:txBody>
      </p:sp>
      <p:sp>
        <p:nvSpPr>
          <p:cNvPr id="27" name="Text 24"/>
          <p:cNvSpPr/>
          <p:nvPr/>
        </p:nvSpPr>
        <p:spPr>
          <a:xfrm>
            <a:off x="914400" y="4389120"/>
            <a:ext cx="3063240" cy="36576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Controllers &amp; Logic</a:t>
            </a:r>
            <a:endParaRPr lang="en-US" sz="1300" dirty="0"/>
          </a:p>
        </p:txBody>
      </p:sp>
      <p:sp>
        <p:nvSpPr>
          <p:cNvPr id="28" name="Text 25"/>
          <p:cNvSpPr/>
          <p:nvPr/>
        </p:nvSpPr>
        <p:spPr>
          <a:xfrm>
            <a:off x="914400" y="4800600"/>
            <a:ext cx="3063240" cy="100584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Processes requests, validates input, and coordinates FEFO logic.</a:t>
            </a:r>
            <a:endParaRPr lang="en-US" sz="1000" dirty="0"/>
          </a:p>
        </p:txBody>
      </p:sp>
      <p:sp>
        <p:nvSpPr>
          <p:cNvPr id="29" name="Shape 26"/>
          <p:cNvSpPr/>
          <p:nvPr/>
        </p:nvSpPr>
        <p:spPr>
          <a:xfrm>
            <a:off x="4343400" y="3840480"/>
            <a:ext cx="3429000" cy="2148840"/>
          </a:xfrm>
          <a:prstGeom prst="roundRect">
            <a:avLst>
              <a:gd name="adj" fmla="val 3404"/>
            </a:avLst>
          </a:prstGeom>
          <a:solidFill>
            <a:srgbClr val="111B35"/>
          </a:solidFill>
          <a:ln w="15240">
            <a:solidFill>
              <a:srgbClr val="334155"/>
            </a:solidFill>
            <a:prstDash val="solid"/>
          </a:ln>
        </p:spPr>
      </p:sp>
      <p:sp>
        <p:nvSpPr>
          <p:cNvPr id="30" name="Shape 27"/>
          <p:cNvSpPr/>
          <p:nvPr/>
        </p:nvSpPr>
        <p:spPr>
          <a:xfrm>
            <a:off x="4526280" y="4023360"/>
            <a:ext cx="1645920" cy="256032"/>
          </a:xfrm>
          <a:prstGeom prst="roundRect">
            <a:avLst>
              <a:gd name="adj" fmla="val 14286"/>
            </a:avLst>
          </a:prstGeom>
          <a:solidFill>
            <a:srgbClr val="0B1020"/>
          </a:solidFill>
          <a:ln w="12700">
            <a:solidFill>
              <a:srgbClr val="3B82F6"/>
            </a:solidFill>
            <a:prstDash val="solid"/>
          </a:ln>
        </p:spPr>
      </p:sp>
      <p:sp>
        <p:nvSpPr>
          <p:cNvPr id="31" name="Text 28"/>
          <p:cNvSpPr/>
          <p:nvPr/>
        </p:nvSpPr>
        <p:spPr>
          <a:xfrm>
            <a:off x="4526280" y="4023360"/>
            <a:ext cx="1645920" cy="256032"/>
          </a:xfrm>
          <a:prstGeom prst="rect">
            <a:avLst/>
          </a:prstGeom>
          <a:noFill/>
          <a:ln/>
        </p:spPr>
        <p:txBody>
          <a:bodyPr wrap="square" rtlCol="0" anchor="ctr"/>
          <a:lstStyle/>
          <a:p>
            <a:pPr algn="ctr" indent="0" marL="0">
              <a:buNone/>
            </a:pPr>
            <a:r>
              <a:rPr lang="en-US" sz="850" b="1" dirty="0">
                <a:solidFill>
                  <a:srgbClr val="22D3EE"/>
                </a:solidFill>
                <a:latin typeface="Segoe UI" pitchFamily="34" charset="0"/>
                <a:ea typeface="Segoe UI" pitchFamily="34" charset="-122"/>
                <a:cs typeface="Segoe UI" pitchFamily="34" charset="-120"/>
              </a:rPr>
              <a:t>MODELS</a:t>
            </a:r>
            <a:endParaRPr lang="en-US" sz="850" dirty="0"/>
          </a:p>
        </p:txBody>
      </p:sp>
      <p:sp>
        <p:nvSpPr>
          <p:cNvPr id="32" name="Text 29"/>
          <p:cNvSpPr/>
          <p:nvPr/>
        </p:nvSpPr>
        <p:spPr>
          <a:xfrm>
            <a:off x="4526280" y="4389120"/>
            <a:ext cx="3063240" cy="36576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Eloquent ORM</a:t>
            </a:r>
            <a:endParaRPr lang="en-US" sz="1300" dirty="0"/>
          </a:p>
        </p:txBody>
      </p:sp>
      <p:sp>
        <p:nvSpPr>
          <p:cNvPr id="33" name="Text 30"/>
          <p:cNvSpPr/>
          <p:nvPr/>
        </p:nvSpPr>
        <p:spPr>
          <a:xfrm>
            <a:off x="4526280" y="4800600"/>
            <a:ext cx="3063240" cy="100584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Manages database entity relationships &amp; pessimistic locks.</a:t>
            </a:r>
            <a:endParaRPr lang="en-US" sz="1000" dirty="0"/>
          </a:p>
        </p:txBody>
      </p:sp>
      <p:sp>
        <p:nvSpPr>
          <p:cNvPr id="34" name="Shape 31"/>
          <p:cNvSpPr/>
          <p:nvPr/>
        </p:nvSpPr>
        <p:spPr>
          <a:xfrm>
            <a:off x="7955280" y="3840480"/>
            <a:ext cx="3429000" cy="2148840"/>
          </a:xfrm>
          <a:prstGeom prst="roundRect">
            <a:avLst>
              <a:gd name="adj" fmla="val 3404"/>
            </a:avLst>
          </a:prstGeom>
          <a:solidFill>
            <a:srgbClr val="111B35"/>
          </a:solidFill>
          <a:ln w="15240">
            <a:solidFill>
              <a:srgbClr val="334155"/>
            </a:solidFill>
            <a:prstDash val="solid"/>
          </a:ln>
        </p:spPr>
      </p:sp>
      <p:sp>
        <p:nvSpPr>
          <p:cNvPr id="35" name="Shape 32"/>
          <p:cNvSpPr/>
          <p:nvPr/>
        </p:nvSpPr>
        <p:spPr>
          <a:xfrm>
            <a:off x="8138160" y="4023360"/>
            <a:ext cx="1645920" cy="256032"/>
          </a:xfrm>
          <a:prstGeom prst="roundRect">
            <a:avLst>
              <a:gd name="adj" fmla="val 14286"/>
            </a:avLst>
          </a:prstGeom>
          <a:solidFill>
            <a:srgbClr val="0B1020"/>
          </a:solidFill>
          <a:ln w="12700">
            <a:solidFill>
              <a:srgbClr val="3B82F6"/>
            </a:solidFill>
            <a:prstDash val="solid"/>
          </a:ln>
        </p:spPr>
      </p:sp>
      <p:sp>
        <p:nvSpPr>
          <p:cNvPr id="36" name="Text 33"/>
          <p:cNvSpPr/>
          <p:nvPr/>
        </p:nvSpPr>
        <p:spPr>
          <a:xfrm>
            <a:off x="8138160" y="4023360"/>
            <a:ext cx="1645920" cy="256032"/>
          </a:xfrm>
          <a:prstGeom prst="rect">
            <a:avLst/>
          </a:prstGeom>
          <a:noFill/>
          <a:ln/>
        </p:spPr>
        <p:txBody>
          <a:bodyPr wrap="square" rtlCol="0" anchor="ctr"/>
          <a:lstStyle/>
          <a:p>
            <a:pPr algn="ctr" indent="0" marL="0">
              <a:buNone/>
            </a:pPr>
            <a:r>
              <a:rPr lang="en-US" sz="850" b="1" dirty="0">
                <a:solidFill>
                  <a:srgbClr val="22D3EE"/>
                </a:solidFill>
                <a:latin typeface="Segoe UI" pitchFamily="34" charset="0"/>
                <a:ea typeface="Segoe UI" pitchFamily="34" charset="-122"/>
                <a:cs typeface="Segoe UI" pitchFamily="34" charset="-120"/>
              </a:rPr>
              <a:t>DATA STORE</a:t>
            </a:r>
            <a:endParaRPr lang="en-US" sz="850" dirty="0"/>
          </a:p>
        </p:txBody>
      </p:sp>
      <p:sp>
        <p:nvSpPr>
          <p:cNvPr id="37" name="Text 34"/>
          <p:cNvSpPr/>
          <p:nvPr/>
        </p:nvSpPr>
        <p:spPr>
          <a:xfrm>
            <a:off x="8138160" y="4389120"/>
            <a:ext cx="3063240" cy="36576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MySQL Database</a:t>
            </a:r>
            <a:endParaRPr lang="en-US" sz="1300" dirty="0"/>
          </a:p>
        </p:txBody>
      </p:sp>
      <p:sp>
        <p:nvSpPr>
          <p:cNvPr id="38" name="Text 35"/>
          <p:cNvSpPr/>
          <p:nvPr/>
        </p:nvSpPr>
        <p:spPr>
          <a:xfrm>
            <a:off x="8138160" y="4800600"/>
            <a:ext cx="3063240" cy="100584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23 normalized ACID tables storing persistent records.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TECHNOLOGY STACK</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Technologies Behind the System</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sp>
        <p:nvSpPr>
          <p:cNvPr id="9" name="Shape 6"/>
          <p:cNvSpPr/>
          <p:nvPr/>
        </p:nvSpPr>
        <p:spPr>
          <a:xfrm>
            <a:off x="731520" y="1508760"/>
            <a:ext cx="3429000" cy="2148840"/>
          </a:xfrm>
          <a:prstGeom prst="roundRect">
            <a:avLst>
              <a:gd name="adj" fmla="val 3404"/>
            </a:avLst>
          </a:prstGeom>
          <a:solidFill>
            <a:srgbClr val="111B35"/>
          </a:solidFill>
          <a:ln w="15240">
            <a:solidFill>
              <a:srgbClr val="334155"/>
            </a:solidFill>
            <a:prstDash val="solid"/>
          </a:ln>
        </p:spPr>
      </p:sp>
      <p:sp>
        <p:nvSpPr>
          <p:cNvPr id="10" name="Text 7"/>
          <p:cNvSpPr/>
          <p:nvPr/>
        </p:nvSpPr>
        <p:spPr>
          <a:xfrm>
            <a:off x="960120" y="1691640"/>
            <a:ext cx="2971800" cy="36576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Laravel 12</a:t>
            </a:r>
            <a:endParaRPr lang="en-US" sz="1400" dirty="0"/>
          </a:p>
        </p:txBody>
      </p:sp>
      <p:sp>
        <p:nvSpPr>
          <p:cNvPr id="11" name="Text 8"/>
          <p:cNvSpPr/>
          <p:nvPr/>
        </p:nvSpPr>
        <p:spPr>
          <a:xfrm>
            <a:off x="960120" y="2057400"/>
            <a:ext cx="2971800" cy="228600"/>
          </a:xfrm>
          <a:prstGeom prst="rect">
            <a:avLst/>
          </a:prstGeom>
          <a:noFill/>
          <a:ln/>
        </p:spPr>
        <p:txBody>
          <a:bodyPr wrap="square" rtlCol="0" anchor="ctr"/>
          <a:lstStyle/>
          <a:p>
            <a:pPr indent="0" marL="0">
              <a:buNone/>
            </a:pPr>
            <a:r>
              <a:rPr lang="en-US" sz="850" b="1" dirty="0">
                <a:solidFill>
                  <a:srgbClr val="EF4444"/>
                </a:solidFill>
                <a:latin typeface="Segoe UI" pitchFamily="34" charset="0"/>
                <a:ea typeface="Segoe UI" pitchFamily="34" charset="-122"/>
                <a:cs typeface="Segoe UI" pitchFamily="34" charset="-120"/>
              </a:rPr>
              <a:t>BACKEND FRAMEWORK</a:t>
            </a:r>
            <a:endParaRPr lang="en-US" sz="850" dirty="0"/>
          </a:p>
        </p:txBody>
      </p:sp>
      <p:sp>
        <p:nvSpPr>
          <p:cNvPr id="12" name="Text 9"/>
          <p:cNvSpPr/>
          <p:nvPr/>
        </p:nvSpPr>
        <p:spPr>
          <a:xfrm>
            <a:off x="960120" y="2377440"/>
            <a:ext cx="2971800" cy="109728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PHP 8.2+ web framework providing RESTful API routing, Eloquent ORM, and Sanctum tokens.</a:t>
            </a:r>
            <a:endParaRPr lang="en-US" sz="1000" dirty="0"/>
          </a:p>
        </p:txBody>
      </p:sp>
      <p:sp>
        <p:nvSpPr>
          <p:cNvPr id="13" name="Shape 10"/>
          <p:cNvSpPr/>
          <p:nvPr/>
        </p:nvSpPr>
        <p:spPr>
          <a:xfrm>
            <a:off x="4343400" y="1508760"/>
            <a:ext cx="3429000" cy="2148840"/>
          </a:xfrm>
          <a:prstGeom prst="roundRect">
            <a:avLst>
              <a:gd name="adj" fmla="val 3404"/>
            </a:avLst>
          </a:prstGeom>
          <a:solidFill>
            <a:srgbClr val="111B35"/>
          </a:solidFill>
          <a:ln w="15240">
            <a:solidFill>
              <a:srgbClr val="334155"/>
            </a:solidFill>
            <a:prstDash val="solid"/>
          </a:ln>
        </p:spPr>
      </p:sp>
      <p:sp>
        <p:nvSpPr>
          <p:cNvPr id="14" name="Text 11"/>
          <p:cNvSpPr/>
          <p:nvPr/>
        </p:nvSpPr>
        <p:spPr>
          <a:xfrm>
            <a:off x="4572000" y="1691640"/>
            <a:ext cx="2971800" cy="36576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PHP 8.2+</a:t>
            </a:r>
            <a:endParaRPr lang="en-US" sz="1400" dirty="0"/>
          </a:p>
        </p:txBody>
      </p:sp>
      <p:sp>
        <p:nvSpPr>
          <p:cNvPr id="15" name="Text 12"/>
          <p:cNvSpPr/>
          <p:nvPr/>
        </p:nvSpPr>
        <p:spPr>
          <a:xfrm>
            <a:off x="4572000" y="2057400"/>
            <a:ext cx="2971800" cy="228600"/>
          </a:xfrm>
          <a:prstGeom prst="rect">
            <a:avLst/>
          </a:prstGeom>
          <a:noFill/>
          <a:ln/>
        </p:spPr>
        <p:txBody>
          <a:bodyPr wrap="square" rtlCol="0" anchor="ctr"/>
          <a:lstStyle/>
          <a:p>
            <a:pPr indent="0" marL="0">
              <a:buNone/>
            </a:pPr>
            <a:r>
              <a:rPr lang="en-US" sz="850" b="1" dirty="0">
                <a:solidFill>
                  <a:srgbClr val="3B82F6"/>
                </a:solidFill>
                <a:latin typeface="Segoe UI" pitchFamily="34" charset="0"/>
                <a:ea typeface="Segoe UI" pitchFamily="34" charset="-122"/>
                <a:cs typeface="Segoe UI" pitchFamily="34" charset="-120"/>
              </a:rPr>
              <a:t>PROGRAMMING LANGUAGE</a:t>
            </a:r>
            <a:endParaRPr lang="en-US" sz="850" dirty="0"/>
          </a:p>
        </p:txBody>
      </p:sp>
      <p:sp>
        <p:nvSpPr>
          <p:cNvPr id="16" name="Text 13"/>
          <p:cNvSpPr/>
          <p:nvPr/>
        </p:nvSpPr>
        <p:spPr>
          <a:xfrm>
            <a:off x="4572000" y="2377440"/>
            <a:ext cx="2971800" cy="109728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Modern server-side language featuring typed properties, attributes, and high execution speed.</a:t>
            </a:r>
            <a:endParaRPr lang="en-US" sz="1000" dirty="0"/>
          </a:p>
        </p:txBody>
      </p:sp>
      <p:sp>
        <p:nvSpPr>
          <p:cNvPr id="17" name="Shape 14"/>
          <p:cNvSpPr/>
          <p:nvPr/>
        </p:nvSpPr>
        <p:spPr>
          <a:xfrm>
            <a:off x="7955280" y="1508760"/>
            <a:ext cx="3429000" cy="2148840"/>
          </a:xfrm>
          <a:prstGeom prst="roundRect">
            <a:avLst>
              <a:gd name="adj" fmla="val 3404"/>
            </a:avLst>
          </a:prstGeom>
          <a:solidFill>
            <a:srgbClr val="111B35"/>
          </a:solidFill>
          <a:ln w="15240">
            <a:solidFill>
              <a:srgbClr val="334155"/>
            </a:solidFill>
            <a:prstDash val="solid"/>
          </a:ln>
        </p:spPr>
      </p:sp>
      <p:sp>
        <p:nvSpPr>
          <p:cNvPr id="18" name="Text 15"/>
          <p:cNvSpPr/>
          <p:nvPr/>
        </p:nvSpPr>
        <p:spPr>
          <a:xfrm>
            <a:off x="8183880" y="1691640"/>
            <a:ext cx="2971800" cy="36576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MySQL 8.0</a:t>
            </a:r>
            <a:endParaRPr lang="en-US" sz="1400" dirty="0"/>
          </a:p>
        </p:txBody>
      </p:sp>
      <p:sp>
        <p:nvSpPr>
          <p:cNvPr id="19" name="Text 16"/>
          <p:cNvSpPr/>
          <p:nvPr/>
        </p:nvSpPr>
        <p:spPr>
          <a:xfrm>
            <a:off x="8183880" y="2057400"/>
            <a:ext cx="2971800" cy="228600"/>
          </a:xfrm>
          <a:prstGeom prst="rect">
            <a:avLst/>
          </a:prstGeom>
          <a:noFill/>
          <a:ln/>
        </p:spPr>
        <p:txBody>
          <a:bodyPr wrap="square" rtlCol="0" anchor="ctr"/>
          <a:lstStyle/>
          <a:p>
            <a:pPr indent="0" marL="0">
              <a:buNone/>
            </a:pPr>
            <a:r>
              <a:rPr lang="en-US" sz="850" b="1" dirty="0">
                <a:solidFill>
                  <a:srgbClr val="F59E0B"/>
                </a:solidFill>
                <a:latin typeface="Segoe UI" pitchFamily="34" charset="0"/>
                <a:ea typeface="Segoe UI" pitchFamily="34" charset="-122"/>
                <a:cs typeface="Segoe UI" pitchFamily="34" charset="-120"/>
              </a:rPr>
              <a:t>RELATIONAL DATABASE</a:t>
            </a:r>
            <a:endParaRPr lang="en-US" sz="850" dirty="0"/>
          </a:p>
        </p:txBody>
      </p:sp>
      <p:sp>
        <p:nvSpPr>
          <p:cNvPr id="20" name="Text 17"/>
          <p:cNvSpPr/>
          <p:nvPr/>
        </p:nvSpPr>
        <p:spPr>
          <a:xfrm>
            <a:off x="8183880" y="2377440"/>
            <a:ext cx="2971800" cy="109728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ACID-compliant storage engine managing 23 normalized tables, foreign keys, and indexes.</a:t>
            </a:r>
            <a:endParaRPr lang="en-US" sz="1000" dirty="0"/>
          </a:p>
        </p:txBody>
      </p:sp>
      <p:sp>
        <p:nvSpPr>
          <p:cNvPr id="21" name="Shape 18"/>
          <p:cNvSpPr/>
          <p:nvPr/>
        </p:nvSpPr>
        <p:spPr>
          <a:xfrm>
            <a:off x="731520" y="3840480"/>
            <a:ext cx="3429000" cy="2148840"/>
          </a:xfrm>
          <a:prstGeom prst="roundRect">
            <a:avLst>
              <a:gd name="adj" fmla="val 3404"/>
            </a:avLst>
          </a:prstGeom>
          <a:solidFill>
            <a:srgbClr val="111B35"/>
          </a:solidFill>
          <a:ln w="15240">
            <a:solidFill>
              <a:srgbClr val="334155"/>
            </a:solidFill>
            <a:prstDash val="solid"/>
          </a:ln>
        </p:spPr>
      </p:sp>
      <p:sp>
        <p:nvSpPr>
          <p:cNvPr id="22" name="Text 19"/>
          <p:cNvSpPr/>
          <p:nvPr/>
        </p:nvSpPr>
        <p:spPr>
          <a:xfrm>
            <a:off x="960120" y="4023360"/>
            <a:ext cx="2971800" cy="36576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React 18 &amp; Vite</a:t>
            </a:r>
            <a:endParaRPr lang="en-US" sz="1400" dirty="0"/>
          </a:p>
        </p:txBody>
      </p:sp>
      <p:sp>
        <p:nvSpPr>
          <p:cNvPr id="23" name="Text 20"/>
          <p:cNvSpPr/>
          <p:nvPr/>
        </p:nvSpPr>
        <p:spPr>
          <a:xfrm>
            <a:off x="960120" y="4389120"/>
            <a:ext cx="2971800" cy="228600"/>
          </a:xfrm>
          <a:prstGeom prst="rect">
            <a:avLst/>
          </a:prstGeom>
          <a:noFill/>
          <a:ln/>
        </p:spPr>
        <p:txBody>
          <a:bodyPr wrap="square" rtlCol="0" anchor="ctr"/>
          <a:lstStyle/>
          <a:p>
            <a:pPr indent="0" marL="0">
              <a:buNone/>
            </a:pPr>
            <a:r>
              <a:rPr lang="en-US" sz="850" b="1" dirty="0">
                <a:solidFill>
                  <a:srgbClr val="22D3EE"/>
                </a:solidFill>
                <a:latin typeface="Segoe UI" pitchFamily="34" charset="0"/>
                <a:ea typeface="Segoe UI" pitchFamily="34" charset="-122"/>
                <a:cs typeface="Segoe UI" pitchFamily="34" charset="-120"/>
              </a:rPr>
              <a:t>FRONTEND UI &amp; BUILD TOOL</a:t>
            </a:r>
            <a:endParaRPr lang="en-US" sz="850" dirty="0"/>
          </a:p>
        </p:txBody>
      </p:sp>
      <p:sp>
        <p:nvSpPr>
          <p:cNvPr id="24" name="Text 21"/>
          <p:cNvSpPr/>
          <p:nvPr/>
        </p:nvSpPr>
        <p:spPr>
          <a:xfrm>
            <a:off x="960120" y="4709160"/>
            <a:ext cx="2971800" cy="109728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Component-based Single-Page Application (SPA) with lightning-fast Hot Module Replacement.</a:t>
            </a:r>
            <a:endParaRPr lang="en-US" sz="1000" dirty="0"/>
          </a:p>
        </p:txBody>
      </p:sp>
      <p:sp>
        <p:nvSpPr>
          <p:cNvPr id="25" name="Shape 22"/>
          <p:cNvSpPr/>
          <p:nvPr/>
        </p:nvSpPr>
        <p:spPr>
          <a:xfrm>
            <a:off x="4343400" y="3840480"/>
            <a:ext cx="3429000" cy="2148840"/>
          </a:xfrm>
          <a:prstGeom prst="roundRect">
            <a:avLst>
              <a:gd name="adj" fmla="val 3404"/>
            </a:avLst>
          </a:prstGeom>
          <a:solidFill>
            <a:srgbClr val="111B35"/>
          </a:solidFill>
          <a:ln w="15240">
            <a:solidFill>
              <a:srgbClr val="334155"/>
            </a:solidFill>
            <a:prstDash val="solid"/>
          </a:ln>
        </p:spPr>
      </p:sp>
      <p:sp>
        <p:nvSpPr>
          <p:cNvPr id="26" name="Text 23"/>
          <p:cNvSpPr/>
          <p:nvPr/>
        </p:nvSpPr>
        <p:spPr>
          <a:xfrm>
            <a:off x="4572000" y="4023360"/>
            <a:ext cx="2971800" cy="36576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Tailwind CSS</a:t>
            </a:r>
            <a:endParaRPr lang="en-US" sz="1400" dirty="0"/>
          </a:p>
        </p:txBody>
      </p:sp>
      <p:sp>
        <p:nvSpPr>
          <p:cNvPr id="27" name="Text 24"/>
          <p:cNvSpPr/>
          <p:nvPr/>
        </p:nvSpPr>
        <p:spPr>
          <a:xfrm>
            <a:off x="4572000" y="4389120"/>
            <a:ext cx="2971800" cy="228600"/>
          </a:xfrm>
          <a:prstGeom prst="rect">
            <a:avLst/>
          </a:prstGeom>
          <a:noFill/>
          <a:ln/>
        </p:spPr>
        <p:txBody>
          <a:bodyPr wrap="square" rtlCol="0" anchor="ctr"/>
          <a:lstStyle/>
          <a:p>
            <a:pPr indent="0" marL="0">
              <a:buNone/>
            </a:pPr>
            <a:r>
              <a:rPr lang="en-US" sz="850" b="1" dirty="0">
                <a:solidFill>
                  <a:srgbClr val="22D3EE"/>
                </a:solidFill>
                <a:latin typeface="Segoe UI" pitchFamily="34" charset="0"/>
                <a:ea typeface="Segoe UI" pitchFamily="34" charset="-122"/>
                <a:cs typeface="Segoe UI" pitchFamily="34" charset="-120"/>
              </a:rPr>
              <a:t>STYLING FRAMEWORK</a:t>
            </a:r>
            <a:endParaRPr lang="en-US" sz="850" dirty="0"/>
          </a:p>
        </p:txBody>
      </p:sp>
      <p:sp>
        <p:nvSpPr>
          <p:cNvPr id="28" name="Text 25"/>
          <p:cNvSpPr/>
          <p:nvPr/>
        </p:nvSpPr>
        <p:spPr>
          <a:xfrm>
            <a:off x="4572000" y="4709160"/>
            <a:ext cx="2971800" cy="109728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Utility-first CSS framework providing clean, responsive layouts for dashboard &amp; POS screens.</a:t>
            </a:r>
            <a:endParaRPr lang="en-US" sz="1000" dirty="0"/>
          </a:p>
        </p:txBody>
      </p:sp>
      <p:sp>
        <p:nvSpPr>
          <p:cNvPr id="29" name="Shape 26"/>
          <p:cNvSpPr/>
          <p:nvPr/>
        </p:nvSpPr>
        <p:spPr>
          <a:xfrm>
            <a:off x="7955280" y="3840480"/>
            <a:ext cx="3429000" cy="2148840"/>
          </a:xfrm>
          <a:prstGeom prst="roundRect">
            <a:avLst>
              <a:gd name="adj" fmla="val 3404"/>
            </a:avLst>
          </a:prstGeom>
          <a:solidFill>
            <a:srgbClr val="111B35"/>
          </a:solidFill>
          <a:ln w="15240">
            <a:solidFill>
              <a:srgbClr val="334155"/>
            </a:solidFill>
            <a:prstDash val="solid"/>
          </a:ln>
        </p:spPr>
      </p:sp>
      <p:sp>
        <p:nvSpPr>
          <p:cNvPr id="30" name="Text 27"/>
          <p:cNvSpPr/>
          <p:nvPr/>
        </p:nvSpPr>
        <p:spPr>
          <a:xfrm>
            <a:off x="8183880" y="4023360"/>
            <a:ext cx="2971800" cy="36576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Git &amp; VS Code</a:t>
            </a:r>
            <a:endParaRPr lang="en-US" sz="1400" dirty="0"/>
          </a:p>
        </p:txBody>
      </p:sp>
      <p:sp>
        <p:nvSpPr>
          <p:cNvPr id="31" name="Text 28"/>
          <p:cNvSpPr/>
          <p:nvPr/>
        </p:nvSpPr>
        <p:spPr>
          <a:xfrm>
            <a:off x="8183880" y="4389120"/>
            <a:ext cx="2971800" cy="228600"/>
          </a:xfrm>
          <a:prstGeom prst="rect">
            <a:avLst/>
          </a:prstGeom>
          <a:noFill/>
          <a:ln/>
        </p:spPr>
        <p:txBody>
          <a:bodyPr wrap="square" rtlCol="0" anchor="ctr"/>
          <a:lstStyle/>
          <a:p>
            <a:pPr indent="0" marL="0">
              <a:buNone/>
            </a:pPr>
            <a:r>
              <a:rPr lang="en-US" sz="850" b="1" dirty="0">
                <a:solidFill>
                  <a:srgbClr val="10B981"/>
                </a:solidFill>
                <a:latin typeface="Segoe UI" pitchFamily="34" charset="0"/>
                <a:ea typeface="Segoe UI" pitchFamily="34" charset="-122"/>
                <a:cs typeface="Segoe UI" pitchFamily="34" charset="-120"/>
              </a:rPr>
              <a:t>DEV ENVIRONMENT</a:t>
            </a:r>
            <a:endParaRPr lang="en-US" sz="850" dirty="0"/>
          </a:p>
        </p:txBody>
      </p:sp>
      <p:sp>
        <p:nvSpPr>
          <p:cNvPr id="32" name="Text 29"/>
          <p:cNvSpPr/>
          <p:nvPr/>
        </p:nvSpPr>
        <p:spPr>
          <a:xfrm>
            <a:off x="8183880" y="4709160"/>
            <a:ext cx="2971800" cy="109728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Git version control for source tracking and Visual Studio Code for authoring and debugging.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DATABASE DESIGN</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How Information Is Organized</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sp>
        <p:nvSpPr>
          <p:cNvPr id="9" name="Shape 6"/>
          <p:cNvSpPr/>
          <p:nvPr/>
        </p:nvSpPr>
        <p:spPr>
          <a:xfrm>
            <a:off x="731520" y="1508760"/>
            <a:ext cx="10725912" cy="804672"/>
          </a:xfrm>
          <a:prstGeom prst="roundRect">
            <a:avLst>
              <a:gd name="adj" fmla="val 9091"/>
            </a:avLst>
          </a:prstGeom>
          <a:solidFill>
            <a:srgbClr val="111B35"/>
          </a:solidFill>
          <a:ln w="12700">
            <a:solidFill>
              <a:srgbClr val="334155"/>
            </a:solidFill>
            <a:prstDash val="solid"/>
          </a:ln>
        </p:spPr>
      </p:sp>
      <p:sp>
        <p:nvSpPr>
          <p:cNvPr id="10" name="Text 7"/>
          <p:cNvSpPr/>
          <p:nvPr/>
        </p:nvSpPr>
        <p:spPr>
          <a:xfrm>
            <a:off x="1005840" y="1618488"/>
            <a:ext cx="2926080" cy="274320"/>
          </a:xfrm>
          <a:prstGeom prst="rect">
            <a:avLst/>
          </a:prstGeom>
          <a:noFill/>
          <a:ln/>
        </p:spPr>
        <p:txBody>
          <a:bodyPr wrap="square" rtlCol="0" anchor="ctr"/>
          <a:lstStyle/>
          <a:p>
            <a:pPr indent="0" marL="0">
              <a:buNone/>
            </a:pPr>
            <a:r>
              <a:rPr lang="en-US" sz="1200" b="1" dirty="0">
                <a:solidFill>
                  <a:srgbClr val="22D3EE"/>
                </a:solidFill>
                <a:latin typeface="Segoe UI" pitchFamily="34" charset="0"/>
                <a:ea typeface="Segoe UI" pitchFamily="34" charset="-122"/>
                <a:cs typeface="Segoe UI" pitchFamily="34" charset="-120"/>
              </a:rPr>
              <a:t>User &amp; Role Governance</a:t>
            </a:r>
            <a:endParaRPr lang="en-US" sz="1200" dirty="0"/>
          </a:p>
        </p:txBody>
      </p:sp>
      <p:sp>
        <p:nvSpPr>
          <p:cNvPr id="11" name="Text 8"/>
          <p:cNvSpPr/>
          <p:nvPr/>
        </p:nvSpPr>
        <p:spPr>
          <a:xfrm>
            <a:off x="1005840" y="1920240"/>
            <a:ext cx="10058400" cy="320040"/>
          </a:xfrm>
          <a:prstGeom prst="rect">
            <a:avLst/>
          </a:prstGeom>
          <a:noFill/>
          <a:ln/>
        </p:spPr>
        <p:txBody>
          <a:bodyPr wrap="square" rtlCol="0" anchor="ctr"/>
          <a:lstStyle/>
          <a:p>
            <a:pPr indent="0" marL="0">
              <a:buNone/>
            </a:pPr>
            <a:r>
              <a:rPr lang="en-US" sz="900" b="1" dirty="0">
                <a:solidFill>
                  <a:srgbClr val="F8FAFC"/>
                </a:solidFill>
                <a:latin typeface="Courier New" pitchFamily="34" charset="0"/>
                <a:ea typeface="Courier New" pitchFamily="34" charset="-122"/>
                <a:cs typeface="Courier New" pitchFamily="34" charset="-120"/>
              </a:rPr>
              <a:t>users, roles, permissions, role_permission, personal_access_tokens</a:t>
            </a:r>
            <a:endParaRPr lang="en-US" sz="900" dirty="0"/>
          </a:p>
        </p:txBody>
      </p:sp>
      <p:sp>
        <p:nvSpPr>
          <p:cNvPr id="12" name="Text 9"/>
          <p:cNvSpPr/>
          <p:nvPr/>
        </p:nvSpPr>
        <p:spPr>
          <a:xfrm>
            <a:off x="4114800" y="1618488"/>
            <a:ext cx="7040880" cy="2743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User credentials, admin activation gates, and dynamic RBAC capability assignments.</a:t>
            </a:r>
            <a:endParaRPr lang="en-US" sz="950" dirty="0"/>
          </a:p>
        </p:txBody>
      </p:sp>
      <p:sp>
        <p:nvSpPr>
          <p:cNvPr id="13" name="Shape 10"/>
          <p:cNvSpPr/>
          <p:nvPr/>
        </p:nvSpPr>
        <p:spPr>
          <a:xfrm>
            <a:off x="731520" y="2441448"/>
            <a:ext cx="10725912" cy="804672"/>
          </a:xfrm>
          <a:prstGeom prst="roundRect">
            <a:avLst>
              <a:gd name="adj" fmla="val 9091"/>
            </a:avLst>
          </a:prstGeom>
          <a:solidFill>
            <a:srgbClr val="111B35"/>
          </a:solidFill>
          <a:ln w="12700">
            <a:solidFill>
              <a:srgbClr val="334155"/>
            </a:solidFill>
            <a:prstDash val="solid"/>
          </a:ln>
        </p:spPr>
      </p:sp>
      <p:sp>
        <p:nvSpPr>
          <p:cNvPr id="14" name="Text 11"/>
          <p:cNvSpPr/>
          <p:nvPr/>
        </p:nvSpPr>
        <p:spPr>
          <a:xfrm>
            <a:off x="1005840" y="2551176"/>
            <a:ext cx="2926080" cy="274320"/>
          </a:xfrm>
          <a:prstGeom prst="rect">
            <a:avLst/>
          </a:prstGeom>
          <a:noFill/>
          <a:ln/>
        </p:spPr>
        <p:txBody>
          <a:bodyPr wrap="square" rtlCol="0" anchor="ctr"/>
          <a:lstStyle/>
          <a:p>
            <a:pPr indent="0" marL="0">
              <a:buNone/>
            </a:pPr>
            <a:r>
              <a:rPr lang="en-US" sz="1200" b="1" dirty="0">
                <a:solidFill>
                  <a:srgbClr val="22D3EE"/>
                </a:solidFill>
                <a:latin typeface="Segoe UI" pitchFamily="34" charset="0"/>
                <a:ea typeface="Segoe UI" pitchFamily="34" charset="-122"/>
                <a:cs typeface="Segoe UI" pitchFamily="34" charset="-120"/>
              </a:rPr>
              <a:t>Medicine &amp; Batch Catalog</a:t>
            </a:r>
            <a:endParaRPr lang="en-US" sz="1200" dirty="0"/>
          </a:p>
        </p:txBody>
      </p:sp>
      <p:sp>
        <p:nvSpPr>
          <p:cNvPr id="15" name="Text 12"/>
          <p:cNvSpPr/>
          <p:nvPr/>
        </p:nvSpPr>
        <p:spPr>
          <a:xfrm>
            <a:off x="1005840" y="2852928"/>
            <a:ext cx="10058400" cy="320040"/>
          </a:xfrm>
          <a:prstGeom prst="rect">
            <a:avLst/>
          </a:prstGeom>
          <a:noFill/>
          <a:ln/>
        </p:spPr>
        <p:txBody>
          <a:bodyPr wrap="square" rtlCol="0" anchor="ctr"/>
          <a:lstStyle/>
          <a:p>
            <a:pPr indent="0" marL="0">
              <a:buNone/>
            </a:pPr>
            <a:r>
              <a:rPr lang="en-US" sz="900" b="1" dirty="0">
                <a:solidFill>
                  <a:srgbClr val="F8FAFC"/>
                </a:solidFill>
                <a:latin typeface="Courier New" pitchFamily="34" charset="0"/>
                <a:ea typeface="Courier New" pitchFamily="34" charset="-122"/>
                <a:cs typeface="Courier New" pitchFamily="34" charset="-120"/>
              </a:rPr>
              <a:t>medicines, batches, categories, shelves, retail_products</a:t>
            </a:r>
            <a:endParaRPr lang="en-US" sz="900" dirty="0"/>
          </a:p>
        </p:txBody>
      </p:sp>
      <p:sp>
        <p:nvSpPr>
          <p:cNvPr id="16" name="Text 13"/>
          <p:cNvSpPr/>
          <p:nvPr/>
        </p:nvSpPr>
        <p:spPr>
          <a:xfrm>
            <a:off x="4114800" y="2551176"/>
            <a:ext cx="7040880" cy="2743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Generic/brand names, active batches, expiration dates, unit prices, and physical shelf coordinates.</a:t>
            </a:r>
            <a:endParaRPr lang="en-US" sz="950" dirty="0"/>
          </a:p>
        </p:txBody>
      </p:sp>
      <p:sp>
        <p:nvSpPr>
          <p:cNvPr id="17" name="Shape 14"/>
          <p:cNvSpPr/>
          <p:nvPr/>
        </p:nvSpPr>
        <p:spPr>
          <a:xfrm>
            <a:off x="731520" y="3374136"/>
            <a:ext cx="10725912" cy="804672"/>
          </a:xfrm>
          <a:prstGeom prst="roundRect">
            <a:avLst>
              <a:gd name="adj" fmla="val 9091"/>
            </a:avLst>
          </a:prstGeom>
          <a:solidFill>
            <a:srgbClr val="111B35"/>
          </a:solidFill>
          <a:ln w="12700">
            <a:solidFill>
              <a:srgbClr val="334155"/>
            </a:solidFill>
            <a:prstDash val="solid"/>
          </a:ln>
        </p:spPr>
      </p:sp>
      <p:sp>
        <p:nvSpPr>
          <p:cNvPr id="18" name="Text 15"/>
          <p:cNvSpPr/>
          <p:nvPr/>
        </p:nvSpPr>
        <p:spPr>
          <a:xfrm>
            <a:off x="1005840" y="3483864"/>
            <a:ext cx="2926080" cy="274320"/>
          </a:xfrm>
          <a:prstGeom prst="rect">
            <a:avLst/>
          </a:prstGeom>
          <a:noFill/>
          <a:ln/>
        </p:spPr>
        <p:txBody>
          <a:bodyPr wrap="square" rtlCol="0" anchor="ctr"/>
          <a:lstStyle/>
          <a:p>
            <a:pPr indent="0" marL="0">
              <a:buNone/>
            </a:pPr>
            <a:r>
              <a:rPr lang="en-US" sz="1200" b="1" dirty="0">
                <a:solidFill>
                  <a:srgbClr val="22D3EE"/>
                </a:solidFill>
                <a:latin typeface="Segoe UI" pitchFamily="34" charset="0"/>
                <a:ea typeface="Segoe UI" pitchFamily="34" charset="-122"/>
                <a:cs typeface="Segoe UI" pitchFamily="34" charset="-120"/>
              </a:rPr>
              <a:t>Procurement Lifecycle</a:t>
            </a:r>
            <a:endParaRPr lang="en-US" sz="1200" dirty="0"/>
          </a:p>
        </p:txBody>
      </p:sp>
      <p:sp>
        <p:nvSpPr>
          <p:cNvPr id="19" name="Text 16"/>
          <p:cNvSpPr/>
          <p:nvPr/>
        </p:nvSpPr>
        <p:spPr>
          <a:xfrm>
            <a:off x="1005840" y="3785616"/>
            <a:ext cx="10058400" cy="320040"/>
          </a:xfrm>
          <a:prstGeom prst="rect">
            <a:avLst/>
          </a:prstGeom>
          <a:noFill/>
          <a:ln/>
        </p:spPr>
        <p:txBody>
          <a:bodyPr wrap="square" rtlCol="0" anchor="ctr"/>
          <a:lstStyle/>
          <a:p>
            <a:pPr indent="0" marL="0">
              <a:buNone/>
            </a:pPr>
            <a:r>
              <a:rPr lang="en-US" sz="900" b="1" dirty="0">
                <a:solidFill>
                  <a:srgbClr val="F8FAFC"/>
                </a:solidFill>
                <a:latin typeface="Courier New" pitchFamily="34" charset="0"/>
                <a:ea typeface="Courier New" pitchFamily="34" charset="-122"/>
                <a:cs typeface="Courier New" pitchFamily="34" charset="-120"/>
              </a:rPr>
              <a:t>suppliers, purchase_orders, purchase_order_items</a:t>
            </a:r>
            <a:endParaRPr lang="en-US" sz="900" dirty="0"/>
          </a:p>
        </p:txBody>
      </p:sp>
      <p:sp>
        <p:nvSpPr>
          <p:cNvPr id="20" name="Text 17"/>
          <p:cNvSpPr/>
          <p:nvPr/>
        </p:nvSpPr>
        <p:spPr>
          <a:xfrm>
            <a:off x="4114800" y="3483864"/>
            <a:ext cx="7040880" cy="2743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Wholesale vendor directory, PO 5-state lifecycle headers, and line-item order details.</a:t>
            </a:r>
            <a:endParaRPr lang="en-US" sz="950" dirty="0"/>
          </a:p>
        </p:txBody>
      </p:sp>
      <p:sp>
        <p:nvSpPr>
          <p:cNvPr id="21" name="Shape 18"/>
          <p:cNvSpPr/>
          <p:nvPr/>
        </p:nvSpPr>
        <p:spPr>
          <a:xfrm>
            <a:off x="731520" y="4306824"/>
            <a:ext cx="10725912" cy="804672"/>
          </a:xfrm>
          <a:prstGeom prst="roundRect">
            <a:avLst>
              <a:gd name="adj" fmla="val 9091"/>
            </a:avLst>
          </a:prstGeom>
          <a:solidFill>
            <a:srgbClr val="111B35"/>
          </a:solidFill>
          <a:ln w="12700">
            <a:solidFill>
              <a:srgbClr val="334155"/>
            </a:solidFill>
            <a:prstDash val="solid"/>
          </a:ln>
        </p:spPr>
      </p:sp>
      <p:sp>
        <p:nvSpPr>
          <p:cNvPr id="22" name="Text 19"/>
          <p:cNvSpPr/>
          <p:nvPr/>
        </p:nvSpPr>
        <p:spPr>
          <a:xfrm>
            <a:off x="1005840" y="4416552"/>
            <a:ext cx="2926080" cy="274320"/>
          </a:xfrm>
          <a:prstGeom prst="rect">
            <a:avLst/>
          </a:prstGeom>
          <a:noFill/>
          <a:ln/>
        </p:spPr>
        <p:txBody>
          <a:bodyPr wrap="square" rtlCol="0" anchor="ctr"/>
          <a:lstStyle/>
          <a:p>
            <a:pPr indent="0" marL="0">
              <a:buNone/>
            </a:pPr>
            <a:r>
              <a:rPr lang="en-US" sz="1200" b="1" dirty="0">
                <a:solidFill>
                  <a:srgbClr val="22D3EE"/>
                </a:solidFill>
                <a:latin typeface="Segoe UI" pitchFamily="34" charset="0"/>
                <a:ea typeface="Segoe UI" pitchFamily="34" charset="-122"/>
                <a:cs typeface="Segoe UI" pitchFamily="34" charset="-120"/>
              </a:rPr>
              <a:t>Sales &amp; Clinical Dispensing</a:t>
            </a:r>
            <a:endParaRPr lang="en-US" sz="1200" dirty="0"/>
          </a:p>
        </p:txBody>
      </p:sp>
      <p:sp>
        <p:nvSpPr>
          <p:cNvPr id="23" name="Text 20"/>
          <p:cNvSpPr/>
          <p:nvPr/>
        </p:nvSpPr>
        <p:spPr>
          <a:xfrm>
            <a:off x="1005840" y="4718304"/>
            <a:ext cx="10058400" cy="320040"/>
          </a:xfrm>
          <a:prstGeom prst="rect">
            <a:avLst/>
          </a:prstGeom>
          <a:noFill/>
          <a:ln/>
        </p:spPr>
        <p:txBody>
          <a:bodyPr wrap="square" rtlCol="0" anchor="ctr"/>
          <a:lstStyle/>
          <a:p>
            <a:pPr indent="0" marL="0">
              <a:buNone/>
            </a:pPr>
            <a:r>
              <a:rPr lang="en-US" sz="900" b="1" dirty="0">
                <a:solidFill>
                  <a:srgbClr val="F8FAFC"/>
                </a:solidFill>
                <a:latin typeface="Courier New" pitchFamily="34" charset="0"/>
                <a:ea typeface="Courier New" pitchFamily="34" charset="-122"/>
                <a:cs typeface="Courier New" pitchFamily="34" charset="-120"/>
              </a:rPr>
              <a:t>sales, sale_items, stock_movements</a:t>
            </a:r>
            <a:endParaRPr lang="en-US" sz="900" dirty="0"/>
          </a:p>
        </p:txBody>
      </p:sp>
      <p:sp>
        <p:nvSpPr>
          <p:cNvPr id="24" name="Text 21"/>
          <p:cNvSpPr/>
          <p:nvPr/>
        </p:nvSpPr>
        <p:spPr>
          <a:xfrm>
            <a:off x="4114800" y="4416552"/>
            <a:ext cx="7040880" cy="2743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Prescription and retail POS sales, line items, and the immutable inventory movement ledger.</a:t>
            </a:r>
            <a:endParaRPr lang="en-US" sz="950" dirty="0"/>
          </a:p>
        </p:txBody>
      </p:sp>
      <p:sp>
        <p:nvSpPr>
          <p:cNvPr id="25" name="Shape 22"/>
          <p:cNvSpPr/>
          <p:nvPr/>
        </p:nvSpPr>
        <p:spPr>
          <a:xfrm>
            <a:off x="731520" y="5239512"/>
            <a:ext cx="10725912" cy="804672"/>
          </a:xfrm>
          <a:prstGeom prst="roundRect">
            <a:avLst>
              <a:gd name="adj" fmla="val 9091"/>
            </a:avLst>
          </a:prstGeom>
          <a:solidFill>
            <a:srgbClr val="111B35"/>
          </a:solidFill>
          <a:ln w="12700">
            <a:solidFill>
              <a:srgbClr val="334155"/>
            </a:solidFill>
            <a:prstDash val="solid"/>
          </a:ln>
        </p:spPr>
      </p:sp>
      <p:sp>
        <p:nvSpPr>
          <p:cNvPr id="26" name="Text 23"/>
          <p:cNvSpPr/>
          <p:nvPr/>
        </p:nvSpPr>
        <p:spPr>
          <a:xfrm>
            <a:off x="1005840" y="5349240"/>
            <a:ext cx="2926080" cy="274320"/>
          </a:xfrm>
          <a:prstGeom prst="rect">
            <a:avLst/>
          </a:prstGeom>
          <a:noFill/>
          <a:ln/>
        </p:spPr>
        <p:txBody>
          <a:bodyPr wrap="square" rtlCol="0" anchor="ctr"/>
          <a:lstStyle/>
          <a:p>
            <a:pPr indent="0" marL="0">
              <a:buNone/>
            </a:pPr>
            <a:r>
              <a:rPr lang="en-US" sz="1200" b="1" dirty="0">
                <a:solidFill>
                  <a:srgbClr val="22D3EE"/>
                </a:solidFill>
                <a:latin typeface="Segoe UI" pitchFamily="34" charset="0"/>
                <a:ea typeface="Segoe UI" pitchFamily="34" charset="-122"/>
                <a:cs typeface="Segoe UI" pitchFamily="34" charset="-120"/>
              </a:rPr>
              <a:t>Multi-Branch &amp; Transfers</a:t>
            </a:r>
            <a:endParaRPr lang="en-US" sz="1200" dirty="0"/>
          </a:p>
        </p:txBody>
      </p:sp>
      <p:sp>
        <p:nvSpPr>
          <p:cNvPr id="27" name="Text 24"/>
          <p:cNvSpPr/>
          <p:nvPr/>
        </p:nvSpPr>
        <p:spPr>
          <a:xfrm>
            <a:off x="1005840" y="5650992"/>
            <a:ext cx="10058400" cy="320040"/>
          </a:xfrm>
          <a:prstGeom prst="rect">
            <a:avLst/>
          </a:prstGeom>
          <a:noFill/>
          <a:ln/>
        </p:spPr>
        <p:txBody>
          <a:bodyPr wrap="square" rtlCol="0" anchor="ctr"/>
          <a:lstStyle/>
          <a:p>
            <a:pPr indent="0" marL="0">
              <a:buNone/>
            </a:pPr>
            <a:r>
              <a:rPr lang="en-US" sz="900" b="1" dirty="0">
                <a:solidFill>
                  <a:srgbClr val="F8FAFC"/>
                </a:solidFill>
                <a:latin typeface="Courier New" pitchFamily="34" charset="0"/>
                <a:ea typeface="Courier New" pitchFamily="34" charset="-122"/>
                <a:cs typeface="Courier New" pitchFamily="34" charset="-120"/>
              </a:rPr>
              <a:t>branches, stock_transfers, audit_logs</a:t>
            </a:r>
            <a:endParaRPr lang="en-US" sz="900" dirty="0"/>
          </a:p>
        </p:txBody>
      </p:sp>
      <p:sp>
        <p:nvSpPr>
          <p:cNvPr id="28" name="Text 25"/>
          <p:cNvSpPr/>
          <p:nvPr/>
        </p:nvSpPr>
        <p:spPr>
          <a:xfrm>
            <a:off x="4114800" y="5349240"/>
            <a:ext cx="7040880" cy="2743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Branch locations, verified inter-branch stock movements, and administrative audit trails.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RELATIONAL MODEL</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Connecting the Data</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sp>
        <p:nvSpPr>
          <p:cNvPr id="9" name="Shape 6"/>
          <p:cNvSpPr/>
          <p:nvPr/>
        </p:nvSpPr>
        <p:spPr>
          <a:xfrm>
            <a:off x="731520" y="1508760"/>
            <a:ext cx="10725912" cy="804672"/>
          </a:xfrm>
          <a:prstGeom prst="roundRect">
            <a:avLst>
              <a:gd name="adj" fmla="val 9091"/>
            </a:avLst>
          </a:prstGeom>
          <a:solidFill>
            <a:srgbClr val="111B35"/>
          </a:solidFill>
          <a:ln w="12700">
            <a:solidFill>
              <a:srgbClr val="334155"/>
            </a:solidFill>
            <a:prstDash val="solid"/>
          </a:ln>
        </p:spPr>
      </p:sp>
      <p:sp>
        <p:nvSpPr>
          <p:cNvPr id="10" name="Shape 7"/>
          <p:cNvSpPr/>
          <p:nvPr/>
        </p:nvSpPr>
        <p:spPr>
          <a:xfrm>
            <a:off x="960120" y="1655064"/>
            <a:ext cx="2560320" cy="502920"/>
          </a:xfrm>
          <a:prstGeom prst="roundRect">
            <a:avLst>
              <a:gd name="adj" fmla="val 10909"/>
            </a:avLst>
          </a:prstGeom>
          <a:solidFill>
            <a:srgbClr val="0B1020"/>
          </a:solidFill>
          <a:ln w="12700">
            <a:solidFill>
              <a:srgbClr val="3B82F6"/>
            </a:solidFill>
            <a:prstDash val="solid"/>
          </a:ln>
        </p:spPr>
      </p:sp>
      <p:sp>
        <p:nvSpPr>
          <p:cNvPr id="11" name="Text 8"/>
          <p:cNvSpPr/>
          <p:nvPr/>
        </p:nvSpPr>
        <p:spPr>
          <a:xfrm>
            <a:off x="960120" y="1655064"/>
            <a:ext cx="2560320" cy="502920"/>
          </a:xfrm>
          <a:prstGeom prst="rect">
            <a:avLst/>
          </a:prstGeom>
          <a:noFill/>
          <a:ln/>
        </p:spPr>
        <p:txBody>
          <a:bodyPr wrap="square" rtlCol="0" anchor="ctr"/>
          <a:lstStyle/>
          <a:p>
            <a:pPr algn="ctr" indent="0" marL="0">
              <a:buNone/>
            </a:pPr>
            <a:r>
              <a:rPr lang="en-US" sz="950" b="1" dirty="0">
                <a:solidFill>
                  <a:srgbClr val="F8FAFC"/>
                </a:solidFill>
                <a:latin typeface="Segoe UI" pitchFamily="34" charset="0"/>
                <a:ea typeface="Segoe UI" pitchFamily="34" charset="-122"/>
                <a:cs typeface="Segoe UI" pitchFamily="34" charset="-120"/>
              </a:rPr>
              <a:t>Category (1)  ➔  Medicines (N)</a:t>
            </a:r>
            <a:endParaRPr lang="en-US" sz="950" dirty="0"/>
          </a:p>
        </p:txBody>
      </p:sp>
      <p:sp>
        <p:nvSpPr>
          <p:cNvPr id="12" name="Text 9"/>
          <p:cNvSpPr/>
          <p:nvPr/>
        </p:nvSpPr>
        <p:spPr>
          <a:xfrm>
            <a:off x="3749040" y="1645920"/>
            <a:ext cx="3200400" cy="274320"/>
          </a:xfrm>
          <a:prstGeom prst="rect">
            <a:avLst/>
          </a:prstGeom>
          <a:noFill/>
          <a:ln/>
        </p:spPr>
        <p:txBody>
          <a:bodyPr wrap="square" rtlCol="0" anchor="ctr"/>
          <a:lstStyle/>
          <a:p>
            <a:pPr indent="0" marL="0">
              <a:buNone/>
            </a:pPr>
            <a:r>
              <a:rPr lang="en-US" sz="1000" b="1" dirty="0">
                <a:solidFill>
                  <a:srgbClr val="22D3EE"/>
                </a:solidFill>
                <a:latin typeface="Courier New" pitchFamily="34" charset="0"/>
                <a:ea typeface="Courier New" pitchFamily="34" charset="-122"/>
                <a:cs typeface="Courier New" pitchFamily="34" charset="-120"/>
              </a:rPr>
              <a:t>Foreign Key: category_id</a:t>
            </a:r>
            <a:endParaRPr lang="en-US" sz="1000" dirty="0"/>
          </a:p>
        </p:txBody>
      </p:sp>
      <p:sp>
        <p:nvSpPr>
          <p:cNvPr id="13" name="Text 10"/>
          <p:cNvSpPr/>
          <p:nvPr/>
        </p:nvSpPr>
        <p:spPr>
          <a:xfrm>
            <a:off x="3749040" y="1920240"/>
            <a:ext cx="7406640" cy="32004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Each therapeutic category organizes multiple medicines, preventing inconsistent naming.</a:t>
            </a:r>
            <a:endParaRPr lang="en-US" sz="950" dirty="0"/>
          </a:p>
        </p:txBody>
      </p:sp>
      <p:sp>
        <p:nvSpPr>
          <p:cNvPr id="14" name="Shape 11"/>
          <p:cNvSpPr/>
          <p:nvPr/>
        </p:nvSpPr>
        <p:spPr>
          <a:xfrm>
            <a:off x="731520" y="2441448"/>
            <a:ext cx="10725912" cy="804672"/>
          </a:xfrm>
          <a:prstGeom prst="roundRect">
            <a:avLst>
              <a:gd name="adj" fmla="val 9091"/>
            </a:avLst>
          </a:prstGeom>
          <a:solidFill>
            <a:srgbClr val="111B35"/>
          </a:solidFill>
          <a:ln w="12700">
            <a:solidFill>
              <a:srgbClr val="334155"/>
            </a:solidFill>
            <a:prstDash val="solid"/>
          </a:ln>
        </p:spPr>
      </p:sp>
      <p:sp>
        <p:nvSpPr>
          <p:cNvPr id="15" name="Shape 12"/>
          <p:cNvSpPr/>
          <p:nvPr/>
        </p:nvSpPr>
        <p:spPr>
          <a:xfrm>
            <a:off x="960120" y="2587752"/>
            <a:ext cx="2560320" cy="502920"/>
          </a:xfrm>
          <a:prstGeom prst="roundRect">
            <a:avLst>
              <a:gd name="adj" fmla="val 10909"/>
            </a:avLst>
          </a:prstGeom>
          <a:solidFill>
            <a:srgbClr val="0B1020"/>
          </a:solidFill>
          <a:ln w="12700">
            <a:solidFill>
              <a:srgbClr val="3B82F6"/>
            </a:solidFill>
            <a:prstDash val="solid"/>
          </a:ln>
        </p:spPr>
      </p:sp>
      <p:sp>
        <p:nvSpPr>
          <p:cNvPr id="16" name="Text 13"/>
          <p:cNvSpPr/>
          <p:nvPr/>
        </p:nvSpPr>
        <p:spPr>
          <a:xfrm>
            <a:off x="960120" y="2587752"/>
            <a:ext cx="2560320" cy="502920"/>
          </a:xfrm>
          <a:prstGeom prst="rect">
            <a:avLst/>
          </a:prstGeom>
          <a:noFill/>
          <a:ln/>
        </p:spPr>
        <p:txBody>
          <a:bodyPr wrap="square" rtlCol="0" anchor="ctr"/>
          <a:lstStyle/>
          <a:p>
            <a:pPr algn="ctr" indent="0" marL="0">
              <a:buNone/>
            </a:pPr>
            <a:r>
              <a:rPr lang="en-US" sz="950" b="1" dirty="0">
                <a:solidFill>
                  <a:srgbClr val="F8FAFC"/>
                </a:solidFill>
                <a:latin typeface="Segoe UI" pitchFamily="34" charset="0"/>
                <a:ea typeface="Segoe UI" pitchFamily="34" charset="-122"/>
                <a:cs typeface="Segoe UI" pitchFamily="34" charset="-120"/>
              </a:rPr>
              <a:t>Medicine (1)  ➔  Batches (N)</a:t>
            </a:r>
            <a:endParaRPr lang="en-US" sz="950" dirty="0"/>
          </a:p>
        </p:txBody>
      </p:sp>
      <p:sp>
        <p:nvSpPr>
          <p:cNvPr id="17" name="Text 14"/>
          <p:cNvSpPr/>
          <p:nvPr/>
        </p:nvSpPr>
        <p:spPr>
          <a:xfrm>
            <a:off x="3749040" y="2578608"/>
            <a:ext cx="3200400" cy="274320"/>
          </a:xfrm>
          <a:prstGeom prst="rect">
            <a:avLst/>
          </a:prstGeom>
          <a:noFill/>
          <a:ln/>
        </p:spPr>
        <p:txBody>
          <a:bodyPr wrap="square" rtlCol="0" anchor="ctr"/>
          <a:lstStyle/>
          <a:p>
            <a:pPr indent="0" marL="0">
              <a:buNone/>
            </a:pPr>
            <a:r>
              <a:rPr lang="en-US" sz="1000" b="1" dirty="0">
                <a:solidFill>
                  <a:srgbClr val="22D3EE"/>
                </a:solidFill>
                <a:latin typeface="Courier New" pitchFamily="34" charset="0"/>
                <a:ea typeface="Courier New" pitchFamily="34" charset="-122"/>
                <a:cs typeface="Courier New" pitchFamily="34" charset="-120"/>
              </a:rPr>
              <a:t>Foreign Key: medicine_id</a:t>
            </a:r>
            <a:endParaRPr lang="en-US" sz="1000" dirty="0"/>
          </a:p>
        </p:txBody>
      </p:sp>
      <p:sp>
        <p:nvSpPr>
          <p:cNvPr id="18" name="Text 15"/>
          <p:cNvSpPr/>
          <p:nvPr/>
        </p:nvSpPr>
        <p:spPr>
          <a:xfrm>
            <a:off x="3749040" y="2852928"/>
            <a:ext cx="7406640" cy="32004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A medicine record contains multiple inventory batches, each with its own expiration date and cost.</a:t>
            </a:r>
            <a:endParaRPr lang="en-US" sz="950" dirty="0"/>
          </a:p>
        </p:txBody>
      </p:sp>
      <p:sp>
        <p:nvSpPr>
          <p:cNvPr id="19" name="Shape 16"/>
          <p:cNvSpPr/>
          <p:nvPr/>
        </p:nvSpPr>
        <p:spPr>
          <a:xfrm>
            <a:off x="731520" y="3374136"/>
            <a:ext cx="10725912" cy="804672"/>
          </a:xfrm>
          <a:prstGeom prst="roundRect">
            <a:avLst>
              <a:gd name="adj" fmla="val 9091"/>
            </a:avLst>
          </a:prstGeom>
          <a:solidFill>
            <a:srgbClr val="111B35"/>
          </a:solidFill>
          <a:ln w="12700">
            <a:solidFill>
              <a:srgbClr val="334155"/>
            </a:solidFill>
            <a:prstDash val="solid"/>
          </a:ln>
        </p:spPr>
      </p:sp>
      <p:sp>
        <p:nvSpPr>
          <p:cNvPr id="20" name="Shape 17"/>
          <p:cNvSpPr/>
          <p:nvPr/>
        </p:nvSpPr>
        <p:spPr>
          <a:xfrm>
            <a:off x="960120" y="3520440"/>
            <a:ext cx="2560320" cy="502920"/>
          </a:xfrm>
          <a:prstGeom prst="roundRect">
            <a:avLst>
              <a:gd name="adj" fmla="val 10909"/>
            </a:avLst>
          </a:prstGeom>
          <a:solidFill>
            <a:srgbClr val="0B1020"/>
          </a:solidFill>
          <a:ln w="12700">
            <a:solidFill>
              <a:srgbClr val="3B82F6"/>
            </a:solidFill>
            <a:prstDash val="solid"/>
          </a:ln>
        </p:spPr>
      </p:sp>
      <p:sp>
        <p:nvSpPr>
          <p:cNvPr id="21" name="Text 18"/>
          <p:cNvSpPr/>
          <p:nvPr/>
        </p:nvSpPr>
        <p:spPr>
          <a:xfrm>
            <a:off x="960120" y="3520440"/>
            <a:ext cx="2560320" cy="502920"/>
          </a:xfrm>
          <a:prstGeom prst="rect">
            <a:avLst/>
          </a:prstGeom>
          <a:noFill/>
          <a:ln/>
        </p:spPr>
        <p:txBody>
          <a:bodyPr wrap="square" rtlCol="0" anchor="ctr"/>
          <a:lstStyle/>
          <a:p>
            <a:pPr algn="ctr" indent="0" marL="0">
              <a:buNone/>
            </a:pPr>
            <a:r>
              <a:rPr lang="en-US" sz="950" b="1" dirty="0">
                <a:solidFill>
                  <a:srgbClr val="F8FAFC"/>
                </a:solidFill>
                <a:latin typeface="Segoe UI" pitchFamily="34" charset="0"/>
                <a:ea typeface="Segoe UI" pitchFamily="34" charset="-122"/>
                <a:cs typeface="Segoe UI" pitchFamily="34" charset="-120"/>
              </a:rPr>
              <a:t>PurchaseOrder (1)  ➔  PurchaseOrderItems (N)</a:t>
            </a:r>
            <a:endParaRPr lang="en-US" sz="950" dirty="0"/>
          </a:p>
        </p:txBody>
      </p:sp>
      <p:sp>
        <p:nvSpPr>
          <p:cNvPr id="22" name="Text 19"/>
          <p:cNvSpPr/>
          <p:nvPr/>
        </p:nvSpPr>
        <p:spPr>
          <a:xfrm>
            <a:off x="3749040" y="3511296"/>
            <a:ext cx="3200400" cy="274320"/>
          </a:xfrm>
          <a:prstGeom prst="rect">
            <a:avLst/>
          </a:prstGeom>
          <a:noFill/>
          <a:ln/>
        </p:spPr>
        <p:txBody>
          <a:bodyPr wrap="square" rtlCol="0" anchor="ctr"/>
          <a:lstStyle/>
          <a:p>
            <a:pPr indent="0" marL="0">
              <a:buNone/>
            </a:pPr>
            <a:r>
              <a:rPr lang="en-US" sz="1000" b="1" dirty="0">
                <a:solidFill>
                  <a:srgbClr val="22D3EE"/>
                </a:solidFill>
                <a:latin typeface="Courier New" pitchFamily="34" charset="0"/>
                <a:ea typeface="Courier New" pitchFamily="34" charset="-122"/>
                <a:cs typeface="Courier New" pitchFamily="34" charset="-120"/>
              </a:rPr>
              <a:t>Foreign Key: purchase_order_id</a:t>
            </a:r>
            <a:endParaRPr lang="en-US" sz="1000" dirty="0"/>
          </a:p>
        </p:txBody>
      </p:sp>
      <p:sp>
        <p:nvSpPr>
          <p:cNvPr id="23" name="Text 20"/>
          <p:cNvSpPr/>
          <p:nvPr/>
        </p:nvSpPr>
        <p:spPr>
          <a:xfrm>
            <a:off x="3749040" y="3785616"/>
            <a:ext cx="7406640" cy="32004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An order header aggregates multiple ordered items, calculating subtotal and taxes atomically.</a:t>
            </a:r>
            <a:endParaRPr lang="en-US" sz="950" dirty="0"/>
          </a:p>
        </p:txBody>
      </p:sp>
      <p:sp>
        <p:nvSpPr>
          <p:cNvPr id="24" name="Shape 21"/>
          <p:cNvSpPr/>
          <p:nvPr/>
        </p:nvSpPr>
        <p:spPr>
          <a:xfrm>
            <a:off x="731520" y="4306824"/>
            <a:ext cx="10725912" cy="804672"/>
          </a:xfrm>
          <a:prstGeom prst="roundRect">
            <a:avLst>
              <a:gd name="adj" fmla="val 9091"/>
            </a:avLst>
          </a:prstGeom>
          <a:solidFill>
            <a:srgbClr val="111B35"/>
          </a:solidFill>
          <a:ln w="12700">
            <a:solidFill>
              <a:srgbClr val="334155"/>
            </a:solidFill>
            <a:prstDash val="solid"/>
          </a:ln>
        </p:spPr>
      </p:sp>
      <p:sp>
        <p:nvSpPr>
          <p:cNvPr id="25" name="Shape 22"/>
          <p:cNvSpPr/>
          <p:nvPr/>
        </p:nvSpPr>
        <p:spPr>
          <a:xfrm>
            <a:off x="960120" y="4453128"/>
            <a:ext cx="2560320" cy="502920"/>
          </a:xfrm>
          <a:prstGeom prst="roundRect">
            <a:avLst>
              <a:gd name="adj" fmla="val 10909"/>
            </a:avLst>
          </a:prstGeom>
          <a:solidFill>
            <a:srgbClr val="0B1020"/>
          </a:solidFill>
          <a:ln w="12700">
            <a:solidFill>
              <a:srgbClr val="3B82F6"/>
            </a:solidFill>
            <a:prstDash val="solid"/>
          </a:ln>
        </p:spPr>
      </p:sp>
      <p:sp>
        <p:nvSpPr>
          <p:cNvPr id="26" name="Text 23"/>
          <p:cNvSpPr/>
          <p:nvPr/>
        </p:nvSpPr>
        <p:spPr>
          <a:xfrm>
            <a:off x="960120" y="4453128"/>
            <a:ext cx="2560320" cy="502920"/>
          </a:xfrm>
          <a:prstGeom prst="rect">
            <a:avLst/>
          </a:prstGeom>
          <a:noFill/>
          <a:ln/>
        </p:spPr>
        <p:txBody>
          <a:bodyPr wrap="square" rtlCol="0" anchor="ctr"/>
          <a:lstStyle/>
          <a:p>
            <a:pPr algn="ctr" indent="0" marL="0">
              <a:buNone/>
            </a:pPr>
            <a:r>
              <a:rPr lang="en-US" sz="950" b="1" dirty="0">
                <a:solidFill>
                  <a:srgbClr val="F8FAFC"/>
                </a:solidFill>
                <a:latin typeface="Segoe UI" pitchFamily="34" charset="0"/>
                <a:ea typeface="Segoe UI" pitchFamily="34" charset="-122"/>
                <a:cs typeface="Segoe UI" pitchFamily="34" charset="-120"/>
              </a:rPr>
              <a:t>Sale (1)  ➔  SaleItems (N)</a:t>
            </a:r>
            <a:endParaRPr lang="en-US" sz="950" dirty="0"/>
          </a:p>
        </p:txBody>
      </p:sp>
      <p:sp>
        <p:nvSpPr>
          <p:cNvPr id="27" name="Text 24"/>
          <p:cNvSpPr/>
          <p:nvPr/>
        </p:nvSpPr>
        <p:spPr>
          <a:xfrm>
            <a:off x="3749040" y="4443984"/>
            <a:ext cx="3200400" cy="274320"/>
          </a:xfrm>
          <a:prstGeom prst="rect">
            <a:avLst/>
          </a:prstGeom>
          <a:noFill/>
          <a:ln/>
        </p:spPr>
        <p:txBody>
          <a:bodyPr wrap="square" rtlCol="0" anchor="ctr"/>
          <a:lstStyle/>
          <a:p>
            <a:pPr indent="0" marL="0">
              <a:buNone/>
            </a:pPr>
            <a:r>
              <a:rPr lang="en-US" sz="1000" b="1" dirty="0">
                <a:solidFill>
                  <a:srgbClr val="22D3EE"/>
                </a:solidFill>
                <a:latin typeface="Courier New" pitchFamily="34" charset="0"/>
                <a:ea typeface="Courier New" pitchFamily="34" charset="-122"/>
                <a:cs typeface="Courier New" pitchFamily="34" charset="-120"/>
              </a:rPr>
              <a:t>Foreign Key: sale_id</a:t>
            </a:r>
            <a:endParaRPr lang="en-US" sz="1000" dirty="0"/>
          </a:p>
        </p:txBody>
      </p:sp>
      <p:sp>
        <p:nvSpPr>
          <p:cNvPr id="28" name="Text 25"/>
          <p:cNvSpPr/>
          <p:nvPr/>
        </p:nvSpPr>
        <p:spPr>
          <a:xfrm>
            <a:off x="3749040" y="4718304"/>
            <a:ext cx="7406640" cy="32004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A customer transaction header links to item lines specifying batch ID and deducted quantity.</a:t>
            </a:r>
            <a:endParaRPr lang="en-US" sz="950" dirty="0"/>
          </a:p>
        </p:txBody>
      </p:sp>
      <p:sp>
        <p:nvSpPr>
          <p:cNvPr id="29" name="Shape 26"/>
          <p:cNvSpPr/>
          <p:nvPr/>
        </p:nvSpPr>
        <p:spPr>
          <a:xfrm>
            <a:off x="731520" y="5239512"/>
            <a:ext cx="10725912" cy="804672"/>
          </a:xfrm>
          <a:prstGeom prst="roundRect">
            <a:avLst>
              <a:gd name="adj" fmla="val 9091"/>
            </a:avLst>
          </a:prstGeom>
          <a:solidFill>
            <a:srgbClr val="111B35"/>
          </a:solidFill>
          <a:ln w="12700">
            <a:solidFill>
              <a:srgbClr val="334155"/>
            </a:solidFill>
            <a:prstDash val="solid"/>
          </a:ln>
        </p:spPr>
      </p:sp>
      <p:sp>
        <p:nvSpPr>
          <p:cNvPr id="30" name="Shape 27"/>
          <p:cNvSpPr/>
          <p:nvPr/>
        </p:nvSpPr>
        <p:spPr>
          <a:xfrm>
            <a:off x="960120" y="5385816"/>
            <a:ext cx="2560320" cy="502920"/>
          </a:xfrm>
          <a:prstGeom prst="roundRect">
            <a:avLst>
              <a:gd name="adj" fmla="val 10909"/>
            </a:avLst>
          </a:prstGeom>
          <a:solidFill>
            <a:srgbClr val="0B1020"/>
          </a:solidFill>
          <a:ln w="12700">
            <a:solidFill>
              <a:srgbClr val="3B82F6"/>
            </a:solidFill>
            <a:prstDash val="solid"/>
          </a:ln>
        </p:spPr>
      </p:sp>
      <p:sp>
        <p:nvSpPr>
          <p:cNvPr id="31" name="Text 28"/>
          <p:cNvSpPr/>
          <p:nvPr/>
        </p:nvSpPr>
        <p:spPr>
          <a:xfrm>
            <a:off x="960120" y="5385816"/>
            <a:ext cx="2560320" cy="502920"/>
          </a:xfrm>
          <a:prstGeom prst="rect">
            <a:avLst/>
          </a:prstGeom>
          <a:noFill/>
          <a:ln/>
        </p:spPr>
        <p:txBody>
          <a:bodyPr wrap="square" rtlCol="0" anchor="ctr"/>
          <a:lstStyle/>
          <a:p>
            <a:pPr algn="ctr" indent="0" marL="0">
              <a:buNone/>
            </a:pPr>
            <a:r>
              <a:rPr lang="en-US" sz="950" b="1" dirty="0">
                <a:solidFill>
                  <a:srgbClr val="F8FAFC"/>
                </a:solidFill>
                <a:latin typeface="Segoe UI" pitchFamily="34" charset="0"/>
                <a:ea typeface="Segoe UI" pitchFamily="34" charset="-122"/>
                <a:cs typeface="Segoe UI" pitchFamily="34" charset="-120"/>
              </a:rPr>
              <a:t>Branch (1)  ➔  StockTransfers (N)</a:t>
            </a:r>
            <a:endParaRPr lang="en-US" sz="950" dirty="0"/>
          </a:p>
        </p:txBody>
      </p:sp>
      <p:sp>
        <p:nvSpPr>
          <p:cNvPr id="32" name="Text 29"/>
          <p:cNvSpPr/>
          <p:nvPr/>
        </p:nvSpPr>
        <p:spPr>
          <a:xfrm>
            <a:off x="3749040" y="5376672"/>
            <a:ext cx="3200400" cy="274320"/>
          </a:xfrm>
          <a:prstGeom prst="rect">
            <a:avLst/>
          </a:prstGeom>
          <a:noFill/>
          <a:ln/>
        </p:spPr>
        <p:txBody>
          <a:bodyPr wrap="square" rtlCol="0" anchor="ctr"/>
          <a:lstStyle/>
          <a:p>
            <a:pPr indent="0" marL="0">
              <a:buNone/>
            </a:pPr>
            <a:r>
              <a:rPr lang="en-US" sz="1000" b="1" dirty="0">
                <a:solidFill>
                  <a:srgbClr val="22D3EE"/>
                </a:solidFill>
                <a:latin typeface="Courier New" pitchFamily="34" charset="0"/>
                <a:ea typeface="Courier New" pitchFamily="34" charset="-122"/>
                <a:cs typeface="Courier New" pitchFamily="34" charset="-120"/>
              </a:rPr>
              <a:t>Foreign Key: from_branch_id / to_branch_id</a:t>
            </a:r>
            <a:endParaRPr lang="en-US" sz="1000" dirty="0"/>
          </a:p>
        </p:txBody>
      </p:sp>
      <p:sp>
        <p:nvSpPr>
          <p:cNvPr id="33" name="Text 30"/>
          <p:cNvSpPr/>
          <p:nvPr/>
        </p:nvSpPr>
        <p:spPr>
          <a:xfrm>
            <a:off x="3749040" y="5650992"/>
            <a:ext cx="7406640" cy="32004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Branch entities govern inter-branch inventory movements with source and destination verification.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APPLICATION STRUCTURE</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Inside the Laravel Project</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sp>
        <p:nvSpPr>
          <p:cNvPr id="9" name="Shape 6"/>
          <p:cNvSpPr/>
          <p:nvPr/>
        </p:nvSpPr>
        <p:spPr>
          <a:xfrm>
            <a:off x="731520" y="1508760"/>
            <a:ext cx="5239512" cy="1444752"/>
          </a:xfrm>
          <a:prstGeom prst="roundRect">
            <a:avLst>
              <a:gd name="adj" fmla="val 5063"/>
            </a:avLst>
          </a:prstGeom>
          <a:solidFill>
            <a:srgbClr val="111B35"/>
          </a:solidFill>
          <a:ln w="15240">
            <a:solidFill>
              <a:srgbClr val="334155"/>
            </a:solidFill>
            <a:prstDash val="solid"/>
          </a:ln>
        </p:spPr>
      </p:sp>
      <p:sp>
        <p:nvSpPr>
          <p:cNvPr id="10" name="Text 7"/>
          <p:cNvSpPr/>
          <p:nvPr/>
        </p:nvSpPr>
        <p:spPr>
          <a:xfrm>
            <a:off x="960120" y="1673352"/>
            <a:ext cx="3200400" cy="274320"/>
          </a:xfrm>
          <a:prstGeom prst="rect">
            <a:avLst/>
          </a:prstGeom>
          <a:noFill/>
          <a:ln/>
        </p:spPr>
        <p:txBody>
          <a:bodyPr wrap="square"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app/Models</a:t>
            </a:r>
            <a:endParaRPr lang="en-US" sz="1200" dirty="0"/>
          </a:p>
        </p:txBody>
      </p:sp>
      <p:sp>
        <p:nvSpPr>
          <p:cNvPr id="11" name="Text 8"/>
          <p:cNvSpPr/>
          <p:nvPr/>
        </p:nvSpPr>
        <p:spPr>
          <a:xfrm>
            <a:off x="4206240" y="1691640"/>
            <a:ext cx="1554480" cy="228600"/>
          </a:xfrm>
          <a:prstGeom prst="rect">
            <a:avLst/>
          </a:prstGeom>
          <a:noFill/>
          <a:ln/>
        </p:spPr>
        <p:txBody>
          <a:bodyPr wrap="square" rtlCol="0" anchor="ctr"/>
          <a:lstStyle/>
          <a:p>
            <a:pPr algn="r" indent="0" marL="0">
              <a:buNone/>
            </a:pPr>
            <a:r>
              <a:rPr lang="en-US" sz="800" b="1" dirty="0">
                <a:solidFill>
                  <a:srgbClr val="3B82F6"/>
                </a:solidFill>
                <a:latin typeface="Segoe UI" pitchFamily="34" charset="0"/>
                <a:ea typeface="Segoe UI" pitchFamily="34" charset="-122"/>
                <a:cs typeface="Segoe UI" pitchFamily="34" charset="-120"/>
              </a:rPr>
              <a:t>ELOQUENT ORM MODELS</a:t>
            </a:r>
            <a:endParaRPr lang="en-US" sz="800" dirty="0"/>
          </a:p>
        </p:txBody>
      </p:sp>
      <p:sp>
        <p:nvSpPr>
          <p:cNvPr id="12" name="Text 9"/>
          <p:cNvSpPr/>
          <p:nvPr/>
        </p:nvSpPr>
        <p:spPr>
          <a:xfrm>
            <a:off x="960120" y="2011680"/>
            <a:ext cx="4754880" cy="82296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Contains 20 verified model classes (Medicine, Batch, Branch, Sale, StockMovement, User) defining relationships and casts.</a:t>
            </a:r>
            <a:endParaRPr lang="en-US" sz="1000" dirty="0"/>
          </a:p>
        </p:txBody>
      </p:sp>
      <p:sp>
        <p:nvSpPr>
          <p:cNvPr id="13" name="Shape 10"/>
          <p:cNvSpPr/>
          <p:nvPr/>
        </p:nvSpPr>
        <p:spPr>
          <a:xfrm>
            <a:off x="6217920" y="1508760"/>
            <a:ext cx="5239512" cy="1444752"/>
          </a:xfrm>
          <a:prstGeom prst="roundRect">
            <a:avLst>
              <a:gd name="adj" fmla="val 5063"/>
            </a:avLst>
          </a:prstGeom>
          <a:solidFill>
            <a:srgbClr val="111B35"/>
          </a:solidFill>
          <a:ln w="15240">
            <a:solidFill>
              <a:srgbClr val="334155"/>
            </a:solidFill>
            <a:prstDash val="solid"/>
          </a:ln>
        </p:spPr>
      </p:sp>
      <p:sp>
        <p:nvSpPr>
          <p:cNvPr id="14" name="Text 11"/>
          <p:cNvSpPr/>
          <p:nvPr/>
        </p:nvSpPr>
        <p:spPr>
          <a:xfrm>
            <a:off x="6446520" y="1673352"/>
            <a:ext cx="3200400" cy="274320"/>
          </a:xfrm>
          <a:prstGeom prst="rect">
            <a:avLst/>
          </a:prstGeom>
          <a:noFill/>
          <a:ln/>
        </p:spPr>
        <p:txBody>
          <a:bodyPr wrap="square"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app/Http/Controllers</a:t>
            </a:r>
            <a:endParaRPr lang="en-US" sz="1200" dirty="0"/>
          </a:p>
        </p:txBody>
      </p:sp>
      <p:sp>
        <p:nvSpPr>
          <p:cNvPr id="15" name="Text 12"/>
          <p:cNvSpPr/>
          <p:nvPr/>
        </p:nvSpPr>
        <p:spPr>
          <a:xfrm>
            <a:off x="9692640" y="1691640"/>
            <a:ext cx="1554480" cy="228600"/>
          </a:xfrm>
          <a:prstGeom prst="rect">
            <a:avLst/>
          </a:prstGeom>
          <a:noFill/>
          <a:ln/>
        </p:spPr>
        <p:txBody>
          <a:bodyPr wrap="square" rtlCol="0" anchor="ctr"/>
          <a:lstStyle/>
          <a:p>
            <a:pPr algn="r" indent="0" marL="0">
              <a:buNone/>
            </a:pPr>
            <a:r>
              <a:rPr lang="en-US" sz="800" b="1" dirty="0">
                <a:solidFill>
                  <a:srgbClr val="3B82F6"/>
                </a:solidFill>
                <a:latin typeface="Segoe UI" pitchFamily="34" charset="0"/>
                <a:ea typeface="Segoe UI" pitchFamily="34" charset="-122"/>
                <a:cs typeface="Segoe UI" pitchFamily="34" charset="-120"/>
              </a:rPr>
              <a:t>APPLICATION LOGIC CONTROLLERS</a:t>
            </a:r>
            <a:endParaRPr lang="en-US" sz="800" dirty="0"/>
          </a:p>
        </p:txBody>
      </p:sp>
      <p:sp>
        <p:nvSpPr>
          <p:cNvPr id="16" name="Text 13"/>
          <p:cNvSpPr/>
          <p:nvPr/>
        </p:nvSpPr>
        <p:spPr>
          <a:xfrm>
            <a:off x="6446520" y="2011680"/>
            <a:ext cx="4754880" cy="82296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Coordinates incoming requests, invokes FormRequest validators, manages DB transactions, and returns JSON responses.</a:t>
            </a:r>
            <a:endParaRPr lang="en-US" sz="1000" dirty="0"/>
          </a:p>
        </p:txBody>
      </p:sp>
      <p:sp>
        <p:nvSpPr>
          <p:cNvPr id="17" name="Shape 14"/>
          <p:cNvSpPr/>
          <p:nvPr/>
        </p:nvSpPr>
        <p:spPr>
          <a:xfrm>
            <a:off x="731520" y="3108960"/>
            <a:ext cx="5239512" cy="1444752"/>
          </a:xfrm>
          <a:prstGeom prst="roundRect">
            <a:avLst>
              <a:gd name="adj" fmla="val 5063"/>
            </a:avLst>
          </a:prstGeom>
          <a:solidFill>
            <a:srgbClr val="111B35"/>
          </a:solidFill>
          <a:ln w="15240">
            <a:solidFill>
              <a:srgbClr val="334155"/>
            </a:solidFill>
            <a:prstDash val="solid"/>
          </a:ln>
        </p:spPr>
      </p:sp>
      <p:sp>
        <p:nvSpPr>
          <p:cNvPr id="18" name="Text 15"/>
          <p:cNvSpPr/>
          <p:nvPr/>
        </p:nvSpPr>
        <p:spPr>
          <a:xfrm>
            <a:off x="960120" y="3273552"/>
            <a:ext cx="3200400" cy="274320"/>
          </a:xfrm>
          <a:prstGeom prst="rect">
            <a:avLst/>
          </a:prstGeom>
          <a:noFill/>
          <a:ln/>
        </p:spPr>
        <p:txBody>
          <a:bodyPr wrap="square"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routes/api.php &amp; web.php</a:t>
            </a:r>
            <a:endParaRPr lang="en-US" sz="1200" dirty="0"/>
          </a:p>
        </p:txBody>
      </p:sp>
      <p:sp>
        <p:nvSpPr>
          <p:cNvPr id="19" name="Text 16"/>
          <p:cNvSpPr/>
          <p:nvPr/>
        </p:nvSpPr>
        <p:spPr>
          <a:xfrm>
            <a:off x="4206240" y="3291840"/>
            <a:ext cx="1554480" cy="228600"/>
          </a:xfrm>
          <a:prstGeom prst="rect">
            <a:avLst/>
          </a:prstGeom>
          <a:noFill/>
          <a:ln/>
        </p:spPr>
        <p:txBody>
          <a:bodyPr wrap="square" rtlCol="0" anchor="ctr"/>
          <a:lstStyle/>
          <a:p>
            <a:pPr algn="r" indent="0" marL="0">
              <a:buNone/>
            </a:pPr>
            <a:r>
              <a:rPr lang="en-US" sz="800" b="1" dirty="0">
                <a:solidFill>
                  <a:srgbClr val="3B82F6"/>
                </a:solidFill>
                <a:latin typeface="Segoe UI" pitchFamily="34" charset="0"/>
                <a:ea typeface="Segoe UI" pitchFamily="34" charset="-122"/>
                <a:cs typeface="Segoe UI" pitchFamily="34" charset="-120"/>
              </a:rPr>
              <a:t>ROUTE DEFINITIONS</a:t>
            </a:r>
            <a:endParaRPr lang="en-US" sz="800" dirty="0"/>
          </a:p>
        </p:txBody>
      </p:sp>
      <p:sp>
        <p:nvSpPr>
          <p:cNvPr id="20" name="Text 17"/>
          <p:cNvSpPr/>
          <p:nvPr/>
        </p:nvSpPr>
        <p:spPr>
          <a:xfrm>
            <a:off x="960120" y="3611880"/>
            <a:ext cx="4754880" cy="82296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Declares authenticated endpoint groups protected by Sanctum, EnsureApproved, and EnsureHasPermission middleware.</a:t>
            </a:r>
            <a:endParaRPr lang="en-US" sz="1000" dirty="0"/>
          </a:p>
        </p:txBody>
      </p:sp>
      <p:sp>
        <p:nvSpPr>
          <p:cNvPr id="21" name="Shape 18"/>
          <p:cNvSpPr/>
          <p:nvPr/>
        </p:nvSpPr>
        <p:spPr>
          <a:xfrm>
            <a:off x="6217920" y="3108960"/>
            <a:ext cx="5239512" cy="1444752"/>
          </a:xfrm>
          <a:prstGeom prst="roundRect">
            <a:avLst>
              <a:gd name="adj" fmla="val 5063"/>
            </a:avLst>
          </a:prstGeom>
          <a:solidFill>
            <a:srgbClr val="111B35"/>
          </a:solidFill>
          <a:ln w="15240">
            <a:solidFill>
              <a:srgbClr val="334155"/>
            </a:solidFill>
            <a:prstDash val="solid"/>
          </a:ln>
        </p:spPr>
      </p:sp>
      <p:sp>
        <p:nvSpPr>
          <p:cNvPr id="22" name="Text 19"/>
          <p:cNvSpPr/>
          <p:nvPr/>
        </p:nvSpPr>
        <p:spPr>
          <a:xfrm>
            <a:off x="6446520" y="3273552"/>
            <a:ext cx="3200400" cy="274320"/>
          </a:xfrm>
          <a:prstGeom prst="rect">
            <a:avLst/>
          </a:prstGeom>
          <a:noFill/>
          <a:ln/>
        </p:spPr>
        <p:txBody>
          <a:bodyPr wrap="square"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database/migrations</a:t>
            </a:r>
            <a:endParaRPr lang="en-US" sz="1200" dirty="0"/>
          </a:p>
        </p:txBody>
      </p:sp>
      <p:sp>
        <p:nvSpPr>
          <p:cNvPr id="23" name="Text 20"/>
          <p:cNvSpPr/>
          <p:nvPr/>
        </p:nvSpPr>
        <p:spPr>
          <a:xfrm>
            <a:off x="9692640" y="3291840"/>
            <a:ext cx="1554480" cy="228600"/>
          </a:xfrm>
          <a:prstGeom prst="rect">
            <a:avLst/>
          </a:prstGeom>
          <a:noFill/>
          <a:ln/>
        </p:spPr>
        <p:txBody>
          <a:bodyPr wrap="square" rtlCol="0" anchor="ctr"/>
          <a:lstStyle/>
          <a:p>
            <a:pPr algn="r" indent="0" marL="0">
              <a:buNone/>
            </a:pPr>
            <a:r>
              <a:rPr lang="en-US" sz="800" b="1" dirty="0">
                <a:solidFill>
                  <a:srgbClr val="3B82F6"/>
                </a:solidFill>
                <a:latin typeface="Segoe UI" pitchFamily="34" charset="0"/>
                <a:ea typeface="Segoe UI" pitchFamily="34" charset="-122"/>
                <a:cs typeface="Segoe UI" pitchFamily="34" charset="-120"/>
              </a:rPr>
              <a:t>SCHEMA MIGRATIONS</a:t>
            </a:r>
            <a:endParaRPr lang="en-US" sz="800" dirty="0"/>
          </a:p>
        </p:txBody>
      </p:sp>
      <p:sp>
        <p:nvSpPr>
          <p:cNvPr id="24" name="Text 21"/>
          <p:cNvSpPr/>
          <p:nvPr/>
        </p:nvSpPr>
        <p:spPr>
          <a:xfrm>
            <a:off x="6446520" y="3611880"/>
            <a:ext cx="4754880" cy="82296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Version-controlled table definitions (60+ migrations) ensuring reproducible 3NF database builds across environments.</a:t>
            </a:r>
            <a:endParaRPr lang="en-US" sz="1000" dirty="0"/>
          </a:p>
        </p:txBody>
      </p:sp>
      <p:sp>
        <p:nvSpPr>
          <p:cNvPr id="25" name="Shape 22"/>
          <p:cNvSpPr/>
          <p:nvPr/>
        </p:nvSpPr>
        <p:spPr>
          <a:xfrm>
            <a:off x="731520" y="4709160"/>
            <a:ext cx="5239512" cy="1444752"/>
          </a:xfrm>
          <a:prstGeom prst="roundRect">
            <a:avLst>
              <a:gd name="adj" fmla="val 5063"/>
            </a:avLst>
          </a:prstGeom>
          <a:solidFill>
            <a:srgbClr val="111B35"/>
          </a:solidFill>
          <a:ln w="15240">
            <a:solidFill>
              <a:srgbClr val="334155"/>
            </a:solidFill>
            <a:prstDash val="solid"/>
          </a:ln>
        </p:spPr>
      </p:sp>
      <p:sp>
        <p:nvSpPr>
          <p:cNvPr id="26" name="Text 23"/>
          <p:cNvSpPr/>
          <p:nvPr/>
        </p:nvSpPr>
        <p:spPr>
          <a:xfrm>
            <a:off x="960120" y="4873752"/>
            <a:ext cx="3200400" cy="274320"/>
          </a:xfrm>
          <a:prstGeom prst="rect">
            <a:avLst/>
          </a:prstGeom>
          <a:noFill/>
          <a:ln/>
        </p:spPr>
        <p:txBody>
          <a:bodyPr wrap="square"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resources/views &amp; js</a:t>
            </a:r>
            <a:endParaRPr lang="en-US" sz="1200" dirty="0"/>
          </a:p>
        </p:txBody>
      </p:sp>
      <p:sp>
        <p:nvSpPr>
          <p:cNvPr id="27" name="Text 24"/>
          <p:cNvSpPr/>
          <p:nvPr/>
        </p:nvSpPr>
        <p:spPr>
          <a:xfrm>
            <a:off x="4206240" y="4892040"/>
            <a:ext cx="1554480" cy="228600"/>
          </a:xfrm>
          <a:prstGeom prst="rect">
            <a:avLst/>
          </a:prstGeom>
          <a:noFill/>
          <a:ln/>
        </p:spPr>
        <p:txBody>
          <a:bodyPr wrap="square" rtlCol="0" anchor="ctr"/>
          <a:lstStyle/>
          <a:p>
            <a:pPr algn="r" indent="0" marL="0">
              <a:buNone/>
            </a:pPr>
            <a:r>
              <a:rPr lang="en-US" sz="800" b="1" dirty="0">
                <a:solidFill>
                  <a:srgbClr val="3B82F6"/>
                </a:solidFill>
                <a:latin typeface="Segoe UI" pitchFamily="34" charset="0"/>
                <a:ea typeface="Segoe UI" pitchFamily="34" charset="-122"/>
                <a:cs typeface="Segoe UI" pitchFamily="34" charset="-120"/>
              </a:rPr>
              <a:t>INTERFACE LAYER</a:t>
            </a:r>
            <a:endParaRPr lang="en-US" sz="800" dirty="0"/>
          </a:p>
        </p:txBody>
      </p:sp>
      <p:sp>
        <p:nvSpPr>
          <p:cNvPr id="28" name="Text 25"/>
          <p:cNvSpPr/>
          <p:nvPr/>
        </p:nvSpPr>
        <p:spPr>
          <a:xfrm>
            <a:off x="960120" y="5212080"/>
            <a:ext cx="4754880" cy="82296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Contains React 18 SPA components, Tailwind configuration, and DOMPDF printable receipt Blade templates.</a:t>
            </a:r>
            <a:endParaRPr lang="en-US" sz="1000" dirty="0"/>
          </a:p>
        </p:txBody>
      </p:sp>
      <p:sp>
        <p:nvSpPr>
          <p:cNvPr id="29" name="Shape 26"/>
          <p:cNvSpPr/>
          <p:nvPr/>
        </p:nvSpPr>
        <p:spPr>
          <a:xfrm>
            <a:off x="6217920" y="4709160"/>
            <a:ext cx="5239512" cy="1444752"/>
          </a:xfrm>
          <a:prstGeom prst="roundRect">
            <a:avLst>
              <a:gd name="adj" fmla="val 5063"/>
            </a:avLst>
          </a:prstGeom>
          <a:solidFill>
            <a:srgbClr val="111B35"/>
          </a:solidFill>
          <a:ln w="15240">
            <a:solidFill>
              <a:srgbClr val="334155"/>
            </a:solidFill>
            <a:prstDash val="solid"/>
          </a:ln>
        </p:spPr>
      </p:sp>
      <p:sp>
        <p:nvSpPr>
          <p:cNvPr id="30" name="Text 27"/>
          <p:cNvSpPr/>
          <p:nvPr/>
        </p:nvSpPr>
        <p:spPr>
          <a:xfrm>
            <a:off x="6446520" y="4873752"/>
            <a:ext cx="3200400" cy="274320"/>
          </a:xfrm>
          <a:prstGeom prst="rect">
            <a:avLst/>
          </a:prstGeom>
          <a:noFill/>
          <a:ln/>
        </p:spPr>
        <p:txBody>
          <a:bodyPr wrap="square"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public/</a:t>
            </a:r>
            <a:endParaRPr lang="en-US" sz="1200" dirty="0"/>
          </a:p>
        </p:txBody>
      </p:sp>
      <p:sp>
        <p:nvSpPr>
          <p:cNvPr id="31" name="Text 28"/>
          <p:cNvSpPr/>
          <p:nvPr/>
        </p:nvSpPr>
        <p:spPr>
          <a:xfrm>
            <a:off x="9692640" y="4892040"/>
            <a:ext cx="1554480" cy="228600"/>
          </a:xfrm>
          <a:prstGeom prst="rect">
            <a:avLst/>
          </a:prstGeom>
          <a:noFill/>
          <a:ln/>
        </p:spPr>
        <p:txBody>
          <a:bodyPr wrap="square" rtlCol="0" anchor="ctr"/>
          <a:lstStyle/>
          <a:p>
            <a:pPr algn="r" indent="0" marL="0">
              <a:buNone/>
            </a:pPr>
            <a:r>
              <a:rPr lang="en-US" sz="800" b="1" dirty="0">
                <a:solidFill>
                  <a:srgbClr val="3B82F6"/>
                </a:solidFill>
                <a:latin typeface="Segoe UI" pitchFamily="34" charset="0"/>
                <a:ea typeface="Segoe UI" pitchFamily="34" charset="-122"/>
                <a:cs typeface="Segoe UI" pitchFamily="34" charset="-120"/>
              </a:rPr>
              <a:t>WEB ENTRY POINT</a:t>
            </a:r>
            <a:endParaRPr lang="en-US" sz="800" dirty="0"/>
          </a:p>
        </p:txBody>
      </p:sp>
      <p:sp>
        <p:nvSpPr>
          <p:cNvPr id="32" name="Text 29"/>
          <p:cNvSpPr/>
          <p:nvPr/>
        </p:nvSpPr>
        <p:spPr>
          <a:xfrm>
            <a:off x="6446520" y="5212080"/>
            <a:ext cx="4754880" cy="82296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Index entry point and compiled Vite bundles, images, and public application assets.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MEDICINE MANAGEMENT</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Managing Medicine Information</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sp>
        <p:nvSpPr>
          <p:cNvPr id="9" name="Shape 6"/>
          <p:cNvSpPr/>
          <p:nvPr/>
        </p:nvSpPr>
        <p:spPr>
          <a:xfrm>
            <a:off x="731520" y="1508760"/>
            <a:ext cx="5239512" cy="4572000"/>
          </a:xfrm>
          <a:prstGeom prst="roundRect">
            <a:avLst>
              <a:gd name="adj" fmla="val 1600"/>
            </a:avLst>
          </a:prstGeom>
          <a:solidFill>
            <a:srgbClr val="111B35"/>
          </a:solidFill>
          <a:ln w="15240">
            <a:solidFill>
              <a:srgbClr val="334155"/>
            </a:solidFill>
            <a:prstDash val="solid"/>
          </a:ln>
        </p:spPr>
      </p:sp>
      <p:sp>
        <p:nvSpPr>
          <p:cNvPr id="10" name="Text 7"/>
          <p:cNvSpPr/>
          <p:nvPr/>
        </p:nvSpPr>
        <p:spPr>
          <a:xfrm>
            <a:off x="960120" y="1691640"/>
            <a:ext cx="4663440" cy="274320"/>
          </a:xfrm>
          <a:prstGeom prst="rect">
            <a:avLst/>
          </a:prstGeom>
          <a:noFill/>
          <a:ln/>
        </p:spPr>
        <p:txBody>
          <a:bodyPr wrap="square" rtlCol="0" anchor="ctr"/>
          <a:lstStyle/>
          <a:p>
            <a:pPr indent="0" marL="0">
              <a:buNone/>
            </a:pPr>
            <a:r>
              <a:rPr lang="en-US" sz="1100" b="1" dirty="0">
                <a:solidFill>
                  <a:srgbClr val="22D3EE"/>
                </a:solidFill>
                <a:latin typeface="Segoe UI" pitchFamily="34" charset="0"/>
                <a:ea typeface="Segoe UI" pitchFamily="34" charset="-122"/>
                <a:cs typeface="Segoe UI" pitchFamily="34" charset="-120"/>
              </a:rPr>
              <a:t>STORED MEDICINE ATTRIBUTES</a:t>
            </a:r>
            <a:endParaRPr lang="en-US" sz="1100" dirty="0"/>
          </a:p>
        </p:txBody>
      </p:sp>
      <p:sp>
        <p:nvSpPr>
          <p:cNvPr id="11" name="Text 8"/>
          <p:cNvSpPr/>
          <p:nvPr/>
        </p:nvSpPr>
        <p:spPr>
          <a:xfrm>
            <a:off x="960120" y="2103120"/>
            <a:ext cx="4663440" cy="594360"/>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  Brand &amp; Generic Name: </a:t>
            </a:r>
            <a:pPr indent="0" marL="0">
              <a:buNone/>
            </a:pPr>
            <a:r>
              <a:rPr lang="en-US" sz="950" dirty="0">
                <a:solidFill>
                  <a:srgbClr val="94A3B8"/>
                </a:solidFill>
                <a:latin typeface="Segoe UI" pitchFamily="34" charset="0"/>
                <a:ea typeface="Segoe UI" pitchFamily="34" charset="-122"/>
                <a:cs typeface="Segoe UI" pitchFamily="34" charset="-120"/>
              </a:rPr>
              <a:t>Facilitates instant clinician searches regardless of trade brand.</a:t>
            </a:r>
            <a:endParaRPr lang="en-US" sz="1050" dirty="0"/>
          </a:p>
        </p:txBody>
      </p:sp>
      <p:sp>
        <p:nvSpPr>
          <p:cNvPr id="12" name="Text 9"/>
          <p:cNvSpPr/>
          <p:nvPr/>
        </p:nvSpPr>
        <p:spPr>
          <a:xfrm>
            <a:off x="960120" y="2761488"/>
            <a:ext cx="4663440" cy="594360"/>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  Therapeutic Category: </a:t>
            </a:r>
            <a:pPr indent="0" marL="0">
              <a:buNone/>
            </a:pPr>
            <a:r>
              <a:rPr lang="en-US" sz="950" dirty="0">
                <a:solidFill>
                  <a:srgbClr val="94A3B8"/>
                </a:solidFill>
                <a:latin typeface="Segoe UI" pitchFamily="34" charset="0"/>
                <a:ea typeface="Segoe UI" pitchFamily="34" charset="-122"/>
                <a:cs typeface="Segoe UI" pitchFamily="34" charset="-120"/>
              </a:rPr>
              <a:t>Organizes drugs (Antibiotics, Analgesics, OTC) via foreign keys.</a:t>
            </a:r>
            <a:endParaRPr lang="en-US" sz="1050" dirty="0"/>
          </a:p>
        </p:txBody>
      </p:sp>
      <p:sp>
        <p:nvSpPr>
          <p:cNvPr id="13" name="Text 10"/>
          <p:cNvSpPr/>
          <p:nvPr/>
        </p:nvSpPr>
        <p:spPr>
          <a:xfrm>
            <a:off x="960120" y="3419856"/>
            <a:ext cx="4663440" cy="594360"/>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  Barcode &amp; Shelf Code: </a:t>
            </a:r>
            <a:pPr indent="0" marL="0">
              <a:buNone/>
            </a:pPr>
            <a:r>
              <a:rPr lang="en-US" sz="950" dirty="0">
                <a:solidFill>
                  <a:srgbClr val="94A3B8"/>
                </a:solidFill>
                <a:latin typeface="Segoe UI" pitchFamily="34" charset="0"/>
                <a:ea typeface="Segoe UI" pitchFamily="34" charset="-122"/>
                <a:cs typeface="Segoe UI" pitchFamily="34" charset="-120"/>
              </a:rPr>
              <a:t>Enables rapid POS scanning and exact physical warehouse location.</a:t>
            </a:r>
            <a:endParaRPr lang="en-US" sz="1050" dirty="0"/>
          </a:p>
        </p:txBody>
      </p:sp>
      <p:sp>
        <p:nvSpPr>
          <p:cNvPr id="14" name="Text 11"/>
          <p:cNvSpPr/>
          <p:nvPr/>
        </p:nvSpPr>
        <p:spPr>
          <a:xfrm>
            <a:off x="960120" y="4078224"/>
            <a:ext cx="4663440" cy="594360"/>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  Reorder Level Threshold: </a:t>
            </a:r>
            <a:pPr indent="0" marL="0">
              <a:buNone/>
            </a:pPr>
            <a:r>
              <a:rPr lang="en-US" sz="950" dirty="0">
                <a:solidFill>
                  <a:srgbClr val="94A3B8"/>
                </a:solidFill>
                <a:latin typeface="Segoe UI" pitchFamily="34" charset="0"/>
                <a:ea typeface="Segoe UI" pitchFamily="34" charset="-122"/>
                <a:cs typeface="Segoe UI" pitchFamily="34" charset="-120"/>
              </a:rPr>
              <a:t>Triggers automatic warning when total stock falls below threshold.</a:t>
            </a:r>
            <a:endParaRPr lang="en-US" sz="1050" dirty="0"/>
          </a:p>
        </p:txBody>
      </p:sp>
      <p:sp>
        <p:nvSpPr>
          <p:cNvPr id="15" name="Text 12"/>
          <p:cNvSpPr/>
          <p:nvPr/>
        </p:nvSpPr>
        <p:spPr>
          <a:xfrm>
            <a:off x="960120" y="4736592"/>
            <a:ext cx="4663440" cy="594360"/>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  Prescription Flag (Rx): </a:t>
            </a:r>
            <a:pPr indent="0" marL="0">
              <a:buNone/>
            </a:pPr>
            <a:r>
              <a:rPr lang="en-US" sz="950" dirty="0">
                <a:solidFill>
                  <a:srgbClr val="94A3B8"/>
                </a:solidFill>
                <a:latin typeface="Segoe UI" pitchFamily="34" charset="0"/>
                <a:ea typeface="Segoe UI" pitchFamily="34" charset="-122"/>
                <a:cs typeface="Segoe UI" pitchFamily="34" charset="-120"/>
              </a:rPr>
              <a:t>Requires licensed pharmacist clinical validation before checkout.</a:t>
            </a:r>
            <a:endParaRPr lang="en-US" sz="1050" dirty="0"/>
          </a:p>
        </p:txBody>
      </p:sp>
      <p:sp>
        <p:nvSpPr>
          <p:cNvPr id="16" name="Shape 13"/>
          <p:cNvSpPr/>
          <p:nvPr/>
        </p:nvSpPr>
        <p:spPr>
          <a:xfrm>
            <a:off x="6217920" y="1508760"/>
            <a:ext cx="5239512" cy="4572000"/>
          </a:xfrm>
          <a:prstGeom prst="roundRect">
            <a:avLst>
              <a:gd name="adj" fmla="val 1600"/>
            </a:avLst>
          </a:prstGeom>
          <a:solidFill>
            <a:srgbClr val="111B35"/>
          </a:solidFill>
          <a:ln w="15240">
            <a:solidFill>
              <a:srgbClr val="3B82F6"/>
            </a:solidFill>
            <a:prstDash val="solid"/>
          </a:ln>
        </p:spPr>
      </p:sp>
      <p:sp>
        <p:nvSpPr>
          <p:cNvPr id="17" name="Text 14"/>
          <p:cNvSpPr/>
          <p:nvPr/>
        </p:nvSpPr>
        <p:spPr>
          <a:xfrm>
            <a:off x="6446520" y="1691640"/>
            <a:ext cx="4663440" cy="274320"/>
          </a:xfrm>
          <a:prstGeom prst="rect">
            <a:avLst/>
          </a:prstGeom>
          <a:noFill/>
          <a:ln/>
        </p:spPr>
        <p:txBody>
          <a:bodyPr wrap="square" rtlCol="0" anchor="ctr"/>
          <a:lstStyle/>
          <a:p>
            <a:pPr indent="0" marL="0">
              <a:buNone/>
            </a:pPr>
            <a:r>
              <a:rPr lang="en-US" sz="1100" b="1" dirty="0">
                <a:solidFill>
                  <a:srgbClr val="3B82F6"/>
                </a:solidFill>
                <a:latin typeface="Segoe UI" pitchFamily="34" charset="0"/>
                <a:ea typeface="Segoe UI" pitchFamily="34" charset="-122"/>
                <a:cs typeface="Segoe UI" pitchFamily="34" charset="-120"/>
              </a:rPr>
              <a:t>APPLICATION INTERFACE PREVIEW</a:t>
            </a:r>
            <a:endParaRPr lang="en-US" sz="1100" dirty="0"/>
          </a:p>
        </p:txBody>
      </p:sp>
      <p:pic>
        <p:nvPicPr>
          <p:cNvPr id="18" name="Image 0" descr="c:\Users\rukn alzmarad\Desktop\kidist-recovery\public\images\p1.png">    </p:cNvPr>
          <p:cNvPicPr>
            <a:picLocks noChangeAspect="1"/>
          </p:cNvPicPr>
          <p:nvPr/>
        </p:nvPicPr>
        <p:blipFill>
          <a:blip r:embed="rId1"/>
          <a:stretch>
            <a:fillRect/>
          </a:stretch>
        </p:blipFill>
        <p:spPr>
          <a:xfrm>
            <a:off x="6446520" y="2057400"/>
            <a:ext cx="4782312" cy="37947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PROCUREMENT WORKFLOW</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Recording Pharmacy Purchases</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sp>
        <p:nvSpPr>
          <p:cNvPr id="9" name="Shape 6"/>
          <p:cNvSpPr/>
          <p:nvPr/>
        </p:nvSpPr>
        <p:spPr>
          <a:xfrm>
            <a:off x="731520" y="1645920"/>
            <a:ext cx="2057400" cy="4389120"/>
          </a:xfrm>
          <a:prstGeom prst="roundRect">
            <a:avLst>
              <a:gd name="adj" fmla="val 3556"/>
            </a:avLst>
          </a:prstGeom>
          <a:solidFill>
            <a:srgbClr val="111B35"/>
          </a:solidFill>
          <a:ln w="15240">
            <a:solidFill>
              <a:srgbClr val="3B82F6"/>
            </a:solidFill>
            <a:prstDash val="solid"/>
          </a:ln>
        </p:spPr>
      </p:sp>
      <p:sp>
        <p:nvSpPr>
          <p:cNvPr id="10" name="Shape 7"/>
          <p:cNvSpPr/>
          <p:nvPr/>
        </p:nvSpPr>
        <p:spPr>
          <a:xfrm>
            <a:off x="868680" y="1874520"/>
            <a:ext cx="1783080" cy="365760"/>
          </a:xfrm>
          <a:prstGeom prst="roundRect">
            <a:avLst>
              <a:gd name="adj" fmla="val 15000"/>
            </a:avLst>
          </a:prstGeom>
          <a:solidFill>
            <a:srgbClr val="0B1020"/>
          </a:solidFill>
          <a:ln w="12700">
            <a:solidFill>
              <a:srgbClr val="3B82F6"/>
            </a:solidFill>
            <a:prstDash val="solid"/>
          </a:ln>
        </p:spPr>
      </p:sp>
      <p:sp>
        <p:nvSpPr>
          <p:cNvPr id="11" name="Text 8"/>
          <p:cNvSpPr/>
          <p:nvPr/>
        </p:nvSpPr>
        <p:spPr>
          <a:xfrm>
            <a:off x="868680" y="1874520"/>
            <a:ext cx="1783080" cy="365760"/>
          </a:xfrm>
          <a:prstGeom prst="rect">
            <a:avLst/>
          </a:prstGeom>
          <a:noFill/>
          <a:ln/>
        </p:spPr>
        <p:txBody>
          <a:bodyPr wrap="square" rtlCol="0" anchor="ctr"/>
          <a:lstStyle/>
          <a:p>
            <a:pPr algn="ctr" indent="0" marL="0">
              <a:buNone/>
            </a:pPr>
            <a:r>
              <a:rPr lang="en-US" sz="1000" b="1" dirty="0">
                <a:solidFill>
                  <a:srgbClr val="22D3EE"/>
                </a:solidFill>
                <a:latin typeface="Segoe UI" pitchFamily="34" charset="0"/>
                <a:ea typeface="Segoe UI" pitchFamily="34" charset="-122"/>
                <a:cs typeface="Segoe UI" pitchFamily="34" charset="-120"/>
              </a:rPr>
              <a:t>1. Select Supplier</a:t>
            </a:r>
            <a:endParaRPr lang="en-US" sz="1000" dirty="0"/>
          </a:p>
        </p:txBody>
      </p:sp>
      <p:sp>
        <p:nvSpPr>
          <p:cNvPr id="12" name="Text 9"/>
          <p:cNvSpPr/>
          <p:nvPr/>
        </p:nvSpPr>
        <p:spPr>
          <a:xfrm>
            <a:off x="868680" y="2423160"/>
            <a:ext cx="1783080" cy="274320"/>
          </a:xfrm>
          <a:prstGeom prst="rect">
            <a:avLst/>
          </a:prstGeom>
          <a:noFill/>
          <a:ln/>
        </p:spPr>
        <p:txBody>
          <a:bodyPr wrap="square" rtlCol="0" anchor="ctr"/>
          <a:lstStyle/>
          <a:p>
            <a:pPr algn="ctr" indent="0" marL="0">
              <a:buNone/>
            </a:pPr>
            <a:r>
              <a:rPr lang="en-US" sz="850" b="1" dirty="0">
                <a:solidFill>
                  <a:srgbClr val="F8FAFC"/>
                </a:solidFill>
                <a:latin typeface="Segoe UI" pitchFamily="34" charset="0"/>
                <a:ea typeface="Segoe UI" pitchFamily="34" charset="-122"/>
                <a:cs typeface="Segoe UI" pitchFamily="34" charset="-120"/>
              </a:rPr>
              <a:t>WHOLESALE REGISTRY</a:t>
            </a:r>
            <a:endParaRPr lang="en-US" sz="850" dirty="0"/>
          </a:p>
        </p:txBody>
      </p:sp>
      <p:sp>
        <p:nvSpPr>
          <p:cNvPr id="13" name="Text 10"/>
          <p:cNvSpPr/>
          <p:nvPr/>
        </p:nvSpPr>
        <p:spPr>
          <a:xfrm>
            <a:off x="868680" y="2834640"/>
            <a:ext cx="1783080" cy="292608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Select vendor, verify contact details, TIN number, and lead times.</a:t>
            </a:r>
            <a:endParaRPr lang="en-US" sz="1000" dirty="0"/>
          </a:p>
        </p:txBody>
      </p:sp>
      <p:sp>
        <p:nvSpPr>
          <p:cNvPr id="14" name="Shape 11"/>
          <p:cNvSpPr/>
          <p:nvPr/>
        </p:nvSpPr>
        <p:spPr>
          <a:xfrm>
            <a:off x="2907792" y="1645920"/>
            <a:ext cx="2057400" cy="4389120"/>
          </a:xfrm>
          <a:prstGeom prst="roundRect">
            <a:avLst>
              <a:gd name="adj" fmla="val 3556"/>
            </a:avLst>
          </a:prstGeom>
          <a:solidFill>
            <a:srgbClr val="111B35"/>
          </a:solidFill>
          <a:ln w="15240">
            <a:solidFill>
              <a:srgbClr val="3B82F6"/>
            </a:solidFill>
            <a:prstDash val="solid"/>
          </a:ln>
        </p:spPr>
      </p:sp>
      <p:sp>
        <p:nvSpPr>
          <p:cNvPr id="15" name="Shape 12"/>
          <p:cNvSpPr/>
          <p:nvPr/>
        </p:nvSpPr>
        <p:spPr>
          <a:xfrm>
            <a:off x="3044952" y="1874520"/>
            <a:ext cx="1783080" cy="365760"/>
          </a:xfrm>
          <a:prstGeom prst="roundRect">
            <a:avLst>
              <a:gd name="adj" fmla="val 15000"/>
            </a:avLst>
          </a:prstGeom>
          <a:solidFill>
            <a:srgbClr val="0B1020"/>
          </a:solidFill>
          <a:ln w="12700">
            <a:solidFill>
              <a:srgbClr val="3B82F6"/>
            </a:solidFill>
            <a:prstDash val="solid"/>
          </a:ln>
        </p:spPr>
      </p:sp>
      <p:sp>
        <p:nvSpPr>
          <p:cNvPr id="16" name="Text 13"/>
          <p:cNvSpPr/>
          <p:nvPr/>
        </p:nvSpPr>
        <p:spPr>
          <a:xfrm>
            <a:off x="3044952" y="1874520"/>
            <a:ext cx="1783080" cy="365760"/>
          </a:xfrm>
          <a:prstGeom prst="rect">
            <a:avLst/>
          </a:prstGeom>
          <a:noFill/>
          <a:ln/>
        </p:spPr>
        <p:txBody>
          <a:bodyPr wrap="square" rtlCol="0" anchor="ctr"/>
          <a:lstStyle/>
          <a:p>
            <a:pPr algn="ctr" indent="0" marL="0">
              <a:buNone/>
            </a:pPr>
            <a:r>
              <a:rPr lang="en-US" sz="1000" b="1" dirty="0">
                <a:solidFill>
                  <a:srgbClr val="22D3EE"/>
                </a:solidFill>
                <a:latin typeface="Segoe UI" pitchFamily="34" charset="0"/>
                <a:ea typeface="Segoe UI" pitchFamily="34" charset="-122"/>
                <a:cs typeface="Segoe UI" pitchFamily="34" charset="-120"/>
              </a:rPr>
              <a:t>2. Draft Order</a:t>
            </a:r>
            <a:endParaRPr lang="en-US" sz="1000" dirty="0"/>
          </a:p>
        </p:txBody>
      </p:sp>
      <p:sp>
        <p:nvSpPr>
          <p:cNvPr id="17" name="Text 14"/>
          <p:cNvSpPr/>
          <p:nvPr/>
        </p:nvSpPr>
        <p:spPr>
          <a:xfrm>
            <a:off x="3044952" y="2423160"/>
            <a:ext cx="1783080" cy="274320"/>
          </a:xfrm>
          <a:prstGeom prst="rect">
            <a:avLst/>
          </a:prstGeom>
          <a:noFill/>
          <a:ln/>
        </p:spPr>
        <p:txBody>
          <a:bodyPr wrap="square" rtlCol="0" anchor="ctr"/>
          <a:lstStyle/>
          <a:p>
            <a:pPr algn="ctr" indent="0" marL="0">
              <a:buNone/>
            </a:pPr>
            <a:r>
              <a:rPr lang="en-US" sz="850" b="1" dirty="0">
                <a:solidFill>
                  <a:srgbClr val="F8FAFC"/>
                </a:solidFill>
                <a:latin typeface="Segoe UI" pitchFamily="34" charset="0"/>
                <a:ea typeface="Segoe UI" pitchFamily="34" charset="-122"/>
                <a:cs typeface="Segoe UI" pitchFamily="34" charset="-120"/>
              </a:rPr>
              <a:t>REQUISITION</a:t>
            </a:r>
            <a:endParaRPr lang="en-US" sz="850" dirty="0"/>
          </a:p>
        </p:txBody>
      </p:sp>
      <p:sp>
        <p:nvSpPr>
          <p:cNvPr id="18" name="Text 15"/>
          <p:cNvSpPr/>
          <p:nvPr/>
        </p:nvSpPr>
        <p:spPr>
          <a:xfrm>
            <a:off x="3044952" y="2834640"/>
            <a:ext cx="1783080" cy="292608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Add line-item medicines, requested quantities, and negotiated unit costs.</a:t>
            </a:r>
            <a:endParaRPr lang="en-US" sz="1000" dirty="0"/>
          </a:p>
        </p:txBody>
      </p:sp>
      <p:sp>
        <p:nvSpPr>
          <p:cNvPr id="19" name="Shape 16"/>
          <p:cNvSpPr/>
          <p:nvPr/>
        </p:nvSpPr>
        <p:spPr>
          <a:xfrm>
            <a:off x="5084064" y="1645920"/>
            <a:ext cx="2057400" cy="4389120"/>
          </a:xfrm>
          <a:prstGeom prst="roundRect">
            <a:avLst>
              <a:gd name="adj" fmla="val 3556"/>
            </a:avLst>
          </a:prstGeom>
          <a:solidFill>
            <a:srgbClr val="111B35"/>
          </a:solidFill>
          <a:ln w="15240">
            <a:solidFill>
              <a:srgbClr val="3B82F6"/>
            </a:solidFill>
            <a:prstDash val="solid"/>
          </a:ln>
        </p:spPr>
      </p:sp>
      <p:sp>
        <p:nvSpPr>
          <p:cNvPr id="20" name="Shape 17"/>
          <p:cNvSpPr/>
          <p:nvPr/>
        </p:nvSpPr>
        <p:spPr>
          <a:xfrm>
            <a:off x="5221224" y="1874520"/>
            <a:ext cx="1783080" cy="365760"/>
          </a:xfrm>
          <a:prstGeom prst="roundRect">
            <a:avLst>
              <a:gd name="adj" fmla="val 15000"/>
            </a:avLst>
          </a:prstGeom>
          <a:solidFill>
            <a:srgbClr val="0B1020"/>
          </a:solidFill>
          <a:ln w="12700">
            <a:solidFill>
              <a:srgbClr val="3B82F6"/>
            </a:solidFill>
            <a:prstDash val="solid"/>
          </a:ln>
        </p:spPr>
      </p:sp>
      <p:sp>
        <p:nvSpPr>
          <p:cNvPr id="21" name="Text 18"/>
          <p:cNvSpPr/>
          <p:nvPr/>
        </p:nvSpPr>
        <p:spPr>
          <a:xfrm>
            <a:off x="5221224" y="1874520"/>
            <a:ext cx="1783080" cy="365760"/>
          </a:xfrm>
          <a:prstGeom prst="rect">
            <a:avLst/>
          </a:prstGeom>
          <a:noFill/>
          <a:ln/>
        </p:spPr>
        <p:txBody>
          <a:bodyPr wrap="square" rtlCol="0" anchor="ctr"/>
          <a:lstStyle/>
          <a:p>
            <a:pPr algn="ctr" indent="0" marL="0">
              <a:buNone/>
            </a:pPr>
            <a:r>
              <a:rPr lang="en-US" sz="1000" b="1" dirty="0">
                <a:solidFill>
                  <a:srgbClr val="22D3EE"/>
                </a:solidFill>
                <a:latin typeface="Segoe UI" pitchFamily="34" charset="0"/>
                <a:ea typeface="Segoe UI" pitchFamily="34" charset="-122"/>
                <a:cs typeface="Segoe UI" pitchFamily="34" charset="-120"/>
              </a:rPr>
              <a:t>3. Manager Review</a:t>
            </a:r>
            <a:endParaRPr lang="en-US" sz="1000" dirty="0"/>
          </a:p>
        </p:txBody>
      </p:sp>
      <p:sp>
        <p:nvSpPr>
          <p:cNvPr id="22" name="Text 19"/>
          <p:cNvSpPr/>
          <p:nvPr/>
        </p:nvSpPr>
        <p:spPr>
          <a:xfrm>
            <a:off x="5221224" y="2423160"/>
            <a:ext cx="1783080" cy="274320"/>
          </a:xfrm>
          <a:prstGeom prst="rect">
            <a:avLst/>
          </a:prstGeom>
          <a:noFill/>
          <a:ln/>
        </p:spPr>
        <p:txBody>
          <a:bodyPr wrap="square" rtlCol="0" anchor="ctr"/>
          <a:lstStyle/>
          <a:p>
            <a:pPr algn="ctr" indent="0" marL="0">
              <a:buNone/>
            </a:pPr>
            <a:r>
              <a:rPr lang="en-US" sz="850" b="1" dirty="0">
                <a:solidFill>
                  <a:srgbClr val="F8FAFC"/>
                </a:solidFill>
                <a:latin typeface="Segoe UI" pitchFamily="34" charset="0"/>
                <a:ea typeface="Segoe UI" pitchFamily="34" charset="-122"/>
                <a:cs typeface="Segoe UI" pitchFamily="34" charset="-120"/>
              </a:rPr>
              <a:t>APPROVAL GATE</a:t>
            </a:r>
            <a:endParaRPr lang="en-US" sz="850" dirty="0"/>
          </a:p>
        </p:txBody>
      </p:sp>
      <p:sp>
        <p:nvSpPr>
          <p:cNvPr id="23" name="Text 20"/>
          <p:cNvSpPr/>
          <p:nvPr/>
        </p:nvSpPr>
        <p:spPr>
          <a:xfrm>
            <a:off x="5221224" y="2834640"/>
            <a:ext cx="1783080" cy="292608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Locked against informal edits awaiting managerial sign-off and PDF dispatch.</a:t>
            </a:r>
            <a:endParaRPr lang="en-US" sz="1000" dirty="0"/>
          </a:p>
        </p:txBody>
      </p:sp>
      <p:sp>
        <p:nvSpPr>
          <p:cNvPr id="24" name="Shape 21"/>
          <p:cNvSpPr/>
          <p:nvPr/>
        </p:nvSpPr>
        <p:spPr>
          <a:xfrm>
            <a:off x="7260336" y="1645920"/>
            <a:ext cx="2057400" cy="4389120"/>
          </a:xfrm>
          <a:prstGeom prst="roundRect">
            <a:avLst>
              <a:gd name="adj" fmla="val 3556"/>
            </a:avLst>
          </a:prstGeom>
          <a:solidFill>
            <a:srgbClr val="111B35"/>
          </a:solidFill>
          <a:ln w="15240">
            <a:solidFill>
              <a:srgbClr val="3B82F6"/>
            </a:solidFill>
            <a:prstDash val="solid"/>
          </a:ln>
        </p:spPr>
      </p:sp>
      <p:sp>
        <p:nvSpPr>
          <p:cNvPr id="25" name="Shape 22"/>
          <p:cNvSpPr/>
          <p:nvPr/>
        </p:nvSpPr>
        <p:spPr>
          <a:xfrm>
            <a:off x="7397496" y="1874520"/>
            <a:ext cx="1783080" cy="365760"/>
          </a:xfrm>
          <a:prstGeom prst="roundRect">
            <a:avLst>
              <a:gd name="adj" fmla="val 15000"/>
            </a:avLst>
          </a:prstGeom>
          <a:solidFill>
            <a:srgbClr val="0B1020"/>
          </a:solidFill>
          <a:ln w="12700">
            <a:solidFill>
              <a:srgbClr val="3B82F6"/>
            </a:solidFill>
            <a:prstDash val="solid"/>
          </a:ln>
        </p:spPr>
      </p:sp>
      <p:sp>
        <p:nvSpPr>
          <p:cNvPr id="26" name="Text 23"/>
          <p:cNvSpPr/>
          <p:nvPr/>
        </p:nvSpPr>
        <p:spPr>
          <a:xfrm>
            <a:off x="7397496" y="1874520"/>
            <a:ext cx="1783080" cy="365760"/>
          </a:xfrm>
          <a:prstGeom prst="rect">
            <a:avLst/>
          </a:prstGeom>
          <a:noFill/>
          <a:ln/>
        </p:spPr>
        <p:txBody>
          <a:bodyPr wrap="square" rtlCol="0" anchor="ctr"/>
          <a:lstStyle/>
          <a:p>
            <a:pPr algn="ctr" indent="0" marL="0">
              <a:buNone/>
            </a:pPr>
            <a:r>
              <a:rPr lang="en-US" sz="1000" b="1" dirty="0">
                <a:solidFill>
                  <a:srgbClr val="22D3EE"/>
                </a:solidFill>
                <a:latin typeface="Segoe UI" pitchFamily="34" charset="0"/>
                <a:ea typeface="Segoe UI" pitchFamily="34" charset="-122"/>
                <a:cs typeface="Segoe UI" pitchFamily="34" charset="-120"/>
              </a:rPr>
              <a:t>4. Goods Delivery</a:t>
            </a:r>
            <a:endParaRPr lang="en-US" sz="1000" dirty="0"/>
          </a:p>
        </p:txBody>
      </p:sp>
      <p:sp>
        <p:nvSpPr>
          <p:cNvPr id="27" name="Text 24"/>
          <p:cNvSpPr/>
          <p:nvPr/>
        </p:nvSpPr>
        <p:spPr>
          <a:xfrm>
            <a:off x="7397496" y="2423160"/>
            <a:ext cx="1783080" cy="274320"/>
          </a:xfrm>
          <a:prstGeom prst="rect">
            <a:avLst/>
          </a:prstGeom>
          <a:noFill/>
          <a:ln/>
        </p:spPr>
        <p:txBody>
          <a:bodyPr wrap="square" rtlCol="0" anchor="ctr"/>
          <a:lstStyle/>
          <a:p>
            <a:pPr algn="ctr" indent="0" marL="0">
              <a:buNone/>
            </a:pPr>
            <a:r>
              <a:rPr lang="en-US" sz="850" b="1" dirty="0">
                <a:solidFill>
                  <a:srgbClr val="F8FAFC"/>
                </a:solidFill>
                <a:latin typeface="Segoe UI" pitchFamily="34" charset="0"/>
                <a:ea typeface="Segoe UI" pitchFamily="34" charset="-122"/>
                <a:cs typeface="Segoe UI" pitchFamily="34" charset="-120"/>
              </a:rPr>
              <a:t>WAREHOUSE QC</a:t>
            </a:r>
            <a:endParaRPr lang="en-US" sz="850" dirty="0"/>
          </a:p>
        </p:txBody>
      </p:sp>
      <p:sp>
        <p:nvSpPr>
          <p:cNvPr id="28" name="Text 25"/>
          <p:cNvSpPr/>
          <p:nvPr/>
        </p:nvSpPr>
        <p:spPr>
          <a:xfrm>
            <a:off x="7397496" y="2834640"/>
            <a:ext cx="1783080" cy="292608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Physical arrival: clerk verifies batch lots, expiries, and packaging.</a:t>
            </a:r>
            <a:endParaRPr lang="en-US" sz="1000" dirty="0"/>
          </a:p>
        </p:txBody>
      </p:sp>
      <p:sp>
        <p:nvSpPr>
          <p:cNvPr id="29" name="Shape 26"/>
          <p:cNvSpPr/>
          <p:nvPr/>
        </p:nvSpPr>
        <p:spPr>
          <a:xfrm>
            <a:off x="9436608" y="1645920"/>
            <a:ext cx="2057400" cy="4389120"/>
          </a:xfrm>
          <a:prstGeom prst="roundRect">
            <a:avLst>
              <a:gd name="adj" fmla="val 3556"/>
            </a:avLst>
          </a:prstGeom>
          <a:solidFill>
            <a:srgbClr val="111B35"/>
          </a:solidFill>
          <a:ln w="15240">
            <a:solidFill>
              <a:srgbClr val="10B981"/>
            </a:solidFill>
            <a:prstDash val="solid"/>
          </a:ln>
        </p:spPr>
      </p:sp>
      <p:sp>
        <p:nvSpPr>
          <p:cNvPr id="30" name="Shape 27"/>
          <p:cNvSpPr/>
          <p:nvPr/>
        </p:nvSpPr>
        <p:spPr>
          <a:xfrm>
            <a:off x="9573768" y="1874520"/>
            <a:ext cx="1783080" cy="365760"/>
          </a:xfrm>
          <a:prstGeom prst="roundRect">
            <a:avLst>
              <a:gd name="adj" fmla="val 15000"/>
            </a:avLst>
          </a:prstGeom>
          <a:solidFill>
            <a:srgbClr val="0B1020"/>
          </a:solidFill>
          <a:ln w="12700">
            <a:solidFill>
              <a:srgbClr val="10B981"/>
            </a:solidFill>
            <a:prstDash val="solid"/>
          </a:ln>
        </p:spPr>
      </p:sp>
      <p:sp>
        <p:nvSpPr>
          <p:cNvPr id="31" name="Text 28"/>
          <p:cNvSpPr/>
          <p:nvPr/>
        </p:nvSpPr>
        <p:spPr>
          <a:xfrm>
            <a:off x="9573768" y="1874520"/>
            <a:ext cx="1783080" cy="365760"/>
          </a:xfrm>
          <a:prstGeom prst="rect">
            <a:avLst/>
          </a:prstGeom>
          <a:noFill/>
          <a:ln/>
        </p:spPr>
        <p:txBody>
          <a:bodyPr wrap="square" rtlCol="0" anchor="ctr"/>
          <a:lstStyle/>
          <a:p>
            <a:pPr algn="ctr" indent="0" marL="0">
              <a:buNone/>
            </a:pPr>
            <a:r>
              <a:rPr lang="en-US" sz="1000" b="1" dirty="0">
                <a:solidFill>
                  <a:srgbClr val="10B981"/>
                </a:solidFill>
                <a:latin typeface="Segoe UI" pitchFamily="34" charset="0"/>
                <a:ea typeface="Segoe UI" pitchFamily="34" charset="-122"/>
                <a:cs typeface="Segoe UI" pitchFamily="34" charset="-120"/>
              </a:rPr>
              <a:t>5. Atomic Stock Credit</a:t>
            </a:r>
            <a:endParaRPr lang="en-US" sz="1000" dirty="0"/>
          </a:p>
        </p:txBody>
      </p:sp>
      <p:sp>
        <p:nvSpPr>
          <p:cNvPr id="32" name="Text 29"/>
          <p:cNvSpPr/>
          <p:nvPr/>
        </p:nvSpPr>
        <p:spPr>
          <a:xfrm>
            <a:off x="9573768" y="2423160"/>
            <a:ext cx="1783080" cy="274320"/>
          </a:xfrm>
          <a:prstGeom prst="rect">
            <a:avLst/>
          </a:prstGeom>
          <a:noFill/>
          <a:ln/>
        </p:spPr>
        <p:txBody>
          <a:bodyPr wrap="square" rtlCol="0" anchor="ctr"/>
          <a:lstStyle/>
          <a:p>
            <a:pPr algn="ctr" indent="0" marL="0">
              <a:buNone/>
            </a:pPr>
            <a:r>
              <a:rPr lang="en-US" sz="850" b="1" dirty="0">
                <a:solidFill>
                  <a:srgbClr val="F8FAFC"/>
                </a:solidFill>
                <a:latin typeface="Segoe UI" pitchFamily="34" charset="0"/>
                <a:ea typeface="Segoe UI" pitchFamily="34" charset="-122"/>
                <a:cs typeface="Segoe UI" pitchFamily="34" charset="-120"/>
              </a:rPr>
              <a:t>COMPLETED</a:t>
            </a:r>
            <a:endParaRPr lang="en-US" sz="850" dirty="0"/>
          </a:p>
        </p:txBody>
      </p:sp>
      <p:sp>
        <p:nvSpPr>
          <p:cNvPr id="33" name="Text 30"/>
          <p:cNvSpPr/>
          <p:nvPr/>
        </p:nvSpPr>
        <p:spPr>
          <a:xfrm>
            <a:off x="9573768" y="2834640"/>
            <a:ext cx="1783080" cy="2926080"/>
          </a:xfrm>
          <a:prstGeom prst="rect">
            <a:avLst/>
          </a:prstGeom>
          <a:noFill/>
          <a:ln/>
        </p:spPr>
        <p:txBody>
          <a:bodyPr wrap="square" rtlCol="0" anchor="ctr"/>
          <a:lstStyle/>
          <a:p>
            <a:pPr indent="0" marL="0">
              <a:lnSpc>
                <a:spcPct val="120000"/>
              </a:lnSpc>
              <a:buNone/>
            </a:pPr>
            <a:r>
              <a:rPr lang="en-US" sz="1000" dirty="0">
                <a:solidFill>
                  <a:srgbClr val="94A3B8"/>
                </a:solidFill>
                <a:latin typeface="Segoe UI" pitchFamily="34" charset="0"/>
                <a:ea typeface="Segoe UI" pitchFamily="34" charset="-122"/>
                <a:cs typeface="Segoe UI" pitchFamily="34" charset="-120"/>
              </a:rPr>
              <a:t>Upon verification, system atomically increments batch inventory and writes ledger.</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FEFO DISPENSING</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Selling Medicines While Managing Expiry Risk</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sp>
        <p:nvSpPr>
          <p:cNvPr id="9" name="Shape 6"/>
          <p:cNvSpPr/>
          <p:nvPr/>
        </p:nvSpPr>
        <p:spPr>
          <a:xfrm>
            <a:off x="731520" y="1508760"/>
            <a:ext cx="5239512" cy="4572000"/>
          </a:xfrm>
          <a:prstGeom prst="roundRect">
            <a:avLst>
              <a:gd name="adj" fmla="val 1600"/>
            </a:avLst>
          </a:prstGeom>
          <a:solidFill>
            <a:srgbClr val="111B35"/>
          </a:solidFill>
          <a:ln w="15240">
            <a:solidFill>
              <a:srgbClr val="22D3EE"/>
            </a:solidFill>
            <a:prstDash val="solid"/>
          </a:ln>
        </p:spPr>
      </p:sp>
      <p:sp>
        <p:nvSpPr>
          <p:cNvPr id="10" name="Text 7"/>
          <p:cNvSpPr/>
          <p:nvPr/>
        </p:nvSpPr>
        <p:spPr>
          <a:xfrm>
            <a:off x="960120" y="1691640"/>
            <a:ext cx="4663440" cy="274320"/>
          </a:xfrm>
          <a:prstGeom prst="rect">
            <a:avLst/>
          </a:prstGeom>
          <a:noFill/>
          <a:ln/>
        </p:spPr>
        <p:txBody>
          <a:bodyPr wrap="square" rtlCol="0" anchor="ctr"/>
          <a:lstStyle/>
          <a:p>
            <a:pPr indent="0" marL="0">
              <a:buNone/>
            </a:pPr>
            <a:r>
              <a:rPr lang="en-US" sz="1100" b="1" dirty="0">
                <a:solidFill>
                  <a:srgbClr val="22D3EE"/>
                </a:solidFill>
                <a:latin typeface="Segoe UI" pitchFamily="34" charset="0"/>
                <a:ea typeface="Segoe UI" pitchFamily="34" charset="-122"/>
                <a:cs typeface="Segoe UI" pitchFamily="34" charset="-120"/>
              </a:rPr>
              <a:t>FEFO BATCH SELECTION IN ACTION</a:t>
            </a:r>
            <a:endParaRPr lang="en-US" sz="1100" dirty="0"/>
          </a:p>
        </p:txBody>
      </p:sp>
      <p:sp>
        <p:nvSpPr>
          <p:cNvPr id="11" name="Text 8"/>
          <p:cNvSpPr/>
          <p:nvPr/>
        </p:nvSpPr>
        <p:spPr>
          <a:xfrm>
            <a:off x="960120" y="2011680"/>
            <a:ext cx="4663440" cy="41148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First Expired, First Out automatically prioritizes eligible active batches with the earliest expiration date:</a:t>
            </a:r>
            <a:endParaRPr lang="en-US" sz="950" dirty="0"/>
          </a:p>
        </p:txBody>
      </p:sp>
      <p:sp>
        <p:nvSpPr>
          <p:cNvPr id="12" name="Shape 9"/>
          <p:cNvSpPr/>
          <p:nvPr/>
        </p:nvSpPr>
        <p:spPr>
          <a:xfrm>
            <a:off x="960120" y="2560320"/>
            <a:ext cx="4663440" cy="960120"/>
          </a:xfrm>
          <a:prstGeom prst="roundRect">
            <a:avLst>
              <a:gd name="adj" fmla="val 5714"/>
            </a:avLst>
          </a:prstGeom>
          <a:solidFill>
            <a:srgbClr val="0B1020"/>
          </a:solidFill>
          <a:ln w="12700">
            <a:solidFill>
              <a:srgbClr val="334155"/>
            </a:solidFill>
            <a:prstDash val="solid"/>
          </a:ln>
        </p:spPr>
      </p:sp>
      <p:sp>
        <p:nvSpPr>
          <p:cNvPr id="13" name="Text 10"/>
          <p:cNvSpPr/>
          <p:nvPr/>
        </p:nvSpPr>
        <p:spPr>
          <a:xfrm>
            <a:off x="1097280" y="2651760"/>
            <a:ext cx="2926080" cy="228600"/>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Batch A (Expires Jan 2027)</a:t>
            </a:r>
            <a:endParaRPr lang="en-US" sz="1050" dirty="0"/>
          </a:p>
        </p:txBody>
      </p:sp>
      <p:sp>
        <p:nvSpPr>
          <p:cNvPr id="14" name="Text 11"/>
          <p:cNvSpPr/>
          <p:nvPr/>
        </p:nvSpPr>
        <p:spPr>
          <a:xfrm>
            <a:off x="3931920" y="0"/>
            <a:ext cx="1554480" cy="228600"/>
          </a:xfrm>
          <a:prstGeom prst="rect">
            <a:avLst/>
          </a:prstGeom>
          <a:noFill/>
          <a:ln/>
        </p:spPr>
        <p:txBody>
          <a:bodyPr wrap="square" rtlCol="0" anchor="ctr"/>
          <a:lstStyle/>
          <a:p>
            <a:pPr algn="r" indent="0" marL="0">
              <a:buNone/>
            </a:pPr>
            <a:r>
              <a:rPr lang="en-US" sz="800" b="1" dirty="0">
                <a:solidFill>
                  <a:srgbClr val="10B981"/>
                </a:solidFill>
                <a:latin typeface="Segoe UI" pitchFamily="34" charset="0"/>
                <a:ea typeface="Segoe UI" pitchFamily="34" charset="-122"/>
                <a:cs typeface="Segoe UI" pitchFamily="34" charset="-120"/>
              </a:rPr>
              <a:t>1ST DISPENSE PRIORITY</a:t>
            </a:r>
            <a:endParaRPr lang="en-US" sz="800" dirty="0"/>
          </a:p>
        </p:txBody>
      </p:sp>
      <p:sp>
        <p:nvSpPr>
          <p:cNvPr id="15" name="Text 12"/>
          <p:cNvSpPr/>
          <p:nvPr/>
        </p:nvSpPr>
        <p:spPr>
          <a:xfrm>
            <a:off x="1097280" y="2944368"/>
            <a:ext cx="4389120" cy="5029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Oldest active stock: selected automatically by query ORDER BY expiry_date ASC.</a:t>
            </a:r>
            <a:endParaRPr lang="en-US" sz="900" dirty="0"/>
          </a:p>
        </p:txBody>
      </p:sp>
      <p:sp>
        <p:nvSpPr>
          <p:cNvPr id="16" name="Shape 13"/>
          <p:cNvSpPr/>
          <p:nvPr/>
        </p:nvSpPr>
        <p:spPr>
          <a:xfrm>
            <a:off x="960120" y="3639312"/>
            <a:ext cx="4663440" cy="960120"/>
          </a:xfrm>
          <a:prstGeom prst="roundRect">
            <a:avLst>
              <a:gd name="adj" fmla="val 5714"/>
            </a:avLst>
          </a:prstGeom>
          <a:solidFill>
            <a:srgbClr val="0B1020"/>
          </a:solidFill>
          <a:ln w="12700">
            <a:solidFill>
              <a:srgbClr val="334155"/>
            </a:solidFill>
            <a:prstDash val="solid"/>
          </a:ln>
        </p:spPr>
      </p:sp>
      <p:sp>
        <p:nvSpPr>
          <p:cNvPr id="17" name="Text 14"/>
          <p:cNvSpPr/>
          <p:nvPr/>
        </p:nvSpPr>
        <p:spPr>
          <a:xfrm>
            <a:off x="1097280" y="3730752"/>
            <a:ext cx="2926080" cy="228600"/>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Batch B (Expires Jun 2027)</a:t>
            </a:r>
            <a:endParaRPr lang="en-US" sz="1050" dirty="0"/>
          </a:p>
        </p:txBody>
      </p:sp>
      <p:sp>
        <p:nvSpPr>
          <p:cNvPr id="18" name="Text 15"/>
          <p:cNvSpPr/>
          <p:nvPr/>
        </p:nvSpPr>
        <p:spPr>
          <a:xfrm>
            <a:off x="3931920" y="0"/>
            <a:ext cx="1554480" cy="228600"/>
          </a:xfrm>
          <a:prstGeom prst="rect">
            <a:avLst/>
          </a:prstGeom>
          <a:noFill/>
          <a:ln/>
        </p:spPr>
        <p:txBody>
          <a:bodyPr wrap="square" rtlCol="0" anchor="ctr"/>
          <a:lstStyle/>
          <a:p>
            <a:pPr algn="r" indent="0" marL="0">
              <a:buNone/>
            </a:pPr>
            <a:r>
              <a:rPr lang="en-US" sz="800" b="1" dirty="0">
                <a:solidFill>
                  <a:srgbClr val="3B82F6"/>
                </a:solidFill>
                <a:latin typeface="Segoe UI" pitchFamily="34" charset="0"/>
                <a:ea typeface="Segoe UI" pitchFamily="34" charset="-122"/>
                <a:cs typeface="Segoe UI" pitchFamily="34" charset="-120"/>
              </a:rPr>
              <a:t>2ND PRIORITY</a:t>
            </a:r>
            <a:endParaRPr lang="en-US" sz="800" dirty="0"/>
          </a:p>
        </p:txBody>
      </p:sp>
      <p:sp>
        <p:nvSpPr>
          <p:cNvPr id="19" name="Text 16"/>
          <p:cNvSpPr/>
          <p:nvPr/>
        </p:nvSpPr>
        <p:spPr>
          <a:xfrm>
            <a:off x="1097280" y="4023360"/>
            <a:ext cx="4389120" cy="5029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Cascaded to only when Batch A available quantity is fully exhausted.</a:t>
            </a:r>
            <a:endParaRPr lang="en-US" sz="900" dirty="0"/>
          </a:p>
        </p:txBody>
      </p:sp>
      <p:sp>
        <p:nvSpPr>
          <p:cNvPr id="20" name="Shape 17"/>
          <p:cNvSpPr/>
          <p:nvPr/>
        </p:nvSpPr>
        <p:spPr>
          <a:xfrm>
            <a:off x="960120" y="4718304"/>
            <a:ext cx="4663440" cy="960120"/>
          </a:xfrm>
          <a:prstGeom prst="roundRect">
            <a:avLst>
              <a:gd name="adj" fmla="val 5714"/>
            </a:avLst>
          </a:prstGeom>
          <a:solidFill>
            <a:srgbClr val="0B1020"/>
          </a:solidFill>
          <a:ln w="12700">
            <a:solidFill>
              <a:srgbClr val="334155"/>
            </a:solidFill>
            <a:prstDash val="solid"/>
          </a:ln>
        </p:spPr>
      </p:sp>
      <p:sp>
        <p:nvSpPr>
          <p:cNvPr id="21" name="Text 18"/>
          <p:cNvSpPr/>
          <p:nvPr/>
        </p:nvSpPr>
        <p:spPr>
          <a:xfrm>
            <a:off x="1097280" y="4809744"/>
            <a:ext cx="2926080" cy="228600"/>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Batch C (Expires Dec 2027)</a:t>
            </a:r>
            <a:endParaRPr lang="en-US" sz="1050" dirty="0"/>
          </a:p>
        </p:txBody>
      </p:sp>
      <p:sp>
        <p:nvSpPr>
          <p:cNvPr id="22" name="Text 19"/>
          <p:cNvSpPr/>
          <p:nvPr/>
        </p:nvSpPr>
        <p:spPr>
          <a:xfrm>
            <a:off x="3931920" y="0"/>
            <a:ext cx="1554480" cy="228600"/>
          </a:xfrm>
          <a:prstGeom prst="rect">
            <a:avLst/>
          </a:prstGeom>
          <a:noFill/>
          <a:ln/>
        </p:spPr>
        <p:txBody>
          <a:bodyPr wrap="square" rtlCol="0" anchor="ctr"/>
          <a:lstStyle/>
          <a:p>
            <a:pPr algn="r" indent="0" marL="0">
              <a:buNone/>
            </a:pPr>
            <a:r>
              <a:rPr lang="en-US" sz="800" b="1" dirty="0">
                <a:solidFill>
                  <a:srgbClr val="94A3B8"/>
                </a:solidFill>
                <a:latin typeface="Segoe UI" pitchFamily="34" charset="0"/>
                <a:ea typeface="Segoe UI" pitchFamily="34" charset="-122"/>
                <a:cs typeface="Segoe UI" pitchFamily="34" charset="-120"/>
              </a:rPr>
              <a:t>RESERVED</a:t>
            </a:r>
            <a:endParaRPr lang="en-US" sz="800" dirty="0"/>
          </a:p>
        </p:txBody>
      </p:sp>
      <p:sp>
        <p:nvSpPr>
          <p:cNvPr id="23" name="Text 20"/>
          <p:cNvSpPr/>
          <p:nvPr/>
        </p:nvSpPr>
        <p:spPr>
          <a:xfrm>
            <a:off x="1097280" y="5102352"/>
            <a:ext cx="4389120" cy="5029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Newest stock: protected from premature dispensing until prior batches sell.</a:t>
            </a:r>
            <a:endParaRPr lang="en-US" sz="900" dirty="0"/>
          </a:p>
        </p:txBody>
      </p:sp>
      <p:sp>
        <p:nvSpPr>
          <p:cNvPr id="24" name="Shape 21"/>
          <p:cNvSpPr/>
          <p:nvPr/>
        </p:nvSpPr>
        <p:spPr>
          <a:xfrm>
            <a:off x="6217920" y="1508760"/>
            <a:ext cx="5239512" cy="4572000"/>
          </a:xfrm>
          <a:prstGeom prst="roundRect">
            <a:avLst>
              <a:gd name="adj" fmla="val 1600"/>
            </a:avLst>
          </a:prstGeom>
          <a:solidFill>
            <a:srgbClr val="111B35"/>
          </a:solidFill>
          <a:ln w="15240">
            <a:solidFill>
              <a:srgbClr val="334155"/>
            </a:solidFill>
            <a:prstDash val="solid"/>
          </a:ln>
        </p:spPr>
      </p:sp>
      <p:sp>
        <p:nvSpPr>
          <p:cNvPr id="25" name="Text 22"/>
          <p:cNvSpPr/>
          <p:nvPr/>
        </p:nvSpPr>
        <p:spPr>
          <a:xfrm>
            <a:off x="6446520" y="1691640"/>
            <a:ext cx="4663440" cy="274320"/>
          </a:xfrm>
          <a:prstGeom prst="rect">
            <a:avLst/>
          </a:prstGeom>
          <a:noFill/>
          <a:ln/>
        </p:spPr>
        <p:txBody>
          <a:bodyPr wrap="square" rtlCol="0" anchor="ctr"/>
          <a:lstStyle/>
          <a:p>
            <a:pPr indent="0" marL="0">
              <a:buNone/>
            </a:pPr>
            <a:r>
              <a:rPr lang="en-US" sz="1100" b="1" dirty="0">
                <a:solidFill>
                  <a:srgbClr val="3B82F6"/>
                </a:solidFill>
                <a:latin typeface="Segoe UI" pitchFamily="34" charset="0"/>
                <a:ea typeface="Segoe UI" pitchFamily="34" charset="-122"/>
                <a:cs typeface="Segoe UI" pitchFamily="34" charset="-120"/>
              </a:rPr>
              <a:t>TWO-STAGE SALES &amp; CHECKOUT WORKFLOW</a:t>
            </a:r>
            <a:endParaRPr lang="en-US" sz="1100" dirty="0"/>
          </a:p>
        </p:txBody>
      </p:sp>
      <p:sp>
        <p:nvSpPr>
          <p:cNvPr id="26" name="Text 23"/>
          <p:cNvSpPr/>
          <p:nvPr/>
        </p:nvSpPr>
        <p:spPr>
          <a:xfrm>
            <a:off x="6446520" y="2103120"/>
            <a:ext cx="4663440" cy="731520"/>
          </a:xfrm>
          <a:prstGeom prst="rect">
            <a:avLst/>
          </a:prstGeom>
          <a:noFill/>
          <a:ln/>
        </p:spPr>
        <p:txBody>
          <a:bodyPr wrap="square" rtlCol="0" anchor="ctr"/>
          <a:lstStyle/>
          <a:p>
            <a:pPr indent="0" marL="0">
              <a:buNone/>
            </a:pPr>
            <a:r>
              <a:rPr lang="en-US" sz="1100" b="1" dirty="0">
                <a:solidFill>
                  <a:srgbClr val="F8FAFC"/>
                </a:solidFill>
                <a:latin typeface="Segoe UI" pitchFamily="34" charset="0"/>
                <a:ea typeface="Segoe UI" pitchFamily="34" charset="-122"/>
                <a:cs typeface="Segoe UI" pitchFamily="34" charset="-120"/>
              </a:rPr>
              <a:t>1. Prescription Staging
</a:t>
            </a:r>
            <a:pPr indent="0" marL="0">
              <a:buNone/>
            </a:pPr>
            <a:r>
              <a:rPr lang="en-US" sz="950" dirty="0">
                <a:solidFill>
                  <a:srgbClr val="94A3B8"/>
                </a:solidFill>
                <a:latin typeface="Segoe UI" pitchFamily="34" charset="0"/>
                <a:ea typeface="Segoe UI" pitchFamily="34" charset="-122"/>
                <a:cs typeface="Segoe UI" pitchFamily="34" charset="-120"/>
              </a:rPr>
              <a:t>Pharmacist verifies dosage, applies FEFO batch allocation, and saves order to pending queue.</a:t>
            </a:r>
            <a:endParaRPr lang="en-US" sz="1100" dirty="0"/>
          </a:p>
        </p:txBody>
      </p:sp>
      <p:sp>
        <p:nvSpPr>
          <p:cNvPr id="27" name="Text 24"/>
          <p:cNvSpPr/>
          <p:nvPr/>
        </p:nvSpPr>
        <p:spPr>
          <a:xfrm>
            <a:off x="6446520" y="2971800"/>
            <a:ext cx="4663440" cy="731520"/>
          </a:xfrm>
          <a:prstGeom prst="rect">
            <a:avLst/>
          </a:prstGeom>
          <a:noFill/>
          <a:ln/>
        </p:spPr>
        <p:txBody>
          <a:bodyPr wrap="square" rtlCol="0" anchor="ctr"/>
          <a:lstStyle/>
          <a:p>
            <a:pPr indent="0" marL="0">
              <a:buNone/>
            </a:pPr>
            <a:r>
              <a:rPr lang="en-US" sz="1100" b="1" dirty="0">
                <a:solidFill>
                  <a:srgbClr val="F8FAFC"/>
                </a:solidFill>
                <a:latin typeface="Segoe UI" pitchFamily="34" charset="0"/>
                <a:ea typeface="Segoe UI" pitchFamily="34" charset="-122"/>
                <a:cs typeface="Segoe UI" pitchFamily="34" charset="-120"/>
              </a:rPr>
              <a:t>2. Cashier POS Pull
</a:t>
            </a:r>
            <a:pPr indent="0" marL="0">
              <a:buNone/>
            </a:pPr>
            <a:r>
              <a:rPr lang="en-US" sz="950" dirty="0">
                <a:solidFill>
                  <a:srgbClr val="94A3B8"/>
                </a:solidFill>
                <a:latin typeface="Segoe UI" pitchFamily="34" charset="0"/>
                <a:ea typeface="Segoe UI" pitchFamily="34" charset="-122"/>
                <a:cs typeface="Segoe UI" pitchFamily="34" charset="-120"/>
              </a:rPr>
              <a:t>Cashier retrieves staged prescription or scans retail OTC barcode directly into shopping cart.</a:t>
            </a:r>
            <a:endParaRPr lang="en-US" sz="1100" dirty="0"/>
          </a:p>
        </p:txBody>
      </p:sp>
      <p:sp>
        <p:nvSpPr>
          <p:cNvPr id="28" name="Text 25"/>
          <p:cNvSpPr/>
          <p:nvPr/>
        </p:nvSpPr>
        <p:spPr>
          <a:xfrm>
            <a:off x="6446520" y="3840480"/>
            <a:ext cx="4663440" cy="731520"/>
          </a:xfrm>
          <a:prstGeom prst="rect">
            <a:avLst/>
          </a:prstGeom>
          <a:noFill/>
          <a:ln/>
        </p:spPr>
        <p:txBody>
          <a:bodyPr wrap="square" rtlCol="0" anchor="ctr"/>
          <a:lstStyle/>
          <a:p>
            <a:pPr indent="0" marL="0">
              <a:buNone/>
            </a:pPr>
            <a:r>
              <a:rPr lang="en-US" sz="1100" b="1" dirty="0">
                <a:solidFill>
                  <a:srgbClr val="F8FAFC"/>
                </a:solidFill>
                <a:latin typeface="Segoe UI" pitchFamily="34" charset="0"/>
                <a:ea typeface="Segoe UI" pitchFamily="34" charset="-122"/>
                <a:cs typeface="Segoe UI" pitchFamily="34" charset="-120"/>
              </a:rPr>
              <a:t>3. Localized Payment
</a:t>
            </a:r>
            <a:pPr indent="0" marL="0">
              <a:buNone/>
            </a:pPr>
            <a:r>
              <a:rPr lang="en-US" sz="950" dirty="0">
                <a:solidFill>
                  <a:srgbClr val="94A3B8"/>
                </a:solidFill>
                <a:latin typeface="Segoe UI" pitchFamily="34" charset="0"/>
                <a:ea typeface="Segoe UI" pitchFamily="34" charset="-122"/>
                <a:cs typeface="Segoe UI" pitchFamily="34" charset="-120"/>
              </a:rPr>
              <a:t>Supports cash, Telebirr, and CBE Birr mobile payment verification channels.</a:t>
            </a:r>
            <a:endParaRPr lang="en-US" sz="1100" dirty="0"/>
          </a:p>
        </p:txBody>
      </p:sp>
      <p:sp>
        <p:nvSpPr>
          <p:cNvPr id="29" name="Text 26"/>
          <p:cNvSpPr/>
          <p:nvPr/>
        </p:nvSpPr>
        <p:spPr>
          <a:xfrm>
            <a:off x="6446520" y="4709160"/>
            <a:ext cx="4663440" cy="731520"/>
          </a:xfrm>
          <a:prstGeom prst="rect">
            <a:avLst/>
          </a:prstGeom>
          <a:noFill/>
          <a:ln/>
        </p:spPr>
        <p:txBody>
          <a:bodyPr wrap="square" rtlCol="0" anchor="ctr"/>
          <a:lstStyle/>
          <a:p>
            <a:pPr indent="0" marL="0">
              <a:buNone/>
            </a:pPr>
            <a:r>
              <a:rPr lang="en-US" sz="1100" b="1" dirty="0">
                <a:solidFill>
                  <a:srgbClr val="F8FAFC"/>
                </a:solidFill>
                <a:latin typeface="Segoe UI" pitchFamily="34" charset="0"/>
                <a:ea typeface="Segoe UI" pitchFamily="34" charset="-122"/>
                <a:cs typeface="Segoe UI" pitchFamily="34" charset="-120"/>
              </a:rPr>
              <a:t>4. Atomic Deduction &amp; Receipt
</a:t>
            </a:r>
            <a:pPr indent="0" marL="0">
              <a:buNone/>
            </a:pPr>
            <a:r>
              <a:rPr lang="en-US" sz="950" dirty="0">
                <a:solidFill>
                  <a:srgbClr val="94A3B8"/>
                </a:solidFill>
                <a:latin typeface="Segoe UI" pitchFamily="34" charset="0"/>
                <a:ea typeface="Segoe UI" pitchFamily="34" charset="-122"/>
                <a:cs typeface="Segoe UI" pitchFamily="34" charset="-120"/>
              </a:rPr>
              <a:t>Pessimistic lock decrements stock, appends ledger row, and prints thermal slip.</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MULTI-BRANCH ARCHITECTURE</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Managing Inventory Across Multiple Branches</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sp>
        <p:nvSpPr>
          <p:cNvPr id="9" name="Shape 6"/>
          <p:cNvSpPr/>
          <p:nvPr/>
        </p:nvSpPr>
        <p:spPr>
          <a:xfrm>
            <a:off x="731520" y="1508760"/>
            <a:ext cx="3429000" cy="2926080"/>
          </a:xfrm>
          <a:prstGeom prst="roundRect">
            <a:avLst>
              <a:gd name="adj" fmla="val 2500"/>
            </a:avLst>
          </a:prstGeom>
          <a:solidFill>
            <a:srgbClr val="111B35"/>
          </a:solidFill>
          <a:ln w="15240">
            <a:solidFill>
              <a:srgbClr val="3B82F6"/>
            </a:solidFill>
            <a:prstDash val="solid"/>
          </a:ln>
        </p:spPr>
      </p:sp>
      <p:sp>
        <p:nvSpPr>
          <p:cNvPr id="10" name="Text 7"/>
          <p:cNvSpPr/>
          <p:nvPr/>
        </p:nvSpPr>
        <p:spPr>
          <a:xfrm>
            <a:off x="960120" y="1691640"/>
            <a:ext cx="2971800" cy="228600"/>
          </a:xfrm>
          <a:prstGeom prst="rect">
            <a:avLst/>
          </a:prstGeom>
          <a:noFill/>
          <a:ln/>
        </p:spPr>
        <p:txBody>
          <a:bodyPr wrap="square" rtlCol="0" anchor="ctr"/>
          <a:lstStyle/>
          <a:p>
            <a:pPr indent="0" marL="0">
              <a:buNone/>
            </a:pPr>
            <a:r>
              <a:rPr lang="en-US" sz="850" b="1" dirty="0">
                <a:solidFill>
                  <a:srgbClr val="22D3EE"/>
                </a:solidFill>
                <a:latin typeface="Segoe UI" pitchFamily="34" charset="0"/>
                <a:ea typeface="Segoe UI" pitchFamily="34" charset="-122"/>
                <a:cs typeface="Segoe UI" pitchFamily="34" charset="-120"/>
              </a:rPr>
              <a:t>LOCATION 1</a:t>
            </a:r>
            <a:endParaRPr lang="en-US" sz="850" dirty="0"/>
          </a:p>
        </p:txBody>
      </p:sp>
      <p:sp>
        <p:nvSpPr>
          <p:cNvPr id="11" name="Text 8"/>
          <p:cNvSpPr/>
          <p:nvPr/>
        </p:nvSpPr>
        <p:spPr>
          <a:xfrm>
            <a:off x="960120" y="1965960"/>
            <a:ext cx="2971800" cy="59436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Branch A: Central Hospital Dispensary</a:t>
            </a:r>
            <a:endParaRPr lang="en-US" sz="1300" dirty="0"/>
          </a:p>
        </p:txBody>
      </p:sp>
      <p:sp>
        <p:nvSpPr>
          <p:cNvPr id="12" name="Text 9"/>
          <p:cNvSpPr/>
          <p:nvPr/>
        </p:nvSpPr>
        <p:spPr>
          <a:xfrm>
            <a:off x="960120" y="2606040"/>
            <a:ext cx="2971800" cy="274320"/>
          </a:xfrm>
          <a:prstGeom prst="rect">
            <a:avLst/>
          </a:prstGeom>
          <a:noFill/>
          <a:ln/>
        </p:spPr>
        <p:txBody>
          <a:bodyPr wrap="square" rtlCol="0" anchor="ctr"/>
          <a:lstStyle/>
          <a:p>
            <a:pPr indent="0" marL="0">
              <a:buNone/>
            </a:pPr>
            <a:r>
              <a:rPr lang="en-US" sz="950" b="1" dirty="0">
                <a:solidFill>
                  <a:srgbClr val="3B82F6"/>
                </a:solidFill>
                <a:latin typeface="Segoe UI" pitchFamily="34" charset="0"/>
                <a:ea typeface="Segoe UI" pitchFamily="34" charset="-122"/>
                <a:cs typeface="Segoe UI" pitchFamily="34" charset="-120"/>
              </a:rPr>
              <a:t>📍 Main Campus, Woldia</a:t>
            </a:r>
            <a:endParaRPr lang="en-US" sz="950" dirty="0"/>
          </a:p>
        </p:txBody>
      </p:sp>
      <p:sp>
        <p:nvSpPr>
          <p:cNvPr id="13" name="Text 10"/>
          <p:cNvSpPr/>
          <p:nvPr/>
        </p:nvSpPr>
        <p:spPr>
          <a:xfrm>
            <a:off x="960120" y="2971800"/>
            <a:ext cx="2971800" cy="1280160"/>
          </a:xfrm>
          <a:prstGeom prst="rect">
            <a:avLst/>
          </a:prstGeom>
          <a:noFill/>
          <a:ln/>
        </p:spPr>
        <p:txBody>
          <a:bodyPr wrap="square" rtlCol="0" anchor="ctr"/>
          <a:lstStyle/>
          <a:p>
            <a:pPr indent="0" marL="0">
              <a:lnSpc>
                <a:spcPct val="120000"/>
              </a:lnSpc>
              <a:buNone/>
            </a:pPr>
            <a:r>
              <a:rPr lang="en-US" sz="950" dirty="0">
                <a:solidFill>
                  <a:srgbClr val="94A3B8"/>
                </a:solidFill>
                <a:latin typeface="Segoe UI" pitchFamily="34" charset="0"/>
                <a:ea typeface="Segoe UI" pitchFamily="34" charset="-122"/>
                <a:cs typeface="Segoe UI" pitchFamily="34" charset="-120"/>
              </a:rPr>
              <a:t>High-volume prescription dispensing &amp; emergency ward stock holding.</a:t>
            </a:r>
            <a:endParaRPr lang="en-US" sz="950" dirty="0"/>
          </a:p>
        </p:txBody>
      </p:sp>
      <p:sp>
        <p:nvSpPr>
          <p:cNvPr id="14" name="Shape 11"/>
          <p:cNvSpPr/>
          <p:nvPr/>
        </p:nvSpPr>
        <p:spPr>
          <a:xfrm>
            <a:off x="4343400" y="1508760"/>
            <a:ext cx="3429000" cy="2926080"/>
          </a:xfrm>
          <a:prstGeom prst="roundRect">
            <a:avLst>
              <a:gd name="adj" fmla="val 2500"/>
            </a:avLst>
          </a:prstGeom>
          <a:solidFill>
            <a:srgbClr val="111B35"/>
          </a:solidFill>
          <a:ln w="15240">
            <a:solidFill>
              <a:srgbClr val="3B82F6"/>
            </a:solidFill>
            <a:prstDash val="solid"/>
          </a:ln>
        </p:spPr>
      </p:sp>
      <p:sp>
        <p:nvSpPr>
          <p:cNvPr id="15" name="Text 12"/>
          <p:cNvSpPr/>
          <p:nvPr/>
        </p:nvSpPr>
        <p:spPr>
          <a:xfrm>
            <a:off x="4572000" y="1691640"/>
            <a:ext cx="2971800" cy="228600"/>
          </a:xfrm>
          <a:prstGeom prst="rect">
            <a:avLst/>
          </a:prstGeom>
          <a:noFill/>
          <a:ln/>
        </p:spPr>
        <p:txBody>
          <a:bodyPr wrap="square" rtlCol="0" anchor="ctr"/>
          <a:lstStyle/>
          <a:p>
            <a:pPr indent="0" marL="0">
              <a:buNone/>
            </a:pPr>
            <a:r>
              <a:rPr lang="en-US" sz="850" b="1" dirty="0">
                <a:solidFill>
                  <a:srgbClr val="22D3EE"/>
                </a:solidFill>
                <a:latin typeface="Segoe UI" pitchFamily="34" charset="0"/>
                <a:ea typeface="Segoe UI" pitchFamily="34" charset="-122"/>
                <a:cs typeface="Segoe UI" pitchFamily="34" charset="-120"/>
              </a:rPr>
              <a:t>LOCATION 2</a:t>
            </a:r>
            <a:endParaRPr lang="en-US" sz="850" dirty="0"/>
          </a:p>
        </p:txBody>
      </p:sp>
      <p:sp>
        <p:nvSpPr>
          <p:cNvPr id="16" name="Text 13"/>
          <p:cNvSpPr/>
          <p:nvPr/>
        </p:nvSpPr>
        <p:spPr>
          <a:xfrm>
            <a:off x="4572000" y="1965960"/>
            <a:ext cx="2971800" cy="59436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Branch B: Community Retail Pharmacy</a:t>
            </a:r>
            <a:endParaRPr lang="en-US" sz="1300" dirty="0"/>
          </a:p>
        </p:txBody>
      </p:sp>
      <p:sp>
        <p:nvSpPr>
          <p:cNvPr id="17" name="Text 14"/>
          <p:cNvSpPr/>
          <p:nvPr/>
        </p:nvSpPr>
        <p:spPr>
          <a:xfrm>
            <a:off x="4572000" y="2606040"/>
            <a:ext cx="2971800" cy="274320"/>
          </a:xfrm>
          <a:prstGeom prst="rect">
            <a:avLst/>
          </a:prstGeom>
          <a:noFill/>
          <a:ln/>
        </p:spPr>
        <p:txBody>
          <a:bodyPr wrap="square" rtlCol="0" anchor="ctr"/>
          <a:lstStyle/>
          <a:p>
            <a:pPr indent="0" marL="0">
              <a:buNone/>
            </a:pPr>
            <a:r>
              <a:rPr lang="en-US" sz="950" b="1" dirty="0">
                <a:solidFill>
                  <a:srgbClr val="3B82F6"/>
                </a:solidFill>
                <a:latin typeface="Segoe UI" pitchFamily="34" charset="0"/>
                <a:ea typeface="Segoe UI" pitchFamily="34" charset="-122"/>
                <a:cs typeface="Segoe UI" pitchFamily="34" charset="-120"/>
              </a:rPr>
              <a:t>📍 Downtown Commercial Center</a:t>
            </a:r>
            <a:endParaRPr lang="en-US" sz="950" dirty="0"/>
          </a:p>
        </p:txBody>
      </p:sp>
      <p:sp>
        <p:nvSpPr>
          <p:cNvPr id="18" name="Text 15"/>
          <p:cNvSpPr/>
          <p:nvPr/>
        </p:nvSpPr>
        <p:spPr>
          <a:xfrm>
            <a:off x="4572000" y="2971800"/>
            <a:ext cx="2971800" cy="1280160"/>
          </a:xfrm>
          <a:prstGeom prst="rect">
            <a:avLst/>
          </a:prstGeom>
          <a:noFill/>
          <a:ln/>
        </p:spPr>
        <p:txBody>
          <a:bodyPr wrap="square" rtlCol="0" anchor="ctr"/>
          <a:lstStyle/>
          <a:p>
            <a:pPr indent="0" marL="0">
              <a:lnSpc>
                <a:spcPct val="120000"/>
              </a:lnSpc>
              <a:buNone/>
            </a:pPr>
            <a:r>
              <a:rPr lang="en-US" sz="950" dirty="0">
                <a:solidFill>
                  <a:srgbClr val="94A3B8"/>
                </a:solidFill>
                <a:latin typeface="Segoe UI" pitchFamily="34" charset="0"/>
                <a:ea typeface="Segoe UI" pitchFamily="34" charset="-122"/>
                <a:cs typeface="Segoe UI" pitchFamily="34" charset="-120"/>
              </a:rPr>
              <a:t>Retail OTC counter sales, fast-moving analgesics, and walk-in patients.</a:t>
            </a:r>
            <a:endParaRPr lang="en-US" sz="950" dirty="0"/>
          </a:p>
        </p:txBody>
      </p:sp>
      <p:sp>
        <p:nvSpPr>
          <p:cNvPr id="19" name="Shape 16"/>
          <p:cNvSpPr/>
          <p:nvPr/>
        </p:nvSpPr>
        <p:spPr>
          <a:xfrm>
            <a:off x="7955280" y="1508760"/>
            <a:ext cx="3429000" cy="2926080"/>
          </a:xfrm>
          <a:prstGeom prst="roundRect">
            <a:avLst>
              <a:gd name="adj" fmla="val 2500"/>
            </a:avLst>
          </a:prstGeom>
          <a:solidFill>
            <a:srgbClr val="111B35"/>
          </a:solidFill>
          <a:ln w="15240">
            <a:solidFill>
              <a:srgbClr val="3B82F6"/>
            </a:solidFill>
            <a:prstDash val="solid"/>
          </a:ln>
        </p:spPr>
      </p:sp>
      <p:sp>
        <p:nvSpPr>
          <p:cNvPr id="20" name="Text 17"/>
          <p:cNvSpPr/>
          <p:nvPr/>
        </p:nvSpPr>
        <p:spPr>
          <a:xfrm>
            <a:off x="8183880" y="1691640"/>
            <a:ext cx="2971800" cy="228600"/>
          </a:xfrm>
          <a:prstGeom prst="rect">
            <a:avLst/>
          </a:prstGeom>
          <a:noFill/>
          <a:ln/>
        </p:spPr>
        <p:txBody>
          <a:bodyPr wrap="square" rtlCol="0" anchor="ctr"/>
          <a:lstStyle/>
          <a:p>
            <a:pPr indent="0" marL="0">
              <a:buNone/>
            </a:pPr>
            <a:r>
              <a:rPr lang="en-US" sz="850" b="1" dirty="0">
                <a:solidFill>
                  <a:srgbClr val="22D3EE"/>
                </a:solidFill>
                <a:latin typeface="Segoe UI" pitchFamily="34" charset="0"/>
                <a:ea typeface="Segoe UI" pitchFamily="34" charset="-122"/>
                <a:cs typeface="Segoe UI" pitchFamily="34" charset="-120"/>
              </a:rPr>
              <a:t>LOCATION 3</a:t>
            </a:r>
            <a:endParaRPr lang="en-US" sz="850" dirty="0"/>
          </a:p>
        </p:txBody>
      </p:sp>
      <p:sp>
        <p:nvSpPr>
          <p:cNvPr id="21" name="Text 18"/>
          <p:cNvSpPr/>
          <p:nvPr/>
        </p:nvSpPr>
        <p:spPr>
          <a:xfrm>
            <a:off x="8183880" y="1965960"/>
            <a:ext cx="2971800" cy="59436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Branch C: Central Supply Warehouse</a:t>
            </a:r>
            <a:endParaRPr lang="en-US" sz="1300" dirty="0"/>
          </a:p>
        </p:txBody>
      </p:sp>
      <p:sp>
        <p:nvSpPr>
          <p:cNvPr id="22" name="Text 19"/>
          <p:cNvSpPr/>
          <p:nvPr/>
        </p:nvSpPr>
        <p:spPr>
          <a:xfrm>
            <a:off x="8183880" y="2606040"/>
            <a:ext cx="2971800" cy="274320"/>
          </a:xfrm>
          <a:prstGeom prst="rect">
            <a:avLst/>
          </a:prstGeom>
          <a:noFill/>
          <a:ln/>
        </p:spPr>
        <p:txBody>
          <a:bodyPr wrap="square" rtlCol="0" anchor="ctr"/>
          <a:lstStyle/>
          <a:p>
            <a:pPr indent="0" marL="0">
              <a:buNone/>
            </a:pPr>
            <a:r>
              <a:rPr lang="en-US" sz="950" b="1" dirty="0">
                <a:solidFill>
                  <a:srgbClr val="3B82F6"/>
                </a:solidFill>
                <a:latin typeface="Segoe UI" pitchFamily="34" charset="0"/>
                <a:ea typeface="Segoe UI" pitchFamily="34" charset="-122"/>
                <a:cs typeface="Segoe UI" pitchFamily="34" charset="-120"/>
              </a:rPr>
              <a:t>📍 Logistics Hub</a:t>
            </a:r>
            <a:endParaRPr lang="en-US" sz="950" dirty="0"/>
          </a:p>
        </p:txBody>
      </p:sp>
      <p:sp>
        <p:nvSpPr>
          <p:cNvPr id="23" name="Text 20"/>
          <p:cNvSpPr/>
          <p:nvPr/>
        </p:nvSpPr>
        <p:spPr>
          <a:xfrm>
            <a:off x="8183880" y="2971800"/>
            <a:ext cx="2971800" cy="1280160"/>
          </a:xfrm>
          <a:prstGeom prst="rect">
            <a:avLst/>
          </a:prstGeom>
          <a:noFill/>
          <a:ln/>
        </p:spPr>
        <p:txBody>
          <a:bodyPr wrap="square" rtlCol="0" anchor="ctr"/>
          <a:lstStyle/>
          <a:p>
            <a:pPr indent="0" marL="0">
              <a:lnSpc>
                <a:spcPct val="120000"/>
              </a:lnSpc>
              <a:buNone/>
            </a:pPr>
            <a:r>
              <a:rPr lang="en-US" sz="950" dirty="0">
                <a:solidFill>
                  <a:srgbClr val="94A3B8"/>
                </a:solidFill>
                <a:latin typeface="Segoe UI" pitchFamily="34" charset="0"/>
                <a:ea typeface="Segoe UI" pitchFamily="34" charset="-122"/>
                <a:cs typeface="Segoe UI" pitchFamily="34" charset="-120"/>
              </a:rPr>
              <a:t>Bulk procurement receiving, quarantined deliveries, and distribution buffer.</a:t>
            </a:r>
            <a:endParaRPr lang="en-US" sz="950" dirty="0"/>
          </a:p>
        </p:txBody>
      </p:sp>
      <p:sp>
        <p:nvSpPr>
          <p:cNvPr id="24" name="Shape 21"/>
          <p:cNvSpPr/>
          <p:nvPr/>
        </p:nvSpPr>
        <p:spPr>
          <a:xfrm>
            <a:off x="731520" y="4663440"/>
            <a:ext cx="10725912" cy="1417320"/>
          </a:xfrm>
          <a:prstGeom prst="roundRect">
            <a:avLst>
              <a:gd name="adj" fmla="val 5161"/>
            </a:avLst>
          </a:prstGeom>
          <a:solidFill>
            <a:srgbClr val="111B35"/>
          </a:solidFill>
          <a:ln w="12700">
            <a:solidFill>
              <a:srgbClr val="22D3EE"/>
            </a:solidFill>
            <a:prstDash val="solid"/>
          </a:ln>
        </p:spPr>
      </p:sp>
      <p:sp>
        <p:nvSpPr>
          <p:cNvPr id="25" name="Text 22"/>
          <p:cNvSpPr/>
          <p:nvPr/>
        </p:nvSpPr>
        <p:spPr>
          <a:xfrm>
            <a:off x="1005840" y="4800600"/>
            <a:ext cx="10149840" cy="228600"/>
          </a:xfrm>
          <a:prstGeom prst="rect">
            <a:avLst/>
          </a:prstGeom>
          <a:noFill/>
          <a:ln/>
        </p:spPr>
        <p:txBody>
          <a:bodyPr wrap="square" rtlCol="0" anchor="ctr"/>
          <a:lstStyle/>
          <a:p>
            <a:pPr indent="0" marL="0">
              <a:buNone/>
            </a:pPr>
            <a:r>
              <a:rPr lang="en-US" sz="950" b="1" dirty="0">
                <a:solidFill>
                  <a:srgbClr val="22D3EE"/>
                </a:solidFill>
                <a:latin typeface="Segoe UI" pitchFamily="34" charset="0"/>
                <a:ea typeface="Segoe UI" pitchFamily="34" charset="-122"/>
                <a:cs typeface="Segoe UI" pitchFamily="34" charset="-120"/>
              </a:rPr>
              <a:t>CENTRALIZED MULTI-BRANCH CAPABILITIES IN EPIMS</a:t>
            </a:r>
            <a:endParaRPr lang="en-US" sz="950" dirty="0"/>
          </a:p>
        </p:txBody>
      </p:sp>
      <p:sp>
        <p:nvSpPr>
          <p:cNvPr id="26" name="Text 23"/>
          <p:cNvSpPr/>
          <p:nvPr/>
        </p:nvSpPr>
        <p:spPr>
          <a:xfrm>
            <a:off x="1005840" y="5074920"/>
            <a:ext cx="10149840" cy="868680"/>
          </a:xfrm>
          <a:prstGeom prst="rect">
            <a:avLst/>
          </a:prstGeom>
          <a:noFill/>
          <a:ln/>
        </p:spPr>
        <p:txBody>
          <a:bodyPr wrap="square" rtlCol="0" anchor="ctr"/>
          <a:lstStyle/>
          <a:p>
            <a:pPr indent="0" marL="0">
              <a:lnSpc>
                <a:spcPct val="120000"/>
              </a:lnSpc>
              <a:buNone/>
            </a:pPr>
            <a:r>
              <a:rPr lang="en-US" sz="950" dirty="0">
                <a:solidFill>
                  <a:srgbClr val="F8FAFC"/>
                </a:solidFill>
                <a:latin typeface="Segoe UI" pitchFamily="34" charset="0"/>
                <a:ea typeface="Segoe UI" pitchFamily="34" charset="-122"/>
                <a:cs typeface="Segoe UI" pitchFamily="34" charset="-120"/>
              </a:rPr>
              <a:t>• Distinguishable Stock Ownership: Database migrations link inventory, retail products, and shelves to specific `branch_id` records.</a:t>
            </a:r>
            <a:endParaRPr lang="en-US" sz="950" dirty="0"/>
          </a:p>
          <a:p>
            <a:pPr indent="0" marL="0">
              <a:lnSpc>
                <a:spcPct val="120000"/>
              </a:lnSpc>
              <a:buNone/>
            </a:pPr>
            <a:r>
              <a:rPr lang="en-US" sz="950" dirty="0">
                <a:solidFill>
                  <a:srgbClr val="F8FAFC"/>
                </a:solidFill>
                <a:latin typeface="Segoe UI" pitchFamily="34" charset="0"/>
                <a:ea typeface="Segoe UI" pitchFamily="34" charset="-122"/>
                <a:cs typeface="Segoe UI" pitchFamily="34" charset="-120"/>
              </a:rPr>
              <a:t>• Inter-Branch Stock Transfers: `stock_transfers` table records source, destination, transferred quantity, and approval timestamps.</a:t>
            </a:r>
            <a:endParaRPr lang="en-US" sz="950" dirty="0"/>
          </a:p>
          <a:p>
            <a:pPr indent="0" marL="0">
              <a:lnSpc>
                <a:spcPct val="120000"/>
              </a:lnSpc>
              <a:buNone/>
            </a:pPr>
            <a:r>
              <a:rPr lang="en-US" sz="950" dirty="0">
                <a:solidFill>
                  <a:srgbClr val="F8FAFC"/>
                </a:solidFill>
                <a:latin typeface="Segoe UI" pitchFamily="34" charset="0"/>
                <a:ea typeface="Segoe UI" pitchFamily="34" charset="-122"/>
                <a:cs typeface="Segoe UI" pitchFamily="34" charset="-120"/>
              </a:rPr>
              <a:t>• Centralized Administrative Governance: Executive dashboards allow administrators to monitor stock valuation and sales volume across all branches simultaneously.</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USER INTERFACE &amp; DASHBOARD</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A Clear View of Pharmacy Operations</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sp>
        <p:nvSpPr>
          <p:cNvPr id="9" name="Shape 6"/>
          <p:cNvSpPr/>
          <p:nvPr/>
        </p:nvSpPr>
        <p:spPr>
          <a:xfrm>
            <a:off x="731520" y="1508760"/>
            <a:ext cx="5239512" cy="4572000"/>
          </a:xfrm>
          <a:prstGeom prst="roundRect">
            <a:avLst>
              <a:gd name="adj" fmla="val 1600"/>
            </a:avLst>
          </a:prstGeom>
          <a:solidFill>
            <a:srgbClr val="111B35"/>
          </a:solidFill>
          <a:ln w="15240">
            <a:solidFill>
              <a:srgbClr val="334155"/>
            </a:solidFill>
            <a:prstDash val="solid"/>
          </a:ln>
        </p:spPr>
      </p:sp>
      <p:sp>
        <p:nvSpPr>
          <p:cNvPr id="10" name="Text 7"/>
          <p:cNvSpPr/>
          <p:nvPr/>
        </p:nvSpPr>
        <p:spPr>
          <a:xfrm>
            <a:off x="960120" y="1691640"/>
            <a:ext cx="4663440" cy="274320"/>
          </a:xfrm>
          <a:prstGeom prst="rect">
            <a:avLst/>
          </a:prstGeom>
          <a:noFill/>
          <a:ln/>
        </p:spPr>
        <p:txBody>
          <a:bodyPr wrap="square" rtlCol="0" anchor="ctr"/>
          <a:lstStyle/>
          <a:p>
            <a:pPr indent="0" marL="0">
              <a:buNone/>
            </a:pPr>
            <a:r>
              <a:rPr lang="en-US" sz="1100" b="1" dirty="0">
                <a:solidFill>
                  <a:srgbClr val="22D3EE"/>
                </a:solidFill>
                <a:latin typeface="Segoe UI" pitchFamily="34" charset="0"/>
                <a:ea typeface="Segoe UI" pitchFamily="34" charset="-122"/>
                <a:cs typeface="Segoe UI" pitchFamily="34" charset="-120"/>
              </a:rPr>
              <a:t>CORE OPERATIONAL INDICATORS</a:t>
            </a:r>
            <a:endParaRPr lang="en-US" sz="1100" dirty="0"/>
          </a:p>
        </p:txBody>
      </p:sp>
      <p:sp>
        <p:nvSpPr>
          <p:cNvPr id="11" name="Text 8"/>
          <p:cNvSpPr/>
          <p:nvPr/>
        </p:nvSpPr>
        <p:spPr>
          <a:xfrm>
            <a:off x="960120" y="2103120"/>
            <a:ext cx="4663440" cy="640080"/>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  Total Active Medicines
</a:t>
            </a:r>
            <a:pPr indent="0" marL="0">
              <a:buNone/>
            </a:pPr>
            <a:r>
              <a:rPr lang="en-US" sz="950" dirty="0">
                <a:solidFill>
                  <a:srgbClr val="94A3B8"/>
                </a:solidFill>
                <a:latin typeface="Segoe UI" pitchFamily="34" charset="0"/>
                <a:ea typeface="Segoe UI" pitchFamily="34" charset="-122"/>
                <a:cs typeface="Segoe UI" pitchFamily="34" charset="-120"/>
              </a:rPr>
              <a:t>    Live aggregation of registered pharmaceutical products.</a:t>
            </a:r>
            <a:endParaRPr lang="en-US" sz="1050" dirty="0"/>
          </a:p>
        </p:txBody>
      </p:sp>
      <p:sp>
        <p:nvSpPr>
          <p:cNvPr id="12" name="Text 9"/>
          <p:cNvSpPr/>
          <p:nvPr/>
        </p:nvSpPr>
        <p:spPr>
          <a:xfrm>
            <a:off x="960120" y="2816352"/>
            <a:ext cx="4663440" cy="640080"/>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  Low-Stock Reorder Alerts
</a:t>
            </a:r>
            <a:pPr indent="0" marL="0">
              <a:buNone/>
            </a:pPr>
            <a:r>
              <a:rPr lang="en-US" sz="950" dirty="0">
                <a:solidFill>
                  <a:srgbClr val="94A3B8"/>
                </a:solidFill>
                <a:latin typeface="Segoe UI" pitchFamily="34" charset="0"/>
                <a:ea typeface="Segoe UI" pitchFamily="34" charset="-122"/>
                <a:cs typeface="Segoe UI" pitchFamily="34" charset="-120"/>
              </a:rPr>
              <a:t>    Items currently below their defined reorder threshold.</a:t>
            </a:r>
            <a:endParaRPr lang="en-US" sz="1050" dirty="0"/>
          </a:p>
        </p:txBody>
      </p:sp>
      <p:sp>
        <p:nvSpPr>
          <p:cNvPr id="13" name="Text 10"/>
          <p:cNvSpPr/>
          <p:nvPr/>
        </p:nvSpPr>
        <p:spPr>
          <a:xfrm>
            <a:off x="960120" y="3529584"/>
            <a:ext cx="4663440" cy="640080"/>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  Near-Expiry Batches (&lt;90 Days)
</a:t>
            </a:r>
            <a:pPr indent="0" marL="0">
              <a:buNone/>
            </a:pPr>
            <a:r>
              <a:rPr lang="en-US" sz="950" dirty="0">
                <a:solidFill>
                  <a:srgbClr val="94A3B8"/>
                </a:solidFill>
                <a:latin typeface="Segoe UI" pitchFamily="34" charset="0"/>
                <a:ea typeface="Segoe UI" pitchFamily="34" charset="-122"/>
                <a:cs typeface="Segoe UI" pitchFamily="34" charset="-120"/>
              </a:rPr>
              <a:t>    Batches nearing expiration highlighted for immediate FEFO sale.</a:t>
            </a:r>
            <a:endParaRPr lang="en-US" sz="1050" dirty="0"/>
          </a:p>
        </p:txBody>
      </p:sp>
      <p:sp>
        <p:nvSpPr>
          <p:cNvPr id="14" name="Text 11"/>
          <p:cNvSpPr/>
          <p:nvPr/>
        </p:nvSpPr>
        <p:spPr>
          <a:xfrm>
            <a:off x="960120" y="4242816"/>
            <a:ext cx="4663440" cy="640080"/>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  Daily Revenue &amp; POS Sales
</a:t>
            </a:r>
            <a:pPr indent="0" marL="0">
              <a:buNone/>
            </a:pPr>
            <a:r>
              <a:rPr lang="en-US" sz="950" dirty="0">
                <a:solidFill>
                  <a:srgbClr val="94A3B8"/>
                </a:solidFill>
                <a:latin typeface="Segoe UI" pitchFamily="34" charset="0"/>
                <a:ea typeface="Segoe UI" pitchFamily="34" charset="-122"/>
                <a:cs typeface="Segoe UI" pitchFamily="34" charset="-120"/>
              </a:rPr>
              <a:t>    Live financial tracking across Telebirr, CBE Birr, and cash.</a:t>
            </a:r>
            <a:endParaRPr lang="en-US" sz="1050" dirty="0"/>
          </a:p>
        </p:txBody>
      </p:sp>
      <p:sp>
        <p:nvSpPr>
          <p:cNvPr id="15" name="Text 12"/>
          <p:cNvSpPr/>
          <p:nvPr/>
        </p:nvSpPr>
        <p:spPr>
          <a:xfrm>
            <a:off x="960120" y="4956048"/>
            <a:ext cx="4663440" cy="640080"/>
          </a:xfrm>
          <a:prstGeom prst="rect">
            <a:avLst/>
          </a:prstGeom>
          <a:noFill/>
          <a:ln/>
        </p:spPr>
        <p:txBody>
          <a:bodyPr wrap="square" rtlCol="0" anchor="ctr"/>
          <a:lstStyle/>
          <a:p>
            <a:pPr indent="0" marL="0">
              <a:buNone/>
            </a:pPr>
            <a:r>
              <a:rPr lang="en-US" sz="1050" b="1" dirty="0">
                <a:solidFill>
                  <a:srgbClr val="F8FAFC"/>
                </a:solidFill>
                <a:latin typeface="Segoe UI" pitchFamily="34" charset="0"/>
                <a:ea typeface="Segoe UI" pitchFamily="34" charset="-122"/>
                <a:cs typeface="Segoe UI" pitchFamily="34" charset="-120"/>
              </a:rPr>
              <a:t>•  Pending Prescription Queue
</a:t>
            </a:r>
            <a:pPr indent="0" marL="0">
              <a:buNone/>
            </a:pPr>
            <a:r>
              <a:rPr lang="en-US" sz="950" dirty="0">
                <a:solidFill>
                  <a:srgbClr val="94A3B8"/>
                </a:solidFill>
                <a:latin typeface="Segoe UI" pitchFamily="34" charset="0"/>
                <a:ea typeface="Segoe UI" pitchFamily="34" charset="-122"/>
                <a:cs typeface="Segoe UI" pitchFamily="34" charset="-120"/>
              </a:rPr>
              <a:t>    Staged orders awaiting cashier counter payment finalization.</a:t>
            </a:r>
            <a:endParaRPr lang="en-US" sz="1050" dirty="0"/>
          </a:p>
        </p:txBody>
      </p:sp>
      <p:sp>
        <p:nvSpPr>
          <p:cNvPr id="16" name="Shape 13"/>
          <p:cNvSpPr/>
          <p:nvPr/>
        </p:nvSpPr>
        <p:spPr>
          <a:xfrm>
            <a:off x="6217920" y="1508760"/>
            <a:ext cx="5239512" cy="4572000"/>
          </a:xfrm>
          <a:prstGeom prst="roundRect">
            <a:avLst>
              <a:gd name="adj" fmla="val 1600"/>
            </a:avLst>
          </a:prstGeom>
          <a:solidFill>
            <a:srgbClr val="111B35"/>
          </a:solidFill>
          <a:ln w="15240">
            <a:solidFill>
              <a:srgbClr val="3B82F6"/>
            </a:solidFill>
            <a:prstDash val="solid"/>
          </a:ln>
        </p:spPr>
      </p:sp>
      <p:sp>
        <p:nvSpPr>
          <p:cNvPr id="17" name="Text 14"/>
          <p:cNvSpPr/>
          <p:nvPr/>
        </p:nvSpPr>
        <p:spPr>
          <a:xfrm>
            <a:off x="6446520" y="1691640"/>
            <a:ext cx="4663440" cy="274320"/>
          </a:xfrm>
          <a:prstGeom prst="rect">
            <a:avLst/>
          </a:prstGeom>
          <a:noFill/>
          <a:ln/>
        </p:spPr>
        <p:txBody>
          <a:bodyPr wrap="square" rtlCol="0" anchor="ctr"/>
          <a:lstStyle/>
          <a:p>
            <a:pPr indent="0" marL="0">
              <a:buNone/>
            </a:pPr>
            <a:r>
              <a:rPr lang="en-US" sz="1100" b="1" dirty="0">
                <a:solidFill>
                  <a:srgbClr val="3B82F6"/>
                </a:solidFill>
                <a:latin typeface="Segoe UI" pitchFamily="34" charset="0"/>
                <a:ea typeface="Segoe UI" pitchFamily="34" charset="-122"/>
                <a:cs typeface="Segoe UI" pitchFamily="34" charset="-120"/>
              </a:rPr>
              <a:t>PORTAL LANDING PAGE SCREENSHOT</a:t>
            </a:r>
            <a:endParaRPr lang="en-US" sz="1100" dirty="0"/>
          </a:p>
        </p:txBody>
      </p:sp>
      <p:pic>
        <p:nvPicPr>
          <p:cNvPr id="18" name="Image 0" descr="c:\Users\rukn alzmarad\Desktop\kidist-recovery\public\images\landing page.png">    </p:cNvPr>
          <p:cNvPicPr>
            <a:picLocks noChangeAspect="1"/>
          </p:cNvPicPr>
          <p:nvPr/>
        </p:nvPicPr>
        <p:blipFill>
          <a:blip r:embed="rId1"/>
          <a:stretch>
            <a:fillRect/>
          </a:stretch>
        </p:blipFill>
        <p:spPr>
          <a:xfrm>
            <a:off x="6446520" y="2057400"/>
            <a:ext cx="4782312" cy="37947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LIVE DEMONSTRATION PLAN</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From Medicine Records to Inventory Operations</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sp>
        <p:nvSpPr>
          <p:cNvPr id="9" name="Shape 6"/>
          <p:cNvSpPr/>
          <p:nvPr/>
        </p:nvSpPr>
        <p:spPr>
          <a:xfrm>
            <a:off x="731520" y="1508760"/>
            <a:ext cx="5239512" cy="1024128"/>
          </a:xfrm>
          <a:prstGeom prst="roundRect">
            <a:avLst>
              <a:gd name="adj" fmla="val 7143"/>
            </a:avLst>
          </a:prstGeom>
          <a:solidFill>
            <a:srgbClr val="111B35"/>
          </a:solidFill>
          <a:ln w="12700">
            <a:solidFill>
              <a:srgbClr val="334155"/>
            </a:solidFill>
            <a:prstDash val="solid"/>
          </a:ln>
        </p:spPr>
      </p:sp>
      <p:sp>
        <p:nvSpPr>
          <p:cNvPr id="10" name="Shape 7"/>
          <p:cNvSpPr/>
          <p:nvPr/>
        </p:nvSpPr>
        <p:spPr>
          <a:xfrm>
            <a:off x="868680" y="1673352"/>
            <a:ext cx="457200" cy="457200"/>
          </a:xfrm>
          <a:prstGeom prst="roundRect">
            <a:avLst>
              <a:gd name="adj" fmla="val 12000"/>
            </a:avLst>
          </a:prstGeom>
          <a:solidFill>
            <a:srgbClr val="0B1020"/>
          </a:solidFill>
          <a:ln w="12700">
            <a:solidFill>
              <a:srgbClr val="3B82F6"/>
            </a:solidFill>
            <a:prstDash val="solid"/>
          </a:ln>
        </p:spPr>
      </p:sp>
      <p:sp>
        <p:nvSpPr>
          <p:cNvPr id="11" name="Text 8"/>
          <p:cNvSpPr/>
          <p:nvPr/>
        </p:nvSpPr>
        <p:spPr>
          <a:xfrm>
            <a:off x="868680" y="1673352"/>
            <a:ext cx="457200" cy="457200"/>
          </a:xfrm>
          <a:prstGeom prst="rect">
            <a:avLst/>
          </a:prstGeom>
          <a:noFill/>
          <a:ln/>
        </p:spPr>
        <p:txBody>
          <a:bodyPr wrap="square" rtlCol="0" anchor="ctr"/>
          <a:lstStyle/>
          <a:p>
            <a:pPr algn="ctr" indent="0" marL="0">
              <a:buNone/>
            </a:pPr>
            <a:r>
              <a:rPr lang="en-US" sz="1100" b="1" dirty="0">
                <a:solidFill>
                  <a:srgbClr val="22D3EE"/>
                </a:solidFill>
                <a:latin typeface="Segoe UI" pitchFamily="34" charset="0"/>
                <a:ea typeface="Segoe UI" pitchFamily="34" charset="-122"/>
                <a:cs typeface="Segoe UI" pitchFamily="34" charset="-120"/>
              </a:rPr>
              <a:t>01</a:t>
            </a:r>
            <a:endParaRPr lang="en-US" sz="1100" dirty="0"/>
          </a:p>
        </p:txBody>
      </p:sp>
      <p:sp>
        <p:nvSpPr>
          <p:cNvPr id="12" name="Text 9"/>
          <p:cNvSpPr/>
          <p:nvPr/>
        </p:nvSpPr>
        <p:spPr>
          <a:xfrm>
            <a:off x="1463040" y="1645920"/>
            <a:ext cx="4343400" cy="274320"/>
          </a:xfrm>
          <a:prstGeom prst="rect">
            <a:avLst/>
          </a:prstGeom>
          <a:noFill/>
          <a:ln/>
        </p:spPr>
        <p:txBody>
          <a:bodyPr wrap="square" rtlCol="0" anchor="ctr"/>
          <a:lstStyle/>
          <a:p>
            <a:pPr indent="0" marL="0">
              <a:buNone/>
            </a:pPr>
            <a:r>
              <a:rPr lang="en-US" sz="1150" b="1" dirty="0">
                <a:solidFill>
                  <a:srgbClr val="F8FAFC"/>
                </a:solidFill>
                <a:latin typeface="Segoe UI" pitchFamily="34" charset="0"/>
                <a:ea typeface="Segoe UI" pitchFamily="34" charset="-122"/>
                <a:cs typeface="Segoe UI" pitchFamily="34" charset="-120"/>
              </a:rPr>
              <a:t>Authentication &amp; Login</a:t>
            </a:r>
            <a:endParaRPr lang="en-US" sz="1150" dirty="0"/>
          </a:p>
        </p:txBody>
      </p:sp>
      <p:sp>
        <p:nvSpPr>
          <p:cNvPr id="13" name="Text 10"/>
          <p:cNvSpPr/>
          <p:nvPr/>
        </p:nvSpPr>
        <p:spPr>
          <a:xfrm>
            <a:off x="1463040" y="1947672"/>
            <a:ext cx="4343400" cy="5029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Sign in with role credentials, demonstrating Sanctum token issuance &amp; approval gate.</a:t>
            </a:r>
            <a:endParaRPr lang="en-US" sz="950" dirty="0"/>
          </a:p>
        </p:txBody>
      </p:sp>
      <p:sp>
        <p:nvSpPr>
          <p:cNvPr id="14" name="Shape 11"/>
          <p:cNvSpPr/>
          <p:nvPr/>
        </p:nvSpPr>
        <p:spPr>
          <a:xfrm>
            <a:off x="6217920" y="1508760"/>
            <a:ext cx="5239512" cy="1024128"/>
          </a:xfrm>
          <a:prstGeom prst="roundRect">
            <a:avLst>
              <a:gd name="adj" fmla="val 7143"/>
            </a:avLst>
          </a:prstGeom>
          <a:solidFill>
            <a:srgbClr val="111B35"/>
          </a:solidFill>
          <a:ln w="12700">
            <a:solidFill>
              <a:srgbClr val="334155"/>
            </a:solidFill>
            <a:prstDash val="solid"/>
          </a:ln>
        </p:spPr>
      </p:sp>
      <p:sp>
        <p:nvSpPr>
          <p:cNvPr id="15" name="Shape 12"/>
          <p:cNvSpPr/>
          <p:nvPr/>
        </p:nvSpPr>
        <p:spPr>
          <a:xfrm>
            <a:off x="6355080" y="1673352"/>
            <a:ext cx="457200" cy="457200"/>
          </a:xfrm>
          <a:prstGeom prst="roundRect">
            <a:avLst>
              <a:gd name="adj" fmla="val 12000"/>
            </a:avLst>
          </a:prstGeom>
          <a:solidFill>
            <a:srgbClr val="0B1020"/>
          </a:solidFill>
          <a:ln w="12700">
            <a:solidFill>
              <a:srgbClr val="3B82F6"/>
            </a:solidFill>
            <a:prstDash val="solid"/>
          </a:ln>
        </p:spPr>
      </p:sp>
      <p:sp>
        <p:nvSpPr>
          <p:cNvPr id="16" name="Text 13"/>
          <p:cNvSpPr/>
          <p:nvPr/>
        </p:nvSpPr>
        <p:spPr>
          <a:xfrm>
            <a:off x="6355080" y="1673352"/>
            <a:ext cx="457200" cy="457200"/>
          </a:xfrm>
          <a:prstGeom prst="rect">
            <a:avLst/>
          </a:prstGeom>
          <a:noFill/>
          <a:ln/>
        </p:spPr>
        <p:txBody>
          <a:bodyPr wrap="square" rtlCol="0" anchor="ctr"/>
          <a:lstStyle/>
          <a:p>
            <a:pPr algn="ctr" indent="0" marL="0">
              <a:buNone/>
            </a:pPr>
            <a:r>
              <a:rPr lang="en-US" sz="1100" b="1" dirty="0">
                <a:solidFill>
                  <a:srgbClr val="22D3EE"/>
                </a:solidFill>
                <a:latin typeface="Segoe UI" pitchFamily="34" charset="0"/>
                <a:ea typeface="Segoe UI" pitchFamily="34" charset="-122"/>
                <a:cs typeface="Segoe UI" pitchFamily="34" charset="-120"/>
              </a:rPr>
              <a:t>02</a:t>
            </a:r>
            <a:endParaRPr lang="en-US" sz="1100" dirty="0"/>
          </a:p>
        </p:txBody>
      </p:sp>
      <p:sp>
        <p:nvSpPr>
          <p:cNvPr id="17" name="Text 14"/>
          <p:cNvSpPr/>
          <p:nvPr/>
        </p:nvSpPr>
        <p:spPr>
          <a:xfrm>
            <a:off x="6949440" y="1645920"/>
            <a:ext cx="4343400" cy="274320"/>
          </a:xfrm>
          <a:prstGeom prst="rect">
            <a:avLst/>
          </a:prstGeom>
          <a:noFill/>
          <a:ln/>
        </p:spPr>
        <p:txBody>
          <a:bodyPr wrap="square" rtlCol="0" anchor="ctr"/>
          <a:lstStyle/>
          <a:p>
            <a:pPr indent="0" marL="0">
              <a:buNone/>
            </a:pPr>
            <a:r>
              <a:rPr lang="en-US" sz="1150" b="1" dirty="0">
                <a:solidFill>
                  <a:srgbClr val="F8FAFC"/>
                </a:solidFill>
                <a:latin typeface="Segoe UI" pitchFamily="34" charset="0"/>
                <a:ea typeface="Segoe UI" pitchFamily="34" charset="-122"/>
                <a:cs typeface="Segoe UI" pitchFamily="34" charset="-120"/>
              </a:rPr>
              <a:t>Dashboard Overview</a:t>
            </a:r>
            <a:endParaRPr lang="en-US" sz="1150" dirty="0"/>
          </a:p>
        </p:txBody>
      </p:sp>
      <p:sp>
        <p:nvSpPr>
          <p:cNvPr id="18" name="Text 15"/>
          <p:cNvSpPr/>
          <p:nvPr/>
        </p:nvSpPr>
        <p:spPr>
          <a:xfrm>
            <a:off x="6949440" y="1947672"/>
            <a:ext cx="4343400" cy="5029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Inspect live KPI cards: total medicines, low-stock badges, and near-expiry warnings.</a:t>
            </a:r>
            <a:endParaRPr lang="en-US" sz="950" dirty="0"/>
          </a:p>
        </p:txBody>
      </p:sp>
      <p:sp>
        <p:nvSpPr>
          <p:cNvPr id="19" name="Shape 16"/>
          <p:cNvSpPr/>
          <p:nvPr/>
        </p:nvSpPr>
        <p:spPr>
          <a:xfrm>
            <a:off x="731520" y="2651760"/>
            <a:ext cx="5239512" cy="1024128"/>
          </a:xfrm>
          <a:prstGeom prst="roundRect">
            <a:avLst>
              <a:gd name="adj" fmla="val 7143"/>
            </a:avLst>
          </a:prstGeom>
          <a:solidFill>
            <a:srgbClr val="111B35"/>
          </a:solidFill>
          <a:ln w="12700">
            <a:solidFill>
              <a:srgbClr val="334155"/>
            </a:solidFill>
            <a:prstDash val="solid"/>
          </a:ln>
        </p:spPr>
      </p:sp>
      <p:sp>
        <p:nvSpPr>
          <p:cNvPr id="20" name="Shape 17"/>
          <p:cNvSpPr/>
          <p:nvPr/>
        </p:nvSpPr>
        <p:spPr>
          <a:xfrm>
            <a:off x="868680" y="2816352"/>
            <a:ext cx="457200" cy="457200"/>
          </a:xfrm>
          <a:prstGeom prst="roundRect">
            <a:avLst>
              <a:gd name="adj" fmla="val 12000"/>
            </a:avLst>
          </a:prstGeom>
          <a:solidFill>
            <a:srgbClr val="0B1020"/>
          </a:solidFill>
          <a:ln w="12700">
            <a:solidFill>
              <a:srgbClr val="3B82F6"/>
            </a:solidFill>
            <a:prstDash val="solid"/>
          </a:ln>
        </p:spPr>
      </p:sp>
      <p:sp>
        <p:nvSpPr>
          <p:cNvPr id="21" name="Text 18"/>
          <p:cNvSpPr/>
          <p:nvPr/>
        </p:nvSpPr>
        <p:spPr>
          <a:xfrm>
            <a:off x="868680" y="2816352"/>
            <a:ext cx="457200" cy="457200"/>
          </a:xfrm>
          <a:prstGeom prst="rect">
            <a:avLst/>
          </a:prstGeom>
          <a:noFill/>
          <a:ln/>
        </p:spPr>
        <p:txBody>
          <a:bodyPr wrap="square" rtlCol="0" anchor="ctr"/>
          <a:lstStyle/>
          <a:p>
            <a:pPr algn="ctr" indent="0" marL="0">
              <a:buNone/>
            </a:pPr>
            <a:r>
              <a:rPr lang="en-US" sz="1100" b="1" dirty="0">
                <a:solidFill>
                  <a:srgbClr val="22D3EE"/>
                </a:solidFill>
                <a:latin typeface="Segoe UI" pitchFamily="34" charset="0"/>
                <a:ea typeface="Segoe UI" pitchFamily="34" charset="-122"/>
                <a:cs typeface="Segoe UI" pitchFamily="34" charset="-120"/>
              </a:rPr>
              <a:t>03</a:t>
            </a:r>
            <a:endParaRPr lang="en-US" sz="1100" dirty="0"/>
          </a:p>
        </p:txBody>
      </p:sp>
      <p:sp>
        <p:nvSpPr>
          <p:cNvPr id="22" name="Text 19"/>
          <p:cNvSpPr/>
          <p:nvPr/>
        </p:nvSpPr>
        <p:spPr>
          <a:xfrm>
            <a:off x="1463040" y="2788920"/>
            <a:ext cx="4343400" cy="274320"/>
          </a:xfrm>
          <a:prstGeom prst="rect">
            <a:avLst/>
          </a:prstGeom>
          <a:noFill/>
          <a:ln/>
        </p:spPr>
        <p:txBody>
          <a:bodyPr wrap="square" rtlCol="0" anchor="ctr"/>
          <a:lstStyle/>
          <a:p>
            <a:pPr indent="0" marL="0">
              <a:buNone/>
            </a:pPr>
            <a:r>
              <a:rPr lang="en-US" sz="1150" b="1" dirty="0">
                <a:solidFill>
                  <a:srgbClr val="F8FAFC"/>
                </a:solidFill>
                <a:latin typeface="Segoe UI" pitchFamily="34" charset="0"/>
                <a:ea typeface="Segoe UI" pitchFamily="34" charset="-122"/>
                <a:cs typeface="Segoe UI" pitchFamily="34" charset="-120"/>
              </a:rPr>
              <a:t>Medicine Catalog &amp; Search</a:t>
            </a:r>
            <a:endParaRPr lang="en-US" sz="1150" dirty="0"/>
          </a:p>
        </p:txBody>
      </p:sp>
      <p:sp>
        <p:nvSpPr>
          <p:cNvPr id="23" name="Text 20"/>
          <p:cNvSpPr/>
          <p:nvPr/>
        </p:nvSpPr>
        <p:spPr>
          <a:xfrm>
            <a:off x="1463040" y="3090672"/>
            <a:ext cx="4343400" cy="5029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Filter by therapeutic category, search generic name, and inspect barcode records.</a:t>
            </a:r>
            <a:endParaRPr lang="en-US" sz="950" dirty="0"/>
          </a:p>
        </p:txBody>
      </p:sp>
      <p:sp>
        <p:nvSpPr>
          <p:cNvPr id="24" name="Shape 21"/>
          <p:cNvSpPr/>
          <p:nvPr/>
        </p:nvSpPr>
        <p:spPr>
          <a:xfrm>
            <a:off x="6217920" y="2651760"/>
            <a:ext cx="5239512" cy="1024128"/>
          </a:xfrm>
          <a:prstGeom prst="roundRect">
            <a:avLst>
              <a:gd name="adj" fmla="val 7143"/>
            </a:avLst>
          </a:prstGeom>
          <a:solidFill>
            <a:srgbClr val="111B35"/>
          </a:solidFill>
          <a:ln w="12700">
            <a:solidFill>
              <a:srgbClr val="334155"/>
            </a:solidFill>
            <a:prstDash val="solid"/>
          </a:ln>
        </p:spPr>
      </p:sp>
      <p:sp>
        <p:nvSpPr>
          <p:cNvPr id="25" name="Shape 22"/>
          <p:cNvSpPr/>
          <p:nvPr/>
        </p:nvSpPr>
        <p:spPr>
          <a:xfrm>
            <a:off x="6355080" y="2816352"/>
            <a:ext cx="457200" cy="457200"/>
          </a:xfrm>
          <a:prstGeom prst="roundRect">
            <a:avLst>
              <a:gd name="adj" fmla="val 12000"/>
            </a:avLst>
          </a:prstGeom>
          <a:solidFill>
            <a:srgbClr val="0B1020"/>
          </a:solidFill>
          <a:ln w="12700">
            <a:solidFill>
              <a:srgbClr val="3B82F6"/>
            </a:solidFill>
            <a:prstDash val="solid"/>
          </a:ln>
        </p:spPr>
      </p:sp>
      <p:sp>
        <p:nvSpPr>
          <p:cNvPr id="26" name="Text 23"/>
          <p:cNvSpPr/>
          <p:nvPr/>
        </p:nvSpPr>
        <p:spPr>
          <a:xfrm>
            <a:off x="6355080" y="2816352"/>
            <a:ext cx="457200" cy="457200"/>
          </a:xfrm>
          <a:prstGeom prst="rect">
            <a:avLst/>
          </a:prstGeom>
          <a:noFill/>
          <a:ln/>
        </p:spPr>
        <p:txBody>
          <a:bodyPr wrap="square" rtlCol="0" anchor="ctr"/>
          <a:lstStyle/>
          <a:p>
            <a:pPr algn="ctr" indent="0" marL="0">
              <a:buNone/>
            </a:pPr>
            <a:r>
              <a:rPr lang="en-US" sz="1100" b="1" dirty="0">
                <a:solidFill>
                  <a:srgbClr val="22D3EE"/>
                </a:solidFill>
                <a:latin typeface="Segoe UI" pitchFamily="34" charset="0"/>
                <a:ea typeface="Segoe UI" pitchFamily="34" charset="-122"/>
                <a:cs typeface="Segoe UI" pitchFamily="34" charset="-120"/>
              </a:rPr>
              <a:t>04</a:t>
            </a:r>
            <a:endParaRPr lang="en-US" sz="1100" dirty="0"/>
          </a:p>
        </p:txBody>
      </p:sp>
      <p:sp>
        <p:nvSpPr>
          <p:cNvPr id="27" name="Text 24"/>
          <p:cNvSpPr/>
          <p:nvPr/>
        </p:nvSpPr>
        <p:spPr>
          <a:xfrm>
            <a:off x="6949440" y="2788920"/>
            <a:ext cx="4343400" cy="274320"/>
          </a:xfrm>
          <a:prstGeom prst="rect">
            <a:avLst/>
          </a:prstGeom>
          <a:noFill/>
          <a:ln/>
        </p:spPr>
        <p:txBody>
          <a:bodyPr wrap="square" rtlCol="0" anchor="ctr"/>
          <a:lstStyle/>
          <a:p>
            <a:pPr indent="0" marL="0">
              <a:buNone/>
            </a:pPr>
            <a:r>
              <a:rPr lang="en-US" sz="1150" b="1" dirty="0">
                <a:solidFill>
                  <a:srgbClr val="F8FAFC"/>
                </a:solidFill>
                <a:latin typeface="Segoe UI" pitchFamily="34" charset="0"/>
                <a:ea typeface="Segoe UI" pitchFamily="34" charset="-122"/>
                <a:cs typeface="Segoe UI" pitchFamily="34" charset="-120"/>
              </a:rPr>
              <a:t>Batch Expiry Inspection</a:t>
            </a:r>
            <a:endParaRPr lang="en-US" sz="1150" dirty="0"/>
          </a:p>
        </p:txBody>
      </p:sp>
      <p:sp>
        <p:nvSpPr>
          <p:cNvPr id="28" name="Text 25"/>
          <p:cNvSpPr/>
          <p:nvPr/>
        </p:nvSpPr>
        <p:spPr>
          <a:xfrm>
            <a:off x="6949440" y="3090672"/>
            <a:ext cx="4343400" cy="5029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Open medicine detail view showing multiple batches, manufacturing dates, and costs.</a:t>
            </a:r>
            <a:endParaRPr lang="en-US" sz="950" dirty="0"/>
          </a:p>
        </p:txBody>
      </p:sp>
      <p:sp>
        <p:nvSpPr>
          <p:cNvPr id="29" name="Shape 26"/>
          <p:cNvSpPr/>
          <p:nvPr/>
        </p:nvSpPr>
        <p:spPr>
          <a:xfrm>
            <a:off x="731520" y="3794760"/>
            <a:ext cx="5239512" cy="1024128"/>
          </a:xfrm>
          <a:prstGeom prst="roundRect">
            <a:avLst>
              <a:gd name="adj" fmla="val 7143"/>
            </a:avLst>
          </a:prstGeom>
          <a:solidFill>
            <a:srgbClr val="111B35"/>
          </a:solidFill>
          <a:ln w="12700">
            <a:solidFill>
              <a:srgbClr val="334155"/>
            </a:solidFill>
            <a:prstDash val="solid"/>
          </a:ln>
        </p:spPr>
      </p:sp>
      <p:sp>
        <p:nvSpPr>
          <p:cNvPr id="30" name="Shape 27"/>
          <p:cNvSpPr/>
          <p:nvPr/>
        </p:nvSpPr>
        <p:spPr>
          <a:xfrm>
            <a:off x="868680" y="3959352"/>
            <a:ext cx="457200" cy="457200"/>
          </a:xfrm>
          <a:prstGeom prst="roundRect">
            <a:avLst>
              <a:gd name="adj" fmla="val 12000"/>
            </a:avLst>
          </a:prstGeom>
          <a:solidFill>
            <a:srgbClr val="0B1020"/>
          </a:solidFill>
          <a:ln w="12700">
            <a:solidFill>
              <a:srgbClr val="3B82F6"/>
            </a:solidFill>
            <a:prstDash val="solid"/>
          </a:ln>
        </p:spPr>
      </p:sp>
      <p:sp>
        <p:nvSpPr>
          <p:cNvPr id="31" name="Text 28"/>
          <p:cNvSpPr/>
          <p:nvPr/>
        </p:nvSpPr>
        <p:spPr>
          <a:xfrm>
            <a:off x="868680" y="3959352"/>
            <a:ext cx="457200" cy="457200"/>
          </a:xfrm>
          <a:prstGeom prst="rect">
            <a:avLst/>
          </a:prstGeom>
          <a:noFill/>
          <a:ln/>
        </p:spPr>
        <p:txBody>
          <a:bodyPr wrap="square" rtlCol="0" anchor="ctr"/>
          <a:lstStyle/>
          <a:p>
            <a:pPr algn="ctr" indent="0" marL="0">
              <a:buNone/>
            </a:pPr>
            <a:r>
              <a:rPr lang="en-US" sz="1100" b="1" dirty="0">
                <a:solidFill>
                  <a:srgbClr val="22D3EE"/>
                </a:solidFill>
                <a:latin typeface="Segoe UI" pitchFamily="34" charset="0"/>
                <a:ea typeface="Segoe UI" pitchFamily="34" charset="-122"/>
                <a:cs typeface="Segoe UI" pitchFamily="34" charset="-120"/>
              </a:rPr>
              <a:t>05</a:t>
            </a:r>
            <a:endParaRPr lang="en-US" sz="1100" dirty="0"/>
          </a:p>
        </p:txBody>
      </p:sp>
      <p:sp>
        <p:nvSpPr>
          <p:cNvPr id="32" name="Text 29"/>
          <p:cNvSpPr/>
          <p:nvPr/>
        </p:nvSpPr>
        <p:spPr>
          <a:xfrm>
            <a:off x="1463040" y="3931920"/>
            <a:ext cx="4343400" cy="274320"/>
          </a:xfrm>
          <a:prstGeom prst="rect">
            <a:avLst/>
          </a:prstGeom>
          <a:noFill/>
          <a:ln/>
        </p:spPr>
        <p:txBody>
          <a:bodyPr wrap="square" rtlCol="0" anchor="ctr"/>
          <a:lstStyle/>
          <a:p>
            <a:pPr indent="0" marL="0">
              <a:buNone/>
            </a:pPr>
            <a:r>
              <a:rPr lang="en-US" sz="1150" b="1" dirty="0">
                <a:solidFill>
                  <a:srgbClr val="F8FAFC"/>
                </a:solidFill>
                <a:latin typeface="Segoe UI" pitchFamily="34" charset="0"/>
                <a:ea typeface="Segoe UI" pitchFamily="34" charset="-122"/>
                <a:cs typeface="Segoe UI" pitchFamily="34" charset="-120"/>
              </a:rPr>
              <a:t>Supplier Requisition</a:t>
            </a:r>
            <a:endParaRPr lang="en-US" sz="1150" dirty="0"/>
          </a:p>
        </p:txBody>
      </p:sp>
      <p:sp>
        <p:nvSpPr>
          <p:cNvPr id="33" name="Text 30"/>
          <p:cNvSpPr/>
          <p:nvPr/>
        </p:nvSpPr>
        <p:spPr>
          <a:xfrm>
            <a:off x="1463040" y="4233672"/>
            <a:ext cx="4343400" cy="5029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Open wholesale supplier directory and inspect registered vendor contact profiles.</a:t>
            </a:r>
            <a:endParaRPr lang="en-US" sz="950" dirty="0"/>
          </a:p>
        </p:txBody>
      </p:sp>
      <p:sp>
        <p:nvSpPr>
          <p:cNvPr id="34" name="Shape 31"/>
          <p:cNvSpPr/>
          <p:nvPr/>
        </p:nvSpPr>
        <p:spPr>
          <a:xfrm>
            <a:off x="6217920" y="3794760"/>
            <a:ext cx="5239512" cy="1024128"/>
          </a:xfrm>
          <a:prstGeom prst="roundRect">
            <a:avLst>
              <a:gd name="adj" fmla="val 7143"/>
            </a:avLst>
          </a:prstGeom>
          <a:solidFill>
            <a:srgbClr val="111B35"/>
          </a:solidFill>
          <a:ln w="12700">
            <a:solidFill>
              <a:srgbClr val="334155"/>
            </a:solidFill>
            <a:prstDash val="solid"/>
          </a:ln>
        </p:spPr>
      </p:sp>
      <p:sp>
        <p:nvSpPr>
          <p:cNvPr id="35" name="Shape 32"/>
          <p:cNvSpPr/>
          <p:nvPr/>
        </p:nvSpPr>
        <p:spPr>
          <a:xfrm>
            <a:off x="6355080" y="3959352"/>
            <a:ext cx="457200" cy="457200"/>
          </a:xfrm>
          <a:prstGeom prst="roundRect">
            <a:avLst>
              <a:gd name="adj" fmla="val 12000"/>
            </a:avLst>
          </a:prstGeom>
          <a:solidFill>
            <a:srgbClr val="0B1020"/>
          </a:solidFill>
          <a:ln w="12700">
            <a:solidFill>
              <a:srgbClr val="3B82F6"/>
            </a:solidFill>
            <a:prstDash val="solid"/>
          </a:ln>
        </p:spPr>
      </p:sp>
      <p:sp>
        <p:nvSpPr>
          <p:cNvPr id="36" name="Text 33"/>
          <p:cNvSpPr/>
          <p:nvPr/>
        </p:nvSpPr>
        <p:spPr>
          <a:xfrm>
            <a:off x="6355080" y="3959352"/>
            <a:ext cx="457200" cy="457200"/>
          </a:xfrm>
          <a:prstGeom prst="rect">
            <a:avLst/>
          </a:prstGeom>
          <a:noFill/>
          <a:ln/>
        </p:spPr>
        <p:txBody>
          <a:bodyPr wrap="square" rtlCol="0" anchor="ctr"/>
          <a:lstStyle/>
          <a:p>
            <a:pPr algn="ctr" indent="0" marL="0">
              <a:buNone/>
            </a:pPr>
            <a:r>
              <a:rPr lang="en-US" sz="1100" b="1" dirty="0">
                <a:solidFill>
                  <a:srgbClr val="22D3EE"/>
                </a:solidFill>
                <a:latin typeface="Segoe UI" pitchFamily="34" charset="0"/>
                <a:ea typeface="Segoe UI" pitchFamily="34" charset="-122"/>
                <a:cs typeface="Segoe UI" pitchFamily="34" charset="-120"/>
              </a:rPr>
              <a:t>06</a:t>
            </a:r>
            <a:endParaRPr lang="en-US" sz="1100" dirty="0"/>
          </a:p>
        </p:txBody>
      </p:sp>
      <p:sp>
        <p:nvSpPr>
          <p:cNvPr id="37" name="Text 34"/>
          <p:cNvSpPr/>
          <p:nvPr/>
        </p:nvSpPr>
        <p:spPr>
          <a:xfrm>
            <a:off x="6949440" y="3931920"/>
            <a:ext cx="4343400" cy="274320"/>
          </a:xfrm>
          <a:prstGeom prst="rect">
            <a:avLst/>
          </a:prstGeom>
          <a:noFill/>
          <a:ln/>
        </p:spPr>
        <p:txBody>
          <a:bodyPr wrap="square" rtlCol="0" anchor="ctr"/>
          <a:lstStyle/>
          <a:p>
            <a:pPr indent="0" marL="0">
              <a:buNone/>
            </a:pPr>
            <a:r>
              <a:rPr lang="en-US" sz="1150" b="1" dirty="0">
                <a:solidFill>
                  <a:srgbClr val="F8FAFC"/>
                </a:solidFill>
                <a:latin typeface="Segoe UI" pitchFamily="34" charset="0"/>
                <a:ea typeface="Segoe UI" pitchFamily="34" charset="-122"/>
                <a:cs typeface="Segoe UI" pitchFamily="34" charset="-120"/>
              </a:rPr>
              <a:t>Purchase Order Workflow</a:t>
            </a:r>
            <a:endParaRPr lang="en-US" sz="1150" dirty="0"/>
          </a:p>
        </p:txBody>
      </p:sp>
      <p:sp>
        <p:nvSpPr>
          <p:cNvPr id="38" name="Text 35"/>
          <p:cNvSpPr/>
          <p:nvPr/>
        </p:nvSpPr>
        <p:spPr>
          <a:xfrm>
            <a:off x="6949440" y="4233672"/>
            <a:ext cx="4343400" cy="5029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Demonstrate draft order submission, QC verification, and atomic stock incrementation.</a:t>
            </a:r>
            <a:endParaRPr lang="en-US" sz="950" dirty="0"/>
          </a:p>
        </p:txBody>
      </p:sp>
      <p:sp>
        <p:nvSpPr>
          <p:cNvPr id="39" name="Shape 36"/>
          <p:cNvSpPr/>
          <p:nvPr/>
        </p:nvSpPr>
        <p:spPr>
          <a:xfrm>
            <a:off x="731520" y="4937760"/>
            <a:ext cx="5239512" cy="1024128"/>
          </a:xfrm>
          <a:prstGeom prst="roundRect">
            <a:avLst>
              <a:gd name="adj" fmla="val 7143"/>
            </a:avLst>
          </a:prstGeom>
          <a:solidFill>
            <a:srgbClr val="111B35"/>
          </a:solidFill>
          <a:ln w="12700">
            <a:solidFill>
              <a:srgbClr val="334155"/>
            </a:solidFill>
            <a:prstDash val="solid"/>
          </a:ln>
        </p:spPr>
      </p:sp>
      <p:sp>
        <p:nvSpPr>
          <p:cNvPr id="40" name="Shape 37"/>
          <p:cNvSpPr/>
          <p:nvPr/>
        </p:nvSpPr>
        <p:spPr>
          <a:xfrm>
            <a:off x="868680" y="5102352"/>
            <a:ext cx="457200" cy="457200"/>
          </a:xfrm>
          <a:prstGeom prst="roundRect">
            <a:avLst>
              <a:gd name="adj" fmla="val 12000"/>
            </a:avLst>
          </a:prstGeom>
          <a:solidFill>
            <a:srgbClr val="0B1020"/>
          </a:solidFill>
          <a:ln w="12700">
            <a:solidFill>
              <a:srgbClr val="3B82F6"/>
            </a:solidFill>
            <a:prstDash val="solid"/>
          </a:ln>
        </p:spPr>
      </p:sp>
      <p:sp>
        <p:nvSpPr>
          <p:cNvPr id="41" name="Text 38"/>
          <p:cNvSpPr/>
          <p:nvPr/>
        </p:nvSpPr>
        <p:spPr>
          <a:xfrm>
            <a:off x="868680" y="5102352"/>
            <a:ext cx="457200" cy="457200"/>
          </a:xfrm>
          <a:prstGeom prst="rect">
            <a:avLst/>
          </a:prstGeom>
          <a:noFill/>
          <a:ln/>
        </p:spPr>
        <p:txBody>
          <a:bodyPr wrap="square" rtlCol="0" anchor="ctr"/>
          <a:lstStyle/>
          <a:p>
            <a:pPr algn="ctr" indent="0" marL="0">
              <a:buNone/>
            </a:pPr>
            <a:r>
              <a:rPr lang="en-US" sz="1100" b="1" dirty="0">
                <a:solidFill>
                  <a:srgbClr val="22D3EE"/>
                </a:solidFill>
                <a:latin typeface="Segoe UI" pitchFamily="34" charset="0"/>
                <a:ea typeface="Segoe UI" pitchFamily="34" charset="-122"/>
                <a:cs typeface="Segoe UI" pitchFamily="34" charset="-120"/>
              </a:rPr>
              <a:t>07</a:t>
            </a:r>
            <a:endParaRPr lang="en-US" sz="1100" dirty="0"/>
          </a:p>
        </p:txBody>
      </p:sp>
      <p:sp>
        <p:nvSpPr>
          <p:cNvPr id="42" name="Text 39"/>
          <p:cNvSpPr/>
          <p:nvPr/>
        </p:nvSpPr>
        <p:spPr>
          <a:xfrm>
            <a:off x="1463040" y="5074920"/>
            <a:ext cx="4343400" cy="274320"/>
          </a:xfrm>
          <a:prstGeom prst="rect">
            <a:avLst/>
          </a:prstGeom>
          <a:noFill/>
          <a:ln/>
        </p:spPr>
        <p:txBody>
          <a:bodyPr wrap="square" rtlCol="0" anchor="ctr"/>
          <a:lstStyle/>
          <a:p>
            <a:pPr indent="0" marL="0">
              <a:buNone/>
            </a:pPr>
            <a:r>
              <a:rPr lang="en-US" sz="1150" b="1" dirty="0">
                <a:solidFill>
                  <a:srgbClr val="F8FAFC"/>
                </a:solidFill>
                <a:latin typeface="Segoe UI" pitchFamily="34" charset="0"/>
                <a:ea typeface="Segoe UI" pitchFamily="34" charset="-122"/>
                <a:cs typeface="Segoe UI" pitchFamily="34" charset="-120"/>
              </a:rPr>
              <a:t>Prescription Dispensing &amp; POS</a:t>
            </a:r>
            <a:endParaRPr lang="en-US" sz="1150" dirty="0"/>
          </a:p>
        </p:txBody>
      </p:sp>
      <p:sp>
        <p:nvSpPr>
          <p:cNvPr id="43" name="Text 40"/>
          <p:cNvSpPr/>
          <p:nvPr/>
        </p:nvSpPr>
        <p:spPr>
          <a:xfrm>
            <a:off x="1463040" y="5376672"/>
            <a:ext cx="4343400" cy="5029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Stage prescription order, demonstrate automated FEFO batch allocation, and finalize checkout.</a:t>
            </a:r>
            <a:endParaRPr lang="en-US" sz="950" dirty="0"/>
          </a:p>
        </p:txBody>
      </p:sp>
      <p:sp>
        <p:nvSpPr>
          <p:cNvPr id="44" name="Shape 41"/>
          <p:cNvSpPr/>
          <p:nvPr/>
        </p:nvSpPr>
        <p:spPr>
          <a:xfrm>
            <a:off x="6217920" y="4937760"/>
            <a:ext cx="5239512" cy="1024128"/>
          </a:xfrm>
          <a:prstGeom prst="roundRect">
            <a:avLst>
              <a:gd name="adj" fmla="val 7143"/>
            </a:avLst>
          </a:prstGeom>
          <a:solidFill>
            <a:srgbClr val="111B35"/>
          </a:solidFill>
          <a:ln w="12700">
            <a:solidFill>
              <a:srgbClr val="334155"/>
            </a:solidFill>
            <a:prstDash val="solid"/>
          </a:ln>
        </p:spPr>
      </p:sp>
      <p:sp>
        <p:nvSpPr>
          <p:cNvPr id="45" name="Shape 42"/>
          <p:cNvSpPr/>
          <p:nvPr/>
        </p:nvSpPr>
        <p:spPr>
          <a:xfrm>
            <a:off x="6355080" y="5102352"/>
            <a:ext cx="457200" cy="457200"/>
          </a:xfrm>
          <a:prstGeom prst="roundRect">
            <a:avLst>
              <a:gd name="adj" fmla="val 12000"/>
            </a:avLst>
          </a:prstGeom>
          <a:solidFill>
            <a:srgbClr val="0B1020"/>
          </a:solidFill>
          <a:ln w="12700">
            <a:solidFill>
              <a:srgbClr val="3B82F6"/>
            </a:solidFill>
            <a:prstDash val="solid"/>
          </a:ln>
        </p:spPr>
      </p:sp>
      <p:sp>
        <p:nvSpPr>
          <p:cNvPr id="46" name="Text 43"/>
          <p:cNvSpPr/>
          <p:nvPr/>
        </p:nvSpPr>
        <p:spPr>
          <a:xfrm>
            <a:off x="6355080" y="5102352"/>
            <a:ext cx="457200" cy="457200"/>
          </a:xfrm>
          <a:prstGeom prst="rect">
            <a:avLst/>
          </a:prstGeom>
          <a:noFill/>
          <a:ln/>
        </p:spPr>
        <p:txBody>
          <a:bodyPr wrap="square" rtlCol="0" anchor="ctr"/>
          <a:lstStyle/>
          <a:p>
            <a:pPr algn="ctr" indent="0" marL="0">
              <a:buNone/>
            </a:pPr>
            <a:r>
              <a:rPr lang="en-US" sz="1100" b="1" dirty="0">
                <a:solidFill>
                  <a:srgbClr val="22D3EE"/>
                </a:solidFill>
                <a:latin typeface="Segoe UI" pitchFamily="34" charset="0"/>
                <a:ea typeface="Segoe UI" pitchFamily="34" charset="-122"/>
                <a:cs typeface="Segoe UI" pitchFamily="34" charset="-120"/>
              </a:rPr>
              <a:t>08</a:t>
            </a:r>
            <a:endParaRPr lang="en-US" sz="1100" dirty="0"/>
          </a:p>
        </p:txBody>
      </p:sp>
      <p:sp>
        <p:nvSpPr>
          <p:cNvPr id="47" name="Text 44"/>
          <p:cNvSpPr/>
          <p:nvPr/>
        </p:nvSpPr>
        <p:spPr>
          <a:xfrm>
            <a:off x="6949440" y="5074920"/>
            <a:ext cx="4343400" cy="274320"/>
          </a:xfrm>
          <a:prstGeom prst="rect">
            <a:avLst/>
          </a:prstGeom>
          <a:noFill/>
          <a:ln/>
        </p:spPr>
        <p:txBody>
          <a:bodyPr wrap="square" rtlCol="0" anchor="ctr"/>
          <a:lstStyle/>
          <a:p>
            <a:pPr indent="0" marL="0">
              <a:buNone/>
            </a:pPr>
            <a:r>
              <a:rPr lang="en-US" sz="1150" b="1" dirty="0">
                <a:solidFill>
                  <a:srgbClr val="F8FAFC"/>
                </a:solidFill>
                <a:latin typeface="Segoe UI" pitchFamily="34" charset="0"/>
                <a:ea typeface="Segoe UI" pitchFamily="34" charset="-122"/>
                <a:cs typeface="Segoe UI" pitchFamily="34" charset="-120"/>
              </a:rPr>
              <a:t>Multi-Branch &amp; Audit Logs</a:t>
            </a:r>
            <a:endParaRPr lang="en-US" sz="1150" dirty="0"/>
          </a:p>
        </p:txBody>
      </p:sp>
      <p:sp>
        <p:nvSpPr>
          <p:cNvPr id="48" name="Text 45"/>
          <p:cNvSpPr/>
          <p:nvPr/>
        </p:nvSpPr>
        <p:spPr>
          <a:xfrm>
            <a:off x="6949440" y="5376672"/>
            <a:ext cx="4343400" cy="5029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Review branch stock allocation and inspect immutable administrative audit logs.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SECURITY &amp; DATA INTEGRITY</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Protecting Reliable Inventory Records</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sp>
        <p:nvSpPr>
          <p:cNvPr id="9" name="Shape 6"/>
          <p:cNvSpPr/>
          <p:nvPr/>
        </p:nvSpPr>
        <p:spPr>
          <a:xfrm>
            <a:off x="731520" y="1508760"/>
            <a:ext cx="3429000" cy="4572000"/>
          </a:xfrm>
          <a:prstGeom prst="roundRect">
            <a:avLst>
              <a:gd name="adj" fmla="val 2133"/>
            </a:avLst>
          </a:prstGeom>
          <a:solidFill>
            <a:srgbClr val="111B35"/>
          </a:solidFill>
          <a:ln w="15240">
            <a:solidFill>
              <a:srgbClr val="3B82F6"/>
            </a:solidFill>
            <a:prstDash val="solid"/>
          </a:ln>
        </p:spPr>
      </p:sp>
      <p:sp>
        <p:nvSpPr>
          <p:cNvPr id="10" name="Shape 7"/>
          <p:cNvSpPr/>
          <p:nvPr/>
        </p:nvSpPr>
        <p:spPr>
          <a:xfrm>
            <a:off x="960120" y="1737360"/>
            <a:ext cx="2011680" cy="274320"/>
          </a:xfrm>
          <a:prstGeom prst="roundRect">
            <a:avLst>
              <a:gd name="adj" fmla="val 16667"/>
            </a:avLst>
          </a:prstGeom>
          <a:solidFill>
            <a:srgbClr val="0B1020"/>
          </a:solidFill>
          <a:ln w="12700">
            <a:solidFill>
              <a:srgbClr val="3B82F6"/>
            </a:solidFill>
            <a:prstDash val="solid"/>
          </a:ln>
        </p:spPr>
      </p:sp>
      <p:sp>
        <p:nvSpPr>
          <p:cNvPr id="11" name="Text 8"/>
          <p:cNvSpPr/>
          <p:nvPr/>
        </p:nvSpPr>
        <p:spPr>
          <a:xfrm>
            <a:off x="960120" y="1737360"/>
            <a:ext cx="2011680" cy="274320"/>
          </a:xfrm>
          <a:prstGeom prst="rect">
            <a:avLst/>
          </a:prstGeom>
          <a:noFill/>
          <a:ln/>
        </p:spPr>
        <p:txBody>
          <a:bodyPr wrap="square" rtlCol="0" anchor="ctr"/>
          <a:lstStyle/>
          <a:p>
            <a:pPr algn="ctr" indent="0" marL="0">
              <a:buNone/>
            </a:pPr>
            <a:r>
              <a:rPr lang="en-US" sz="850" b="1" dirty="0">
                <a:solidFill>
                  <a:srgbClr val="3B82F6"/>
                </a:solidFill>
                <a:latin typeface="Segoe UI" pitchFamily="34" charset="0"/>
                <a:ea typeface="Segoe UI" pitchFamily="34" charset="-122"/>
                <a:cs typeface="Segoe UI" pitchFamily="34" charset="-120"/>
              </a:rPr>
              <a:t>FORMREQUEST LAYER</a:t>
            </a:r>
            <a:endParaRPr lang="en-US" sz="850" dirty="0"/>
          </a:p>
        </p:txBody>
      </p:sp>
      <p:sp>
        <p:nvSpPr>
          <p:cNvPr id="12" name="Text 9"/>
          <p:cNvSpPr/>
          <p:nvPr/>
        </p:nvSpPr>
        <p:spPr>
          <a:xfrm>
            <a:off x="960120" y="2103120"/>
            <a:ext cx="2971800" cy="457200"/>
          </a:xfrm>
          <a:prstGeom prst="rect">
            <a:avLst/>
          </a:prstGeom>
          <a:noFill/>
          <a:ln/>
        </p:spPr>
        <p:txBody>
          <a:bodyPr wrap="square" rtlCol="0" anchor="ctr"/>
          <a:lstStyle/>
          <a:p>
            <a:pPr indent="0" marL="0">
              <a:buNone/>
            </a:pPr>
            <a:r>
              <a:rPr lang="en-US" sz="1350" b="1" dirty="0">
                <a:solidFill>
                  <a:srgbClr val="F8FAFC"/>
                </a:solidFill>
                <a:latin typeface="Segoe UI" pitchFamily="34" charset="0"/>
                <a:ea typeface="Segoe UI" pitchFamily="34" charset="-122"/>
                <a:cs typeface="Segoe UI" pitchFamily="34" charset="-120"/>
              </a:rPr>
              <a:t>Input Validation &amp; Rules</a:t>
            </a:r>
            <a:endParaRPr lang="en-US" sz="1350" dirty="0"/>
          </a:p>
        </p:txBody>
      </p:sp>
      <p:sp>
        <p:nvSpPr>
          <p:cNvPr id="13" name="Text 10"/>
          <p:cNvSpPr/>
          <p:nvPr/>
        </p:nvSpPr>
        <p:spPr>
          <a:xfrm>
            <a:off x="960120" y="2651760"/>
            <a:ext cx="2971800" cy="3200400"/>
          </a:xfrm>
          <a:prstGeom prst="rect">
            <a:avLst/>
          </a:prstGeom>
          <a:noFill/>
          <a:ln/>
        </p:spPr>
        <p:txBody>
          <a:bodyPr wrap="square" rtlCol="0" anchor="ctr"/>
          <a:lstStyle/>
          <a:p>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Inbound requests validated against strict rules (required, numeric, min:1, unique barcodes).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Invalid payloads rejected before reaching controllers with standard HTTP 422 JSON errors.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Sanitizes strings and enforces positive quantities on all sales and stock adjustment forms.
</a:t>
            </a:r>
            <a:endParaRPr lang="en-US" sz="1000" dirty="0"/>
          </a:p>
        </p:txBody>
      </p:sp>
      <p:sp>
        <p:nvSpPr>
          <p:cNvPr id="14" name="Shape 11"/>
          <p:cNvSpPr/>
          <p:nvPr/>
        </p:nvSpPr>
        <p:spPr>
          <a:xfrm>
            <a:off x="4343400" y="1508760"/>
            <a:ext cx="3429000" cy="4572000"/>
          </a:xfrm>
          <a:prstGeom prst="roundRect">
            <a:avLst>
              <a:gd name="adj" fmla="val 2133"/>
            </a:avLst>
          </a:prstGeom>
          <a:solidFill>
            <a:srgbClr val="111B35"/>
          </a:solidFill>
          <a:ln w="15240">
            <a:solidFill>
              <a:srgbClr val="22D3EE"/>
            </a:solidFill>
            <a:prstDash val="solid"/>
          </a:ln>
        </p:spPr>
      </p:sp>
      <p:sp>
        <p:nvSpPr>
          <p:cNvPr id="15" name="Shape 12"/>
          <p:cNvSpPr/>
          <p:nvPr/>
        </p:nvSpPr>
        <p:spPr>
          <a:xfrm>
            <a:off x="4572000" y="1737360"/>
            <a:ext cx="2011680" cy="274320"/>
          </a:xfrm>
          <a:prstGeom prst="roundRect">
            <a:avLst>
              <a:gd name="adj" fmla="val 16667"/>
            </a:avLst>
          </a:prstGeom>
          <a:solidFill>
            <a:srgbClr val="0B1020"/>
          </a:solidFill>
          <a:ln w="12700">
            <a:solidFill>
              <a:srgbClr val="22D3EE"/>
            </a:solidFill>
            <a:prstDash val="solid"/>
          </a:ln>
        </p:spPr>
      </p:sp>
      <p:sp>
        <p:nvSpPr>
          <p:cNvPr id="16" name="Text 13"/>
          <p:cNvSpPr/>
          <p:nvPr/>
        </p:nvSpPr>
        <p:spPr>
          <a:xfrm>
            <a:off x="4572000" y="1737360"/>
            <a:ext cx="2011680" cy="274320"/>
          </a:xfrm>
          <a:prstGeom prst="rect">
            <a:avLst/>
          </a:prstGeom>
          <a:noFill/>
          <a:ln/>
        </p:spPr>
        <p:txBody>
          <a:bodyPr wrap="square" rtlCol="0" anchor="ctr"/>
          <a:lstStyle/>
          <a:p>
            <a:pPr algn="ctr" indent="0" marL="0">
              <a:buNone/>
            </a:pPr>
            <a:r>
              <a:rPr lang="en-US" sz="850" b="1" dirty="0">
                <a:solidFill>
                  <a:srgbClr val="22D3EE"/>
                </a:solidFill>
                <a:latin typeface="Segoe UI" pitchFamily="34" charset="0"/>
                <a:ea typeface="Segoe UI" pitchFamily="34" charset="-122"/>
                <a:cs typeface="Segoe UI" pitchFamily="34" charset="-120"/>
              </a:rPr>
              <a:t>MIDDLEWARE GATES</a:t>
            </a:r>
            <a:endParaRPr lang="en-US" sz="850" dirty="0"/>
          </a:p>
        </p:txBody>
      </p:sp>
      <p:sp>
        <p:nvSpPr>
          <p:cNvPr id="17" name="Text 14"/>
          <p:cNvSpPr/>
          <p:nvPr/>
        </p:nvSpPr>
        <p:spPr>
          <a:xfrm>
            <a:off x="4572000" y="2103120"/>
            <a:ext cx="2971800" cy="457200"/>
          </a:xfrm>
          <a:prstGeom prst="rect">
            <a:avLst/>
          </a:prstGeom>
          <a:noFill/>
          <a:ln/>
        </p:spPr>
        <p:txBody>
          <a:bodyPr wrap="square" rtlCol="0" anchor="ctr"/>
          <a:lstStyle/>
          <a:p>
            <a:pPr indent="0" marL="0">
              <a:buNone/>
            </a:pPr>
            <a:r>
              <a:rPr lang="en-US" sz="1350" b="1" dirty="0">
                <a:solidFill>
                  <a:srgbClr val="F8FAFC"/>
                </a:solidFill>
                <a:latin typeface="Segoe UI" pitchFamily="34" charset="0"/>
                <a:ea typeface="Segoe UI" pitchFamily="34" charset="-122"/>
                <a:cs typeface="Segoe UI" pitchFamily="34" charset="-120"/>
              </a:rPr>
              <a:t>Role-Based Access Control</a:t>
            </a:r>
            <a:endParaRPr lang="en-US" sz="1350" dirty="0"/>
          </a:p>
        </p:txBody>
      </p:sp>
      <p:sp>
        <p:nvSpPr>
          <p:cNvPr id="18" name="Text 15"/>
          <p:cNvSpPr/>
          <p:nvPr/>
        </p:nvSpPr>
        <p:spPr>
          <a:xfrm>
            <a:off x="4572000" y="2651760"/>
            <a:ext cx="2971800" cy="3200400"/>
          </a:xfrm>
          <a:prstGeom prst="rect">
            <a:avLst/>
          </a:prstGeom>
          <a:noFill/>
          <a:ln/>
        </p:spPr>
        <p:txBody>
          <a:bodyPr wrap="square" rtlCol="0" anchor="ctr"/>
          <a:lstStyle/>
          <a:p>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Laravel Sanctum generates cryptographically signed Bearer API tokens.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EnsureUserApproved gate blocks newly registered users until admin activation.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EnsureHasPermission middleware protects sensitive routes (medicine CRUD, audit logs).
</a:t>
            </a:r>
            <a:endParaRPr lang="en-US" sz="1000" dirty="0"/>
          </a:p>
        </p:txBody>
      </p:sp>
      <p:sp>
        <p:nvSpPr>
          <p:cNvPr id="19" name="Shape 16"/>
          <p:cNvSpPr/>
          <p:nvPr/>
        </p:nvSpPr>
        <p:spPr>
          <a:xfrm>
            <a:off x="7955280" y="1508760"/>
            <a:ext cx="3429000" cy="4572000"/>
          </a:xfrm>
          <a:prstGeom prst="roundRect">
            <a:avLst>
              <a:gd name="adj" fmla="val 2133"/>
            </a:avLst>
          </a:prstGeom>
          <a:solidFill>
            <a:srgbClr val="111B35"/>
          </a:solidFill>
          <a:ln w="15240">
            <a:solidFill>
              <a:srgbClr val="10B981"/>
            </a:solidFill>
            <a:prstDash val="solid"/>
          </a:ln>
        </p:spPr>
      </p:sp>
      <p:sp>
        <p:nvSpPr>
          <p:cNvPr id="20" name="Shape 17"/>
          <p:cNvSpPr/>
          <p:nvPr/>
        </p:nvSpPr>
        <p:spPr>
          <a:xfrm>
            <a:off x="8183880" y="1737360"/>
            <a:ext cx="2011680" cy="274320"/>
          </a:xfrm>
          <a:prstGeom prst="roundRect">
            <a:avLst>
              <a:gd name="adj" fmla="val 16667"/>
            </a:avLst>
          </a:prstGeom>
          <a:solidFill>
            <a:srgbClr val="0B1020"/>
          </a:solidFill>
          <a:ln w="12700">
            <a:solidFill>
              <a:srgbClr val="10B981"/>
            </a:solidFill>
            <a:prstDash val="solid"/>
          </a:ln>
        </p:spPr>
      </p:sp>
      <p:sp>
        <p:nvSpPr>
          <p:cNvPr id="21" name="Text 18"/>
          <p:cNvSpPr/>
          <p:nvPr/>
        </p:nvSpPr>
        <p:spPr>
          <a:xfrm>
            <a:off x="8183880" y="1737360"/>
            <a:ext cx="2011680" cy="274320"/>
          </a:xfrm>
          <a:prstGeom prst="rect">
            <a:avLst/>
          </a:prstGeom>
          <a:noFill/>
          <a:ln/>
        </p:spPr>
        <p:txBody>
          <a:bodyPr wrap="square" rtlCol="0" anchor="ctr"/>
          <a:lstStyle/>
          <a:p>
            <a:pPr algn="ctr" indent="0" marL="0">
              <a:buNone/>
            </a:pPr>
            <a:r>
              <a:rPr lang="en-US" sz="850" b="1" dirty="0">
                <a:solidFill>
                  <a:srgbClr val="10B981"/>
                </a:solidFill>
                <a:latin typeface="Segoe UI" pitchFamily="34" charset="0"/>
                <a:ea typeface="Segoe UI" pitchFamily="34" charset="-122"/>
                <a:cs typeface="Segoe UI" pitchFamily="34" charset="-120"/>
              </a:rPr>
              <a:t>ACID TRANSACTIONS</a:t>
            </a:r>
            <a:endParaRPr lang="en-US" sz="850" dirty="0"/>
          </a:p>
        </p:txBody>
      </p:sp>
      <p:sp>
        <p:nvSpPr>
          <p:cNvPr id="22" name="Text 19"/>
          <p:cNvSpPr/>
          <p:nvPr/>
        </p:nvSpPr>
        <p:spPr>
          <a:xfrm>
            <a:off x="8183880" y="2103120"/>
            <a:ext cx="2971800" cy="457200"/>
          </a:xfrm>
          <a:prstGeom prst="rect">
            <a:avLst/>
          </a:prstGeom>
          <a:noFill/>
          <a:ln/>
        </p:spPr>
        <p:txBody>
          <a:bodyPr wrap="square" rtlCol="0" anchor="ctr"/>
          <a:lstStyle/>
          <a:p>
            <a:pPr indent="0" marL="0">
              <a:buNone/>
            </a:pPr>
            <a:r>
              <a:rPr lang="en-US" sz="1350" b="1" dirty="0">
                <a:solidFill>
                  <a:srgbClr val="F8FAFC"/>
                </a:solidFill>
                <a:latin typeface="Segoe UI" pitchFamily="34" charset="0"/>
                <a:ea typeface="Segoe UI" pitchFamily="34" charset="-122"/>
                <a:cs typeface="Segoe UI" pitchFamily="34" charset="-120"/>
              </a:rPr>
              <a:t>Concurrency &amp; Audit Integrity</a:t>
            </a:r>
            <a:endParaRPr lang="en-US" sz="1350" dirty="0"/>
          </a:p>
        </p:txBody>
      </p:sp>
      <p:sp>
        <p:nvSpPr>
          <p:cNvPr id="23" name="Text 20"/>
          <p:cNvSpPr/>
          <p:nvPr/>
        </p:nvSpPr>
        <p:spPr>
          <a:xfrm>
            <a:off x="8183880" y="2651760"/>
            <a:ext cx="2971800" cy="3200400"/>
          </a:xfrm>
          <a:prstGeom prst="rect">
            <a:avLst/>
          </a:prstGeom>
          <a:noFill/>
          <a:ln/>
        </p:spPr>
        <p:txBody>
          <a:bodyPr wrap="square" rtlCol="0" anchor="ctr"/>
          <a:lstStyle/>
          <a:p>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Pessimistic locking via lockForUpdate() prevents overselling the same batch simultaneously.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DB::transaction() closures ensure atomic updates; rollback on failure guarantees consistency.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Immutable audit_logs table records user ID, event type, model affected, IP address, and timestamp.
</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TESTING &amp; RESULTS</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Does the System Work Correctly?</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10725912" cy="914400"/>
        </p:xfrm>
        <a:graphic>
          <a:graphicData uri="http://schemas.openxmlformats.org/drawingml/2006/table">
            <a:tbl>
              <a:tblPr/>
              <a:tblGrid>
                <a:gridCol w="2286000"/>
                <a:gridCol w="3291840"/>
                <a:gridCol w="3931920"/>
                <a:gridCol w="1216152"/>
              </a:tblGrid>
              <a:tr h="621792">
                <a:tc>
                  <a:txBody>
                    <a:bodyPr/>
                    <a:lstStyle/>
                    <a:p>
                      <a:pPr indent="0" marL="0">
                        <a:buNone/>
                      </a:pPr>
                      <a:r>
                        <a:rPr lang="en-US" sz="950" b="1" dirty="0">
                          <a:solidFill>
                            <a:srgbClr val="F8FAFC"/>
                          </a:solidFill>
                          <a:latin typeface="Segoe UI" pitchFamily="34" charset="0"/>
                          <a:ea typeface="Segoe UI" pitchFamily="34" charset="-122"/>
                          <a:cs typeface="Segoe UI" pitchFamily="34" charset="-120"/>
                        </a:rPr>
                        <a:t>Test Case</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B1020"/>
                    </a:solidFill>
                  </a:tcPr>
                </a:tc>
                <a:tc>
                  <a:txBody>
                    <a:bodyPr/>
                    <a:lstStyle/>
                    <a:p>
                      <a:pPr indent="0" marL="0">
                        <a:buNone/>
                      </a:pPr>
                      <a:r>
                        <a:rPr lang="en-US" sz="950" b="1" dirty="0">
                          <a:solidFill>
                            <a:srgbClr val="F8FAFC"/>
                          </a:solidFill>
                          <a:latin typeface="Segoe UI" pitchFamily="34" charset="0"/>
                          <a:ea typeface="Segoe UI" pitchFamily="34" charset="-122"/>
                          <a:cs typeface="Segoe UI" pitchFamily="34" charset="-120"/>
                        </a:rPr>
                        <a:t>Expected Result</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B1020"/>
                    </a:solidFill>
                  </a:tcPr>
                </a:tc>
                <a:tc>
                  <a:txBody>
                    <a:bodyPr/>
                    <a:lstStyle/>
                    <a:p>
                      <a:pPr indent="0" marL="0">
                        <a:buNone/>
                      </a:pPr>
                      <a:r>
                        <a:rPr lang="en-US" sz="950" b="1" dirty="0">
                          <a:solidFill>
                            <a:srgbClr val="F8FAFC"/>
                          </a:solidFill>
                          <a:latin typeface="Segoe UI" pitchFamily="34" charset="0"/>
                          <a:ea typeface="Segoe UI" pitchFamily="34" charset="-122"/>
                          <a:cs typeface="Segoe UI" pitchFamily="34" charset="-120"/>
                        </a:rPr>
                        <a:t>Actual Result</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B1020"/>
                    </a:solidFill>
                  </a:tcPr>
                </a:tc>
                <a:tc>
                  <a:txBody>
                    <a:bodyPr/>
                    <a:lstStyle/>
                    <a:p>
                      <a:pPr indent="0" marL="0">
                        <a:buNone/>
                      </a:pPr>
                      <a:r>
                        <a:rPr lang="en-US" sz="950" b="1" dirty="0">
                          <a:solidFill>
                            <a:srgbClr val="F8FAFC"/>
                          </a:solidFill>
                          <a:latin typeface="Segoe UI" pitchFamily="34" charset="0"/>
                          <a:ea typeface="Segoe UI" pitchFamily="34" charset="-122"/>
                          <a:cs typeface="Segoe UI" pitchFamily="34" charset="-120"/>
                        </a:rPr>
                        <a:t>Status</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B1020"/>
                    </a:solidFill>
                  </a:tcPr>
                </a:tc>
              </a:tr>
              <a:tr h="621792">
                <a:tc>
                  <a:txBody>
                    <a:bodyPr/>
                    <a:lstStyle/>
                    <a:p>
                      <a:pPr indent="0" marL="0">
                        <a:buNone/>
                      </a:pPr>
                      <a:r>
                        <a:rPr lang="en-US" sz="950" b="1" dirty="0">
                          <a:solidFill>
                            <a:srgbClr val="F8FAFC"/>
                          </a:solidFill>
                          <a:latin typeface="Segoe UI" pitchFamily="34" charset="0"/>
                          <a:ea typeface="Segoe UI" pitchFamily="34" charset="-122"/>
                          <a:cs typeface="Segoe UI" pitchFamily="34" charset="-120"/>
                        </a:rPr>
                        <a:t>Add Valid Medicine</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dirty="0">
                          <a:solidFill>
                            <a:srgbClr val="000000"/>
                          </a:solidFill>
                          <a:latin typeface="Segoe UI" pitchFamily="34" charset="0"/>
                          <a:ea typeface="Segoe UI" pitchFamily="34" charset="-122"/>
                          <a:cs typeface="Segoe UI" pitchFamily="34" charset="-120"/>
                        </a:rPr>
                        <a:t>Record created in DB, 201 Created returned</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dirty="0">
                          <a:solidFill>
                            <a:srgbClr val="000000"/>
                          </a:solidFill>
                          <a:latin typeface="Segoe UI" pitchFamily="34" charset="0"/>
                          <a:ea typeface="Segoe UI" pitchFamily="34" charset="-122"/>
                          <a:cs typeface="Segoe UI" pitchFamily="34" charset="-120"/>
                        </a:rPr>
                        <a:t>Medicine &amp; batch persisted successfully</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b="1" dirty="0">
                          <a:solidFill>
                            <a:srgbClr val="10B981"/>
                          </a:solidFill>
                          <a:latin typeface="Segoe UI" pitchFamily="34" charset="0"/>
                          <a:ea typeface="Segoe UI" pitchFamily="34" charset="-122"/>
                          <a:cs typeface="Segoe UI" pitchFamily="34" charset="-120"/>
                        </a:rPr>
                        <a:t>PASSED</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r>
              <a:tr h="621792">
                <a:tc>
                  <a:txBody>
                    <a:bodyPr/>
                    <a:lstStyle/>
                    <a:p>
                      <a:pPr indent="0" marL="0">
                        <a:buNone/>
                      </a:pPr>
                      <a:r>
                        <a:rPr lang="en-US" sz="950" b="1" dirty="0">
                          <a:solidFill>
                            <a:srgbClr val="F8FAFC"/>
                          </a:solidFill>
                          <a:latin typeface="Segoe UI" pitchFamily="34" charset="0"/>
                          <a:ea typeface="Segoe UI" pitchFamily="34" charset="-122"/>
                          <a:cs typeface="Segoe UI" pitchFamily="34" charset="-120"/>
                        </a:rPr>
                        <a:t>Reject Duplicate Barcode</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dirty="0">
                          <a:solidFill>
                            <a:srgbClr val="000000"/>
                          </a:solidFill>
                          <a:latin typeface="Segoe UI" pitchFamily="34" charset="0"/>
                          <a:ea typeface="Segoe UI" pitchFamily="34" charset="-122"/>
                          <a:cs typeface="Segoe UI" pitchFamily="34" charset="-120"/>
                        </a:rPr>
                        <a:t>HTTP 422 Unprocessable Entity error</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dirty="0">
                          <a:solidFill>
                            <a:srgbClr val="000000"/>
                          </a:solidFill>
                          <a:latin typeface="Segoe UI" pitchFamily="34" charset="0"/>
                          <a:ea typeface="Segoe UI" pitchFamily="34" charset="-122"/>
                          <a:cs typeface="Segoe UI" pitchFamily="34" charset="-120"/>
                        </a:rPr>
                        <a:t>Validation failed with barcode error message</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b="1" dirty="0">
                          <a:solidFill>
                            <a:srgbClr val="10B981"/>
                          </a:solidFill>
                          <a:latin typeface="Segoe UI" pitchFamily="34" charset="0"/>
                          <a:ea typeface="Segoe UI" pitchFamily="34" charset="-122"/>
                          <a:cs typeface="Segoe UI" pitchFamily="34" charset="-120"/>
                        </a:rPr>
                        <a:t>PASSED</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r>
              <a:tr h="621792">
                <a:tc>
                  <a:txBody>
                    <a:bodyPr/>
                    <a:lstStyle/>
                    <a:p>
                      <a:pPr indent="0" marL="0">
                        <a:buNone/>
                      </a:pPr>
                      <a:r>
                        <a:rPr lang="en-US" sz="950" b="1" dirty="0">
                          <a:solidFill>
                            <a:srgbClr val="F8FAFC"/>
                          </a:solidFill>
                          <a:latin typeface="Segoe UI" pitchFamily="34" charset="0"/>
                          <a:ea typeface="Segoe UI" pitchFamily="34" charset="-122"/>
                          <a:cs typeface="Segoe UI" pitchFamily="34" charset="-120"/>
                        </a:rPr>
                        <a:t>FEFO Batch Selection</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dirty="0">
                          <a:solidFill>
                            <a:srgbClr val="000000"/>
                          </a:solidFill>
                          <a:latin typeface="Segoe UI" pitchFamily="34" charset="0"/>
                          <a:ea typeface="Segoe UI" pitchFamily="34" charset="-122"/>
                          <a:cs typeface="Segoe UI" pitchFamily="34" charset="-120"/>
                        </a:rPr>
                        <a:t>Earliest expiring batch allocated first</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dirty="0">
                          <a:solidFill>
                            <a:srgbClr val="000000"/>
                          </a:solidFill>
                          <a:latin typeface="Segoe UI" pitchFamily="34" charset="0"/>
                          <a:ea typeface="Segoe UI" pitchFamily="34" charset="-122"/>
                          <a:cs typeface="Segoe UI" pitchFamily="34" charset="-120"/>
                        </a:rPr>
                        <a:t>Ordered by expiry_date ASC, expired excluded</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b="1" dirty="0">
                          <a:solidFill>
                            <a:srgbClr val="10B981"/>
                          </a:solidFill>
                          <a:latin typeface="Segoe UI" pitchFamily="34" charset="0"/>
                          <a:ea typeface="Segoe UI" pitchFamily="34" charset="-122"/>
                          <a:cs typeface="Segoe UI" pitchFamily="34" charset="-120"/>
                        </a:rPr>
                        <a:t>PASSED</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r>
              <a:tr h="621792">
                <a:tc>
                  <a:txBody>
                    <a:bodyPr/>
                    <a:lstStyle/>
                    <a:p>
                      <a:pPr indent="0" marL="0">
                        <a:buNone/>
                      </a:pPr>
                      <a:r>
                        <a:rPr lang="en-US" sz="950" b="1" dirty="0">
                          <a:solidFill>
                            <a:srgbClr val="F8FAFC"/>
                          </a:solidFill>
                          <a:latin typeface="Segoe UI" pitchFamily="34" charset="0"/>
                          <a:ea typeface="Segoe UI" pitchFamily="34" charset="-122"/>
                          <a:cs typeface="Segoe UI" pitchFamily="34" charset="-120"/>
                        </a:rPr>
                        <a:t>PO State Completion</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dirty="0">
                          <a:solidFill>
                            <a:srgbClr val="000000"/>
                          </a:solidFill>
                          <a:latin typeface="Segoe UI" pitchFamily="34" charset="0"/>
                          <a:ea typeface="Segoe UI" pitchFamily="34" charset="-122"/>
                          <a:cs typeface="Segoe UI" pitchFamily="34" charset="-120"/>
                        </a:rPr>
                        <a:t>Stock increments ONLY when COMPLETED</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dirty="0">
                          <a:solidFill>
                            <a:srgbClr val="000000"/>
                          </a:solidFill>
                          <a:latin typeface="Segoe UI" pitchFamily="34" charset="0"/>
                          <a:ea typeface="Segoe UI" pitchFamily="34" charset="-122"/>
                          <a:cs typeface="Segoe UI" pitchFamily="34" charset="-120"/>
                        </a:rPr>
                        <a:t>Draft/Pending do not increment; Completed credits stock</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b="1" dirty="0">
                          <a:solidFill>
                            <a:srgbClr val="10B981"/>
                          </a:solidFill>
                          <a:latin typeface="Segoe UI" pitchFamily="34" charset="0"/>
                          <a:ea typeface="Segoe UI" pitchFamily="34" charset="-122"/>
                          <a:cs typeface="Segoe UI" pitchFamily="34" charset="-120"/>
                        </a:rPr>
                        <a:t>PASSED</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r>
              <a:tr h="621792">
                <a:tc>
                  <a:txBody>
                    <a:bodyPr/>
                    <a:lstStyle/>
                    <a:p>
                      <a:pPr indent="0" marL="0">
                        <a:buNone/>
                      </a:pPr>
                      <a:r>
                        <a:rPr lang="en-US" sz="950" b="1" dirty="0">
                          <a:solidFill>
                            <a:srgbClr val="F8FAFC"/>
                          </a:solidFill>
                          <a:latin typeface="Segoe UI" pitchFamily="34" charset="0"/>
                          <a:ea typeface="Segoe UI" pitchFamily="34" charset="-122"/>
                          <a:cs typeface="Segoe UI" pitchFamily="34" charset="-120"/>
                        </a:rPr>
                        <a:t>Unapproved User Login</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dirty="0">
                          <a:solidFill>
                            <a:srgbClr val="000000"/>
                          </a:solidFill>
                          <a:latin typeface="Segoe UI" pitchFamily="34" charset="0"/>
                          <a:ea typeface="Segoe UI" pitchFamily="34" charset="-122"/>
                          <a:cs typeface="Segoe UI" pitchFamily="34" charset="-120"/>
                        </a:rPr>
                        <a:t>HTTP 403 Forbidden access blocked</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dirty="0">
                          <a:solidFill>
                            <a:srgbClr val="000000"/>
                          </a:solidFill>
                          <a:latin typeface="Segoe UI" pitchFamily="34" charset="0"/>
                          <a:ea typeface="Segoe UI" pitchFamily="34" charset="-122"/>
                          <a:cs typeface="Segoe UI" pitchFamily="34" charset="-120"/>
                        </a:rPr>
                        <a:t>EnsureUserApproved middleware rejected token</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b="1" dirty="0">
                          <a:solidFill>
                            <a:srgbClr val="10B981"/>
                          </a:solidFill>
                          <a:latin typeface="Segoe UI" pitchFamily="34" charset="0"/>
                          <a:ea typeface="Segoe UI" pitchFamily="34" charset="-122"/>
                          <a:cs typeface="Segoe UI" pitchFamily="34" charset="-120"/>
                        </a:rPr>
                        <a:t>PASSED</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r>
              <a:tr h="621792">
                <a:tc>
                  <a:txBody>
                    <a:bodyPr/>
                    <a:lstStyle/>
                    <a:p>
                      <a:pPr indent="0" marL="0">
                        <a:buNone/>
                      </a:pPr>
                      <a:r>
                        <a:rPr lang="en-US" sz="950" b="1" dirty="0">
                          <a:solidFill>
                            <a:srgbClr val="F8FAFC"/>
                          </a:solidFill>
                          <a:latin typeface="Segoe UI" pitchFamily="34" charset="0"/>
                          <a:ea typeface="Segoe UI" pitchFamily="34" charset="-122"/>
                          <a:cs typeface="Segoe UI" pitchFamily="34" charset="-120"/>
                        </a:rPr>
                        <a:t>Branch Ownership Check</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dirty="0">
                          <a:solidFill>
                            <a:srgbClr val="000000"/>
                          </a:solidFill>
                          <a:latin typeface="Segoe UI" pitchFamily="34" charset="0"/>
                          <a:ea typeface="Segoe UI" pitchFamily="34" charset="-122"/>
                          <a:cs typeface="Segoe UI" pitchFamily="34" charset="-120"/>
                        </a:rPr>
                        <a:t>Inventory filters by branch_id correctly</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dirty="0">
                          <a:solidFill>
                            <a:srgbClr val="000000"/>
                          </a:solidFill>
                          <a:latin typeface="Segoe UI" pitchFamily="34" charset="0"/>
                          <a:ea typeface="Segoe UI" pitchFamily="34" charset="-122"/>
                          <a:cs typeface="Segoe UI" pitchFamily="34" charset="-120"/>
                        </a:rPr>
                        <a:t>Stock records isolated by designated location</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indent="0" marL="0">
                        <a:buNone/>
                      </a:pPr>
                      <a:r>
                        <a:rPr lang="en-US" sz="950" b="1" dirty="0">
                          <a:solidFill>
                            <a:srgbClr val="10B981"/>
                          </a:solidFill>
                          <a:latin typeface="Segoe UI" pitchFamily="34" charset="0"/>
                          <a:ea typeface="Segoe UI" pitchFamily="34" charset="-122"/>
                          <a:cs typeface="Segoe UI" pitchFamily="34" charset="-120"/>
                        </a:rPr>
                        <a:t>PASSED</a:t>
                      </a:r>
                      <a:endParaRPr lang="en-US" sz="950" dirty="0">
                        <a:latin typeface="Segoe UI" charset="0"/>
                        <a:ea typeface="Segoe UI" charset="0"/>
                        <a:cs typeface="Segoe U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31520" y="320040"/>
            <a:ext cx="10725912" cy="27432"/>
          </a:xfrm>
          <a:prstGeom prst="rect">
            <a:avLst/>
          </a:prstGeom>
          <a:solidFill>
            <a:srgbClr val="3B82F6"/>
          </a:solidFill>
          <a:ln w="12700">
            <a:solidFill>
              <a:srgbClr val="3B82F6"/>
            </a:solidFill>
            <a:prstDash val="solid"/>
          </a:ln>
        </p:spPr>
      </p:sp>
      <p:sp>
        <p:nvSpPr>
          <p:cNvPr id="3" name="Shape 1"/>
          <p:cNvSpPr/>
          <p:nvPr/>
        </p:nvSpPr>
        <p:spPr>
          <a:xfrm>
            <a:off x="731520" y="457200"/>
            <a:ext cx="2926080" cy="292608"/>
          </a:xfrm>
          <a:prstGeom prst="roundRect">
            <a:avLst>
              <a:gd name="adj" fmla="val 18750"/>
            </a:avLst>
          </a:prstGeom>
          <a:solidFill>
            <a:srgbClr val="111B35"/>
          </a:solidFill>
          <a:ln w="12700">
            <a:solidFill>
              <a:srgbClr val="3B82F6"/>
            </a:solidFill>
            <a:prstDash val="solid"/>
          </a:ln>
        </p:spPr>
      </p:sp>
      <p:sp>
        <p:nvSpPr>
          <p:cNvPr id="4" name="Text 2"/>
          <p:cNvSpPr/>
          <p:nvPr/>
        </p:nvSpPr>
        <p:spPr>
          <a:xfrm>
            <a:off x="731520" y="457200"/>
            <a:ext cx="2926080" cy="292608"/>
          </a:xfrm>
          <a:prstGeom prst="rect">
            <a:avLst/>
          </a:prstGeom>
          <a:noFill/>
          <a:ln/>
        </p:spPr>
        <p:txBody>
          <a:bodyPr wrap="square" rtlCol="0" anchor="ctr"/>
          <a:lstStyle/>
          <a:p>
            <a:pPr algn="ctr" indent="0" marL="0">
              <a:buNone/>
            </a:pPr>
            <a:r>
              <a:rPr lang="en-US" sz="900" b="1" dirty="0">
                <a:solidFill>
                  <a:srgbClr val="22D3EE"/>
                </a:solidFill>
                <a:latin typeface="Segoe UI" pitchFamily="34" charset="0"/>
                <a:ea typeface="Segoe UI" pitchFamily="34" charset="-122"/>
                <a:cs typeface="Segoe UI" pitchFamily="34" charset="-120"/>
              </a:rPr>
              <a:t>LESSONS &amp; HORIZONS</a:t>
            </a:r>
            <a:endParaRPr lang="en-US" sz="900" dirty="0"/>
          </a:p>
        </p:txBody>
      </p:sp>
      <p:sp>
        <p:nvSpPr>
          <p:cNvPr id="5" name="Text 3"/>
          <p:cNvSpPr/>
          <p:nvPr/>
        </p:nvSpPr>
        <p:spPr>
          <a:xfrm>
            <a:off x="731520" y="822960"/>
            <a:ext cx="10725912"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What We Learned and What Comes Next</a:t>
            </a:r>
            <a:endParaRPr lang="en-US" sz="2200" dirty="0"/>
          </a:p>
        </p:txBody>
      </p:sp>
      <p:sp>
        <p:nvSpPr>
          <p:cNvPr id="6" name="Shape 4"/>
          <p:cNvSpPr/>
          <p:nvPr/>
        </p:nvSpPr>
        <p:spPr>
          <a:xfrm>
            <a:off x="731520" y="6355080"/>
            <a:ext cx="10725912" cy="13716"/>
          </a:xfrm>
          <a:prstGeom prst="rect">
            <a:avLst/>
          </a:prstGeom>
          <a:solidFill>
            <a:srgbClr val="1E293B"/>
          </a:solidFill>
          <a:ln w="12700">
            <a:solidFill>
              <a:srgbClr val="1E293B"/>
            </a:solidFill>
            <a:prstDash val="solid"/>
          </a:ln>
        </p:spPr>
      </p:sp>
      <p:sp>
        <p:nvSpPr>
          <p:cNvPr id="7" name="Text 5"/>
          <p:cNvSpPr/>
          <p:nvPr/>
        </p:nvSpPr>
        <p:spPr>
          <a:xfrm>
            <a:off x="731520" y="6419088"/>
            <a:ext cx="10725912"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Laravel Pharmacy Inventory Management System  |  Multi-Branch Edition  |  Woldia University</a:t>
            </a:r>
            <a:endParaRPr lang="en-US" sz="850" dirty="0"/>
          </a:p>
        </p:txBody>
      </p:sp>
      <p:sp>
        <p:nvSpPr>
          <p:cNvPr id="9" name="Shape 6"/>
          <p:cNvSpPr/>
          <p:nvPr/>
        </p:nvSpPr>
        <p:spPr>
          <a:xfrm>
            <a:off x="731520" y="1508760"/>
            <a:ext cx="3429000" cy="4572000"/>
          </a:xfrm>
          <a:prstGeom prst="roundRect">
            <a:avLst>
              <a:gd name="adj" fmla="val 2133"/>
            </a:avLst>
          </a:prstGeom>
          <a:solidFill>
            <a:srgbClr val="111B35"/>
          </a:solidFill>
          <a:ln w="15240">
            <a:solidFill>
              <a:srgbClr val="F59E0B"/>
            </a:solidFill>
            <a:prstDash val="solid"/>
          </a:ln>
        </p:spPr>
      </p:sp>
      <p:sp>
        <p:nvSpPr>
          <p:cNvPr id="10" name="Shape 7"/>
          <p:cNvSpPr/>
          <p:nvPr/>
        </p:nvSpPr>
        <p:spPr>
          <a:xfrm>
            <a:off x="960120" y="1737360"/>
            <a:ext cx="2011680" cy="274320"/>
          </a:xfrm>
          <a:prstGeom prst="roundRect">
            <a:avLst>
              <a:gd name="adj" fmla="val 16667"/>
            </a:avLst>
          </a:prstGeom>
          <a:solidFill>
            <a:srgbClr val="0B1020"/>
          </a:solidFill>
          <a:ln w="12700">
            <a:solidFill>
              <a:srgbClr val="F59E0B"/>
            </a:solidFill>
            <a:prstDash val="solid"/>
          </a:ln>
        </p:spPr>
      </p:sp>
      <p:sp>
        <p:nvSpPr>
          <p:cNvPr id="11" name="Text 8"/>
          <p:cNvSpPr/>
          <p:nvPr/>
        </p:nvSpPr>
        <p:spPr>
          <a:xfrm>
            <a:off x="960120" y="1737360"/>
            <a:ext cx="2011680" cy="274320"/>
          </a:xfrm>
          <a:prstGeom prst="rect">
            <a:avLst/>
          </a:prstGeom>
          <a:noFill/>
          <a:ln/>
        </p:spPr>
        <p:txBody>
          <a:bodyPr wrap="square" rtlCol="0" anchor="ctr"/>
          <a:lstStyle/>
          <a:p>
            <a:pPr algn="ctr" indent="0" marL="0">
              <a:buNone/>
            </a:pPr>
            <a:r>
              <a:rPr lang="en-US" sz="850" b="1" dirty="0">
                <a:solidFill>
                  <a:srgbClr val="F59E0B"/>
                </a:solidFill>
                <a:latin typeface="Segoe UI" pitchFamily="34" charset="0"/>
                <a:ea typeface="Segoe UI" pitchFamily="34" charset="-122"/>
                <a:cs typeface="Segoe UI" pitchFamily="34" charset="-120"/>
              </a:rPr>
              <a:t>ENGINEERING HURDLES</a:t>
            </a:r>
            <a:endParaRPr lang="en-US" sz="850" dirty="0"/>
          </a:p>
        </p:txBody>
      </p:sp>
      <p:sp>
        <p:nvSpPr>
          <p:cNvPr id="12" name="Text 9"/>
          <p:cNvSpPr/>
          <p:nvPr/>
        </p:nvSpPr>
        <p:spPr>
          <a:xfrm>
            <a:off x="960120" y="2103120"/>
            <a:ext cx="2971800" cy="457200"/>
          </a:xfrm>
          <a:prstGeom prst="rect">
            <a:avLst/>
          </a:prstGeom>
          <a:noFill/>
          <a:ln/>
        </p:spPr>
        <p:txBody>
          <a:bodyPr wrap="square" rtlCol="0" anchor="ctr"/>
          <a:lstStyle/>
          <a:p>
            <a:pPr indent="0" marL="0">
              <a:buNone/>
            </a:pPr>
            <a:r>
              <a:rPr lang="en-US" sz="1350" b="1" dirty="0">
                <a:solidFill>
                  <a:srgbClr val="F8FAFC"/>
                </a:solidFill>
                <a:latin typeface="Segoe UI" pitchFamily="34" charset="0"/>
                <a:ea typeface="Segoe UI" pitchFamily="34" charset="-122"/>
                <a:cs typeface="Segoe UI" pitchFamily="34" charset="-120"/>
              </a:rPr>
              <a:t>Real Challenges</a:t>
            </a:r>
            <a:endParaRPr lang="en-US" sz="1350" dirty="0"/>
          </a:p>
        </p:txBody>
      </p:sp>
      <p:sp>
        <p:nvSpPr>
          <p:cNvPr id="13" name="Text 10"/>
          <p:cNvSpPr/>
          <p:nvPr/>
        </p:nvSpPr>
        <p:spPr>
          <a:xfrm>
            <a:off x="960120" y="2651760"/>
            <a:ext cx="2971800" cy="3200400"/>
          </a:xfrm>
          <a:prstGeom prst="rect">
            <a:avLst/>
          </a:prstGeom>
          <a:noFill/>
          <a:ln/>
        </p:spPr>
        <p:txBody>
          <a:bodyPr wrap="square" rtlCol="0" anchor="ctr"/>
          <a:lstStyle/>
          <a:p>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FEFO Waterfall Logic: Allocating sales across multiple batches when a single batch quantity is insufficient.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PO State Integrity: Guaranteeing stock is never credited twice if a purchase order is updated.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Multi-Branch Data Modeling: Structuring foreign keys so transfers preserve source and destination history.
</a:t>
            </a:r>
            <a:endParaRPr lang="en-US" sz="1000" dirty="0"/>
          </a:p>
        </p:txBody>
      </p:sp>
      <p:sp>
        <p:nvSpPr>
          <p:cNvPr id="14" name="Shape 11"/>
          <p:cNvSpPr/>
          <p:nvPr/>
        </p:nvSpPr>
        <p:spPr>
          <a:xfrm>
            <a:off x="4343400" y="1508760"/>
            <a:ext cx="3429000" cy="4572000"/>
          </a:xfrm>
          <a:prstGeom prst="roundRect">
            <a:avLst>
              <a:gd name="adj" fmla="val 2133"/>
            </a:avLst>
          </a:prstGeom>
          <a:solidFill>
            <a:srgbClr val="111B35"/>
          </a:solidFill>
          <a:ln w="15240">
            <a:solidFill>
              <a:srgbClr val="22D3EE"/>
            </a:solidFill>
            <a:prstDash val="solid"/>
          </a:ln>
        </p:spPr>
      </p:sp>
      <p:sp>
        <p:nvSpPr>
          <p:cNvPr id="15" name="Shape 12"/>
          <p:cNvSpPr/>
          <p:nvPr/>
        </p:nvSpPr>
        <p:spPr>
          <a:xfrm>
            <a:off x="4572000" y="1737360"/>
            <a:ext cx="2011680" cy="274320"/>
          </a:xfrm>
          <a:prstGeom prst="roundRect">
            <a:avLst>
              <a:gd name="adj" fmla="val 16667"/>
            </a:avLst>
          </a:prstGeom>
          <a:solidFill>
            <a:srgbClr val="0B1020"/>
          </a:solidFill>
          <a:ln w="12700">
            <a:solidFill>
              <a:srgbClr val="22D3EE"/>
            </a:solidFill>
            <a:prstDash val="solid"/>
          </a:ln>
        </p:spPr>
      </p:sp>
      <p:sp>
        <p:nvSpPr>
          <p:cNvPr id="16" name="Text 13"/>
          <p:cNvSpPr/>
          <p:nvPr/>
        </p:nvSpPr>
        <p:spPr>
          <a:xfrm>
            <a:off x="4572000" y="1737360"/>
            <a:ext cx="2011680" cy="274320"/>
          </a:xfrm>
          <a:prstGeom prst="rect">
            <a:avLst/>
          </a:prstGeom>
          <a:noFill/>
          <a:ln/>
        </p:spPr>
        <p:txBody>
          <a:bodyPr wrap="square" rtlCol="0" anchor="ctr"/>
          <a:lstStyle/>
          <a:p>
            <a:pPr algn="ctr" indent="0" marL="0">
              <a:buNone/>
            </a:pPr>
            <a:r>
              <a:rPr lang="en-US" sz="850" b="1" dirty="0">
                <a:solidFill>
                  <a:srgbClr val="22D3EE"/>
                </a:solidFill>
                <a:latin typeface="Segoe UI" pitchFamily="34" charset="0"/>
                <a:ea typeface="Segoe UI" pitchFamily="34" charset="-122"/>
                <a:cs typeface="Segoe UI" pitchFamily="34" charset="-120"/>
              </a:rPr>
              <a:t>ROADMAP HORIZONS</a:t>
            </a:r>
            <a:endParaRPr lang="en-US" sz="850" dirty="0"/>
          </a:p>
        </p:txBody>
      </p:sp>
      <p:sp>
        <p:nvSpPr>
          <p:cNvPr id="17" name="Text 14"/>
          <p:cNvSpPr/>
          <p:nvPr/>
        </p:nvSpPr>
        <p:spPr>
          <a:xfrm>
            <a:off x="4572000" y="2103120"/>
            <a:ext cx="2971800" cy="457200"/>
          </a:xfrm>
          <a:prstGeom prst="rect">
            <a:avLst/>
          </a:prstGeom>
          <a:noFill/>
          <a:ln/>
        </p:spPr>
        <p:txBody>
          <a:bodyPr wrap="square" rtlCol="0" anchor="ctr"/>
          <a:lstStyle/>
          <a:p>
            <a:pPr indent="0" marL="0">
              <a:buNone/>
            </a:pPr>
            <a:r>
              <a:rPr lang="en-US" sz="1350" b="1" dirty="0">
                <a:solidFill>
                  <a:srgbClr val="F8FAFC"/>
                </a:solidFill>
                <a:latin typeface="Segoe UI" pitchFamily="34" charset="0"/>
                <a:ea typeface="Segoe UI" pitchFamily="34" charset="-122"/>
                <a:cs typeface="Segoe UI" pitchFamily="34" charset="-120"/>
              </a:rPr>
              <a:t>Future Improvements</a:t>
            </a:r>
            <a:endParaRPr lang="en-US" sz="1350" dirty="0"/>
          </a:p>
        </p:txBody>
      </p:sp>
      <p:sp>
        <p:nvSpPr>
          <p:cNvPr id="18" name="Text 15"/>
          <p:cNvSpPr/>
          <p:nvPr/>
        </p:nvSpPr>
        <p:spPr>
          <a:xfrm>
            <a:off x="4572000" y="2651760"/>
            <a:ext cx="2971800" cy="3200400"/>
          </a:xfrm>
          <a:prstGeom prst="rect">
            <a:avLst/>
          </a:prstGeom>
          <a:noFill/>
          <a:ln/>
        </p:spPr>
        <p:txBody>
          <a:bodyPr wrap="square" rtlCol="0" anchor="ctr"/>
          <a:lstStyle/>
          <a:p>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Fintech API Webhooks: Direct server-to-server confirmation for Telebirr and CBE Birr transactions.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Predictive AI Demand Forecasting: Time-series ML models predicting seasonal medication demand spikes.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Offline Progressive Web App (PWA): Local caching to enable checkout during regional internet outages.
</a:t>
            </a:r>
            <a:endParaRPr lang="en-US" sz="1000" dirty="0"/>
          </a:p>
        </p:txBody>
      </p:sp>
      <p:sp>
        <p:nvSpPr>
          <p:cNvPr id="19" name="Shape 16"/>
          <p:cNvSpPr/>
          <p:nvPr/>
        </p:nvSpPr>
        <p:spPr>
          <a:xfrm>
            <a:off x="7955280" y="1508760"/>
            <a:ext cx="3429000" cy="4572000"/>
          </a:xfrm>
          <a:prstGeom prst="roundRect">
            <a:avLst>
              <a:gd name="adj" fmla="val 2133"/>
            </a:avLst>
          </a:prstGeom>
          <a:solidFill>
            <a:srgbClr val="111B35"/>
          </a:solidFill>
          <a:ln w="15240">
            <a:solidFill>
              <a:srgbClr val="10B981"/>
            </a:solidFill>
            <a:prstDash val="solid"/>
          </a:ln>
        </p:spPr>
      </p:sp>
      <p:sp>
        <p:nvSpPr>
          <p:cNvPr id="20" name="Shape 17"/>
          <p:cNvSpPr/>
          <p:nvPr/>
        </p:nvSpPr>
        <p:spPr>
          <a:xfrm>
            <a:off x="8183880" y="1737360"/>
            <a:ext cx="2011680" cy="274320"/>
          </a:xfrm>
          <a:prstGeom prst="roundRect">
            <a:avLst>
              <a:gd name="adj" fmla="val 16667"/>
            </a:avLst>
          </a:prstGeom>
          <a:solidFill>
            <a:srgbClr val="0B1020"/>
          </a:solidFill>
          <a:ln w="12700">
            <a:solidFill>
              <a:srgbClr val="10B981"/>
            </a:solidFill>
            <a:prstDash val="solid"/>
          </a:ln>
        </p:spPr>
      </p:sp>
      <p:sp>
        <p:nvSpPr>
          <p:cNvPr id="21" name="Text 18"/>
          <p:cNvSpPr/>
          <p:nvPr/>
        </p:nvSpPr>
        <p:spPr>
          <a:xfrm>
            <a:off x="8183880" y="1737360"/>
            <a:ext cx="2011680" cy="274320"/>
          </a:xfrm>
          <a:prstGeom prst="rect">
            <a:avLst/>
          </a:prstGeom>
          <a:noFill/>
          <a:ln/>
        </p:spPr>
        <p:txBody>
          <a:bodyPr wrap="square" rtlCol="0" anchor="ctr"/>
          <a:lstStyle/>
          <a:p>
            <a:pPr algn="ctr" indent="0" marL="0">
              <a:buNone/>
            </a:pPr>
            <a:r>
              <a:rPr lang="en-US" sz="850" b="1" dirty="0">
                <a:solidFill>
                  <a:srgbClr val="10B981"/>
                </a:solidFill>
                <a:latin typeface="Segoe UI" pitchFamily="34" charset="0"/>
                <a:ea typeface="Segoe UI" pitchFamily="34" charset="-122"/>
                <a:cs typeface="Segoe UI" pitchFamily="34" charset="-120"/>
              </a:rPr>
              <a:t>SUMMARY OF VALUE</a:t>
            </a:r>
            <a:endParaRPr lang="en-US" sz="850" dirty="0"/>
          </a:p>
        </p:txBody>
      </p:sp>
      <p:sp>
        <p:nvSpPr>
          <p:cNvPr id="22" name="Text 19"/>
          <p:cNvSpPr/>
          <p:nvPr/>
        </p:nvSpPr>
        <p:spPr>
          <a:xfrm>
            <a:off x="8183880" y="2103120"/>
            <a:ext cx="2971800" cy="457200"/>
          </a:xfrm>
          <a:prstGeom prst="rect">
            <a:avLst/>
          </a:prstGeom>
          <a:noFill/>
          <a:ln/>
        </p:spPr>
        <p:txBody>
          <a:bodyPr wrap="square" rtlCol="0" anchor="ctr"/>
          <a:lstStyle/>
          <a:p>
            <a:pPr indent="0" marL="0">
              <a:buNone/>
            </a:pPr>
            <a:r>
              <a:rPr lang="en-US" sz="1350" b="1" dirty="0">
                <a:solidFill>
                  <a:srgbClr val="F8FAFC"/>
                </a:solidFill>
                <a:latin typeface="Segoe UI" pitchFamily="34" charset="0"/>
                <a:ea typeface="Segoe UI" pitchFamily="34" charset="-122"/>
                <a:cs typeface="Segoe UI" pitchFamily="34" charset="-120"/>
              </a:rPr>
              <a:t>Core Conclusion</a:t>
            </a:r>
            <a:endParaRPr lang="en-US" sz="1350" dirty="0"/>
          </a:p>
        </p:txBody>
      </p:sp>
      <p:sp>
        <p:nvSpPr>
          <p:cNvPr id="23" name="Text 20"/>
          <p:cNvSpPr/>
          <p:nvPr/>
        </p:nvSpPr>
        <p:spPr>
          <a:xfrm>
            <a:off x="8183880" y="2651760"/>
            <a:ext cx="2971800" cy="3200400"/>
          </a:xfrm>
          <a:prstGeom prst="rect">
            <a:avLst/>
          </a:prstGeom>
          <a:noFill/>
          <a:ln/>
        </p:spPr>
        <p:txBody>
          <a:bodyPr wrap="square" rtlCol="0" anchor="ctr"/>
          <a:lstStyle/>
          <a:p>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Replaces error-prone manual paper bin cards with a unified, real-time digital system.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Automated FEFO dispensing prevents expired medicine hazards and protects pharmacy revenue.
</a:t>
            </a:r>
            <a:pPr indent="0" marL="0">
              <a:lnSpc>
                <a:spcPct val="115000"/>
              </a:lnSpc>
              <a:buNone/>
            </a:pPr>
            <a:r>
              <a:rPr lang="en-US" sz="1000" dirty="0">
                <a:solidFill>
                  <a:srgbClr val="94A3B8"/>
                </a:solidFill>
                <a:latin typeface="Segoe UI" pitchFamily="34" charset="0"/>
                <a:ea typeface="Segoe UI" pitchFamily="34" charset="-122"/>
                <a:cs typeface="Segoe UI" pitchFamily="34" charset="-120"/>
              </a:rPr>
              <a:t>•  Centralized architecture provides a scalable foundation for multi-branch healthcare networks.
</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828800" y="1097280"/>
            <a:ext cx="8531352" cy="4754880"/>
          </a:xfrm>
          <a:prstGeom prst="roundRect">
            <a:avLst>
              <a:gd name="adj" fmla="val 1923"/>
            </a:avLst>
          </a:prstGeom>
          <a:solidFill>
            <a:srgbClr val="111B35"/>
          </a:solidFill>
          <a:ln w="19050">
            <a:solidFill>
              <a:srgbClr val="3B82F6"/>
            </a:solidFill>
            <a:prstDash val="solid"/>
          </a:ln>
        </p:spPr>
      </p:sp>
      <p:sp>
        <p:nvSpPr>
          <p:cNvPr id="3" name="Shape 1"/>
          <p:cNvSpPr/>
          <p:nvPr/>
        </p:nvSpPr>
        <p:spPr>
          <a:xfrm>
            <a:off x="3200400" y="1371600"/>
            <a:ext cx="5788152" cy="384048"/>
          </a:xfrm>
          <a:prstGeom prst="roundRect">
            <a:avLst>
              <a:gd name="adj" fmla="val 19048"/>
            </a:avLst>
          </a:prstGeom>
          <a:solidFill>
            <a:srgbClr val="0B1020"/>
          </a:solidFill>
          <a:ln w="12700">
            <a:solidFill>
              <a:srgbClr val="22D3EE"/>
            </a:solidFill>
            <a:prstDash val="solid"/>
          </a:ln>
        </p:spPr>
      </p:sp>
      <p:sp>
        <p:nvSpPr>
          <p:cNvPr id="4" name="Text 2"/>
          <p:cNvSpPr/>
          <p:nvPr/>
        </p:nvSpPr>
        <p:spPr>
          <a:xfrm>
            <a:off x="3200400" y="1371600"/>
            <a:ext cx="5788152" cy="384048"/>
          </a:xfrm>
          <a:prstGeom prst="rect">
            <a:avLst/>
          </a:prstGeom>
          <a:noFill/>
          <a:ln/>
        </p:spPr>
        <p:txBody>
          <a:bodyPr wrap="square" rtlCol="0" anchor="ctr"/>
          <a:lstStyle/>
          <a:p>
            <a:pPr algn="ctr" indent="0" marL="0">
              <a:buNone/>
            </a:pPr>
            <a:r>
              <a:rPr lang="en-US" sz="1100" b="1" dirty="0">
                <a:solidFill>
                  <a:srgbClr val="22D3EE"/>
                </a:solidFill>
                <a:latin typeface="Segoe UI" pitchFamily="34" charset="0"/>
                <a:ea typeface="Segoe UI" pitchFamily="34" charset="-122"/>
                <a:cs typeface="Segoe UI" pitchFamily="34" charset="-120"/>
              </a:rPr>
              <a:t>WOLDIA UNIVERSITY  •  SCHOOL OF COMPUTING</a:t>
            </a:r>
            <a:endParaRPr lang="en-US" sz="1100" dirty="0"/>
          </a:p>
        </p:txBody>
      </p:sp>
      <p:sp>
        <p:nvSpPr>
          <p:cNvPr id="5" name="Text 3"/>
          <p:cNvSpPr/>
          <p:nvPr/>
        </p:nvSpPr>
        <p:spPr>
          <a:xfrm>
            <a:off x="1828800" y="2011680"/>
            <a:ext cx="8531352" cy="1097280"/>
          </a:xfrm>
          <a:prstGeom prst="rect">
            <a:avLst/>
          </a:prstGeom>
          <a:noFill/>
          <a:ln/>
        </p:spPr>
        <p:txBody>
          <a:bodyPr wrap="square" rtlCol="0" anchor="ctr"/>
          <a:lstStyle/>
          <a:p>
            <a:pPr algn="ctr" indent="0" marL="0">
              <a:buNone/>
            </a:pPr>
            <a:r>
              <a:rPr lang="en-US" sz="4800" b="1" dirty="0">
                <a:solidFill>
                  <a:srgbClr val="F8FAFC"/>
                </a:solidFill>
                <a:latin typeface="Segoe UI" pitchFamily="34" charset="0"/>
                <a:ea typeface="Segoe UI" pitchFamily="34" charset="-122"/>
                <a:cs typeface="Segoe UI" pitchFamily="34" charset="-120"/>
              </a:rPr>
              <a:t>Thank You!</a:t>
            </a:r>
            <a:endParaRPr lang="en-US" sz="4800" dirty="0"/>
          </a:p>
        </p:txBody>
      </p:sp>
      <p:sp>
        <p:nvSpPr>
          <p:cNvPr id="6" name="Text 4"/>
          <p:cNvSpPr/>
          <p:nvPr/>
        </p:nvSpPr>
        <p:spPr>
          <a:xfrm>
            <a:off x="1828800" y="3108960"/>
            <a:ext cx="8531352" cy="548640"/>
          </a:xfrm>
          <a:prstGeom prst="rect">
            <a:avLst/>
          </a:prstGeom>
          <a:noFill/>
          <a:ln/>
        </p:spPr>
        <p:txBody>
          <a:bodyPr wrap="square" rtlCol="0" anchor="ctr"/>
          <a:lstStyle/>
          <a:p>
            <a:pPr algn="ctr" indent="0" marL="0">
              <a:buNone/>
            </a:pPr>
            <a:r>
              <a:rPr lang="en-US" sz="2200" dirty="0">
                <a:solidFill>
                  <a:srgbClr val="3B82F6"/>
                </a:solidFill>
                <a:latin typeface="Segoe UI" pitchFamily="34" charset="0"/>
                <a:ea typeface="Segoe UI" pitchFamily="34" charset="-122"/>
                <a:cs typeface="Segoe UI" pitchFamily="34" charset="-120"/>
              </a:rPr>
              <a:t>Questions &amp; Discussion</a:t>
            </a:r>
            <a:endParaRPr lang="en-US" sz="2200" dirty="0"/>
          </a:p>
        </p:txBody>
      </p:sp>
      <p:sp>
        <p:nvSpPr>
          <p:cNvPr id="7" name="Shape 5"/>
          <p:cNvSpPr/>
          <p:nvPr/>
        </p:nvSpPr>
        <p:spPr>
          <a:xfrm>
            <a:off x="2560320" y="3886200"/>
            <a:ext cx="7068312" cy="1691640"/>
          </a:xfrm>
          <a:prstGeom prst="roundRect">
            <a:avLst>
              <a:gd name="adj" fmla="val 4324"/>
            </a:avLst>
          </a:prstGeom>
          <a:solidFill>
            <a:srgbClr val="0B1020"/>
          </a:solidFill>
          <a:ln w="12700">
            <a:solidFill>
              <a:srgbClr val="334155"/>
            </a:solidFill>
            <a:prstDash val="solid"/>
          </a:ln>
        </p:spPr>
      </p:sp>
      <p:sp>
        <p:nvSpPr>
          <p:cNvPr id="8" name="Text 6"/>
          <p:cNvSpPr/>
          <p:nvPr/>
        </p:nvSpPr>
        <p:spPr>
          <a:xfrm>
            <a:off x="2743200" y="4069080"/>
            <a:ext cx="6702552" cy="1371600"/>
          </a:xfrm>
          <a:prstGeom prst="rect">
            <a:avLst/>
          </a:prstGeom>
          <a:noFill/>
          <a:ln/>
        </p:spPr>
        <p:txBody>
          <a:bodyPr wrap="square" rtlCol="0" anchor="ctr"/>
          <a:lstStyle/>
          <a:p>
            <a:pPr algn="ctr" indent="0" marL="0">
              <a:buNone/>
            </a:pPr>
            <a:r>
              <a:rPr lang="en-US" sz="1300" b="1" dirty="0">
                <a:solidFill>
                  <a:srgbClr val="22D3EE"/>
                </a:solidFill>
                <a:latin typeface="Segoe UI" pitchFamily="34" charset="0"/>
                <a:ea typeface="Segoe UI" pitchFamily="34" charset="-122"/>
                <a:cs typeface="Segoe UI" pitchFamily="34" charset="-120"/>
              </a:rPr>
              <a:t>Pharmacy Inventory Management System — Multi-Branch Edition
</a:t>
            </a:r>
            <a:pPr algn="ctr" indent="0" marL="0">
              <a:buNone/>
            </a:pPr>
            <a:r>
              <a:rPr lang="en-US" sz="1100" dirty="0">
                <a:solidFill>
                  <a:srgbClr val="94A3B8"/>
                </a:solidFill>
                <a:latin typeface="Segoe UI" pitchFamily="34" charset="0"/>
                <a:ea typeface="Segoe UI" pitchFamily="34" charset="-122"/>
                <a:cs typeface="Segoe UI" pitchFamily="34" charset="-120"/>
              </a:rPr>
              <a:t>Senior BSc Capstone Internship Defense Presentation
</a:t>
            </a:r>
            <a:pPr algn="ctr" indent="0" marL="0">
              <a:buNone/>
            </a:pPr>
            <a:r>
              <a:rPr lang="en-US" sz="1200" b="1" dirty="0">
                <a:solidFill>
                  <a:srgbClr val="F8FAFC"/>
                </a:solidFill>
                <a:latin typeface="Segoe UI" pitchFamily="34" charset="0"/>
                <a:ea typeface="Segoe UI" pitchFamily="34" charset="-122"/>
                <a:cs typeface="Segoe UI" pitchFamily="34" charset="-120"/>
              </a:rPr>
              <a:t>Team Members: Mahlet Yimenu (160805) &amp; Kidist Getaneh (160785)
</a:t>
            </a:r>
            <a:pPr algn="ctr" indent="0" marL="0">
              <a:buNone/>
            </a:pPr>
            <a:r>
              <a:rPr lang="en-US" sz="1100" dirty="0">
                <a:solidFill>
                  <a:srgbClr val="3B82F6"/>
                </a:solidFill>
                <a:latin typeface="Segoe UI" pitchFamily="34" charset="0"/>
                <a:ea typeface="Segoe UI" pitchFamily="34" charset="-122"/>
                <a:cs typeface="Segoe UI" pitchFamily="34" charset="-120"/>
              </a:rPr>
              <a:t>Department of Computer Science  |  August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Woldia University - School of Computing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Pharmacy Inventory Management System — Multi-Branch Edition</dc:title>
  <dc:subject>PptxGenJS Presentation</dc:subject>
  <dc:creator>Mahlet Yimenu &amp; Kidist Getaneh</dc:creator>
  <cp:lastModifiedBy>Mahlet Yimenu &amp; Kidist Getaneh</cp:lastModifiedBy>
  <cp:revision>1</cp:revision>
  <dcterms:created xsi:type="dcterms:W3CDTF">2026-10-12T20:20:16Z</dcterms:created>
  <dcterms:modified xsi:type="dcterms:W3CDTF">2026-10-12T20:20:16Z</dcterms:modified>
</cp:coreProperties>
</file>