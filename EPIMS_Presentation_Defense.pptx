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822960"/>
            <a:ext cx="4389120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22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WOLDIA UNIVERSITY  •  INSTITUTE OF TECHNOLOGY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|  INTERNSHIP PROJECT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Pharmacy Inventory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 (EPIMS)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Decoupled Full-Stack Architecture for Streamlined Dispensing, Automated FEFO Control, and Auditable Procurement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4297680"/>
            <a:ext cx="4937760" cy="1920240"/>
          </a:xfrm>
          <a:prstGeom prst="roundRect">
            <a:avLst>
              <a:gd name="adj" fmla="val 4762"/>
            </a:avLst>
          </a:prstGeom>
          <a:solidFill>
            <a:srgbClr val="132F4C"/>
          </a:solidFill>
          <a:ln w="12700">
            <a:solidFill>
              <a:srgbClr val="234E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 MEMBERS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47091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Mahlet Yimenu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Student ID: 160805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Kidist Getaneh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Student ID: 160785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4297680"/>
            <a:ext cx="4937760" cy="1920240"/>
          </a:xfrm>
          <a:prstGeom prst="roundRect">
            <a:avLst>
              <a:gd name="adj" fmla="val 4762"/>
            </a:avLst>
          </a:prstGeom>
          <a:solidFill>
            <a:srgbClr val="132F4C"/>
          </a:solidFill>
          <a:ln w="12700">
            <a:solidFill>
              <a:srgbClr val="234E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 &amp; ADVISORY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4736592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Project Advisor: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Computing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Tech Stack: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12 REST API + React 18 SPA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Academic Year: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Location: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Woldia, Ethiopia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560320" cy="274320"/>
          </a:xfrm>
          <a:prstGeom prst="roundRect">
            <a:avLst>
              <a:gd name="adj" fmla="val 3333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 &amp; Roadmap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Pharmacy Inventory Management System (EPIMS)  |  Woldia University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002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D5C75"/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1572768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 &amp; Context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challenges in Ethiopian dispensaries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42316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5603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D5C75"/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2532888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Gaps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cards, stock waste, and audit deficits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38328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5204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D5C75"/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3493008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 &amp; Scope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goals, operational boundaries, and deliverables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34340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4805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D5C75"/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4453128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SDLC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gathering, Agile sprints, and OOAD modeling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530352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54406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D5C75"/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440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54480" y="5413248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limitations and innovative solutions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146304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16002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D5C75"/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40880" y="1572768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Stack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Laravel 12 API + React 18 SPA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17920" y="242316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25603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D5C75"/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40880" y="2532888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Modeling (UML &amp; Workflows)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cases, FEFO sequence, and PO state machine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17920" y="338328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55080" y="35204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D5C75"/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040880" y="3493008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&amp; Security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relationships, RBAC engine, Sanctum auth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17920" y="434340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55080" y="44805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D5C75"/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040880" y="4453128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Innovations &amp; Results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Telebirr POS, multi-batch FEFO, automated reports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217920" y="530352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55080" y="54406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D5C75"/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5440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040880" y="5413248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milestones, takeaways, and next horizons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560320" cy="274320"/>
          </a:xfrm>
          <a:prstGeom prst="roundRect">
            <a:avLst>
              <a:gd name="adj" fmla="val 3333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1: 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Healthcare Delivery &amp; Pharmaceuticals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Pharmacy Inventory Management System (EPIMS)  |  Woldia University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3429000" cy="46634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54480"/>
            <a:ext cx="3429000" cy="640080"/>
          </a:xfrm>
          <a:prstGeom prst="rect">
            <a:avLst/>
          </a:prstGeom>
          <a:solidFill>
            <a:srgbClr val="0D5C75"/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544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Pillar of Care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377440"/>
            <a:ext cx="2880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distribution is critical across Ethiopian hospital dispensaries and community retail outlets.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availability of essential drugs in urban centers (Woldia, Dessie, Addis Ababa) directly impacts patient recovery.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affordable access while upholding safety protocols is vital to national health initiatives.
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554480"/>
            <a:ext cx="3429000" cy="46634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554480"/>
            <a:ext cx="3429000" cy="640080"/>
          </a:xfrm>
          <a:prstGeom prst="rect">
            <a:avLst/>
          </a:prstGeom>
          <a:solidFill>
            <a:srgbClr val="0D5C75"/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5544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Pharmacy Lifecycle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2377440"/>
            <a:ext cx="2880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pharmaceutical lifecycle spans: Procurement → Receiving → Batch Storage → Clinical Dispensing → POS → Audit.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batch requires precise tracking of expiration date, active ingredient strength, and temperature/shelf storage.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compliance with Ethiopian Food &amp; Drug Authority (EFDA) standards is legally required.
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1554480"/>
            <a:ext cx="3429000" cy="46634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554480"/>
            <a:ext cx="3429000" cy="640080"/>
          </a:xfrm>
          <a:prstGeom prst="rect">
            <a:avLst/>
          </a:prstGeom>
          <a:solidFill>
            <a:srgbClr val="0D5C75"/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15544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Imperative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0" y="2377440"/>
            <a:ext cx="2880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urbanization and higher patient volumes overwhelm outdated paper and spreadsheet systems.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healthcare requires centralized visibility, instantaneous inventory lookups, and electronic verification.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is essential to prevent medication shortages and stock expiration waste.
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560320" cy="274320"/>
          </a:xfrm>
          <a:prstGeom prst="roundRect">
            <a:avLst>
              <a:gd name="adj" fmla="val 3333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1: 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the Problem: Critical Gaps in Practice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Pharmacy Inventory Management System (EPIMS)  |  Woldia University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240">
            <a:solidFill>
              <a:srgbClr val="FCA5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73736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373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Inaccuracies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51460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shelf counts constantly diverge from paper bin cards, leading to untracked stock shrinkage.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55448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240">
            <a:solidFill>
              <a:srgbClr val="FCA5A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173736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7373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LOSS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26280" y="21031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Expiry Waste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26280" y="251460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automated First Expiry, First Out (FEFO) sorting causes older drug batches to expire unseen on shelves.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955280" y="155448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240">
            <a:solidFill>
              <a:srgbClr val="FCA5A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173736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17373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138160" y="21031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Purchasing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38160" y="251460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&amp; verbal purchase orders prevent tracking supplier delivery lead times and receiving validation.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1520" y="402336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240">
            <a:solidFill>
              <a:srgbClr val="FCA5A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20624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206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QUEUES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45720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Bottlenecks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498348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Conflating clinical dispensing with cashier financial collection causes delays and cash reconciliation errors.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17920" y="402336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240">
            <a:solidFill>
              <a:srgbClr val="FCA5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420624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206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TRAIL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0" y="45720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Auditability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00800" y="498348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paper ledgers lack immutable audit logs mandated by EFDA regulations for controlled substances.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560320" cy="274320"/>
          </a:xfrm>
          <a:prstGeom prst="roundRect">
            <a:avLst>
              <a:gd name="adj" fmla="val 3333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1: OBJECTIVES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Objectives: General &amp; Specific Goals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Pharmacy Inventory Management System (EPIMS)  |  Woldia University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0698480" cy="1143000"/>
          </a:xfrm>
          <a:prstGeom prst="roundRect">
            <a:avLst>
              <a:gd name="adj" fmla="val 8000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OBJECTIVE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8745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design, develop, test, and document a secure, automated, full-stack web-based Ethiopian Pharmacy Inventory Management System (EPIMS) that centralizes pharmaceutical inventory control, procurement workflows, two-stage prescription and retail dispensing, financial checkout, and role-based auditing.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017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 Relational Modeling &amp; FEFO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38328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3NF relational database schema supporting multi-batch inventory, shelf tracking, and strict First Expiry, First Out (FEFO) dispensing algorithms.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83464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017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 Multi-Stage PO Lifecycle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338328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structured procurement state machine (Draft → Pending → Sent → Received → Completed) to prevent duplicate stock updates.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7091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 Segregated Clinical &amp; POS Checkout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507492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distinct workflow decoupling clinical prescription verification from cashier payment collection with Telebirr, CBE Birr, and cash options.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452628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7091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 Enterprise RBAC &amp; Document Exports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507492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Sanctum token security with fine-grained RBAC permissions, and automate DOMPDF receipts and Excel operational reports.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560320" cy="274320"/>
          </a:xfrm>
          <a:prstGeom prst="roundRect">
            <a:avLst>
              <a:gd name="adj" fmla="val 3333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1: SCOPE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Scope &amp; Operational Boundaries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Pharmacy Inventory Management System (EPIMS)  |  Woldia University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62179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5240">
            <a:solidFill>
              <a:srgbClr val="86EFA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645920"/>
            <a:ext cx="2011680" cy="320040"/>
          </a:xfrm>
          <a:prstGeom prst="roundRect">
            <a:avLst>
              <a:gd name="adj" fmla="val 1714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45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IN-SCOPE CAPABILITIES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05840" y="210312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Authentication &amp; User Governance: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Sanctum token issuance, admin account approval gate, and dynamic RBAC roles.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761488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Medicine Master &amp; Cataloging: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CRUD, dosage forms, therapeutic categories, barcodes, and shelf codes.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419856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Multi-Batch Inventory &amp; FEFO: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records, manufacturing/expiry dates, unit costs, and automated alerts.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4078224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Procurement Order Lifecycle: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registration, draft-to-complete PO states, and atomic stock incrementation.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4736592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Two-Stage Dispensing &amp; POS: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 prescription staging queue, cashier retail cart, and Telebirr/CBE Birr.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539496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Reporting &amp; Audit Logs: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analytics, DOMPDF receipts, Excel export, and immutable user audit trail.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1463040"/>
            <a:ext cx="4114800" cy="4754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240">
            <a:solidFill>
              <a:srgbClr val="FDE0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1645920"/>
            <a:ext cx="2560320" cy="320040"/>
          </a:xfrm>
          <a:prstGeom prst="roundRect">
            <a:avLst>
              <a:gd name="adj" fmla="val 17143"/>
            </a:avLst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DELIMITATIONS (FUTURE)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589520" y="21945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Public Patient E-Commerce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public medication home ordering and online delivery portals.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589520" y="31546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Robotic Dispensing Hardware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automated robotic pick-and-pack warehouse machinery integration.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589520" y="41148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National EHR Telecommunication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live integration with national Electronic Health Record databases.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589520" y="5212080"/>
            <a:ext cx="356616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52578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Delimitations were identified for Phase 2 implementation to preserve immediate clinical project feasibility.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560320" cy="274320"/>
          </a:xfrm>
          <a:prstGeom prst="roundRect">
            <a:avLst>
              <a:gd name="adj" fmla="val 3333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1: 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 &amp; Agile Sprint Lifecycle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Pharmacy Inventory Management System (EPIMS)  |  Woldia University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544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Interviews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sessions with practicing licensed pharmacists, cashier staff, and managers in Woldia.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46304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5544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Observation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18745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Observing real-time customer dispensary queues, shelving habits, verification steps, and receipt routines.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955280" y="146304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15544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38160" y="18745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physical bin cards, supplier invoices, sales balance books, and EFDA Good Dispensing guidelines.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&amp; Incremental Agile Development Lifecycle (5 Sprints)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3337560"/>
            <a:ext cx="2057400" cy="28346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337560"/>
            <a:ext cx="2057400" cy="4114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3375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8862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438912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migration, Sanctum authentication, and RBAC tables.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07792" y="3337560"/>
            <a:ext cx="2057400" cy="28346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07792" y="3337560"/>
            <a:ext cx="2057400" cy="4114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07792" y="33375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999232" y="38862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Catalog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44952" y="438912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master data, batch tracking, shelf location mapping, and vendors.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84064" y="3337560"/>
            <a:ext cx="2057400" cy="28346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84064" y="3337560"/>
            <a:ext cx="2057400" cy="4114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84064" y="33375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75504" y="38862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PO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21224" y="438912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 state machine, vendor PDF creation, and stock movement logs.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60336" y="3337560"/>
            <a:ext cx="2057400" cy="28346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60336" y="3337560"/>
            <a:ext cx="2057400" cy="4114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0336" y="33375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51776" y="38862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Dispensing &amp; POS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97496" y="438912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staging queue, cashier retail POS, Telebirr integration, and receipts.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436608" y="3337560"/>
            <a:ext cx="2057400" cy="28346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36608" y="3337560"/>
            <a:ext cx="2057400" cy="4114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36608" y="33375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28048" y="38862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UAT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573768" y="438912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dashboards, immutable audit trails, security tests, and user acceptance.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560320" cy="274320"/>
          </a:xfrm>
          <a:prstGeom prst="roundRect">
            <a:avLst>
              <a:gd name="adj" fmla="val 3333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1: FEASIBILITY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 &amp; Practical Viability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Pharmacy Inventory Management System (EPIMS)  |  Woldia University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2120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0" y="164592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645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VIABLE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05840" y="1645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05740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Leverages mature, enterprise-grade open source tech: Laravel 12 &amp; React 18.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Built-in MVC architecture, Eloquent ORM abstraction, and Sanctum tokens.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Stateless RESTful API ensures low server resource consumption and high concurrency.
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52120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66960" y="164592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66960" y="1645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92240" y="1645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Feasibility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205740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Tailwind CSS delivers intuitive role-specific dashboards with minimal learning curve.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Streamlined POS barcode listener minimizes cashier clicks during peak retail hours.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Directly integrates familiar local payment workflows (Telebirr &amp; CBE Birr).
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3886200"/>
            <a:ext cx="52120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406908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4069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EFFECTIVE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05840" y="4069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Feasibility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448056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100% open-source software stack with zero proprietary licensing costs.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Eliminates thousands of Birr lost annually due to undetected expired medications.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Replaces recurring physical paper stationery and ledger expenditures.
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3886200"/>
            <a:ext cx="52120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66960" y="406908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66960" y="4069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SCHEDULE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92240" y="4069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Feasibility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448056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Project mapped across a 4-month academic undergraduate capstone semester.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Iterative sprint planning ensured timely schema migrations and API tests.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All development deliverables and documentation successfully completed.
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560320" cy="274320"/>
          </a:xfrm>
          <a:prstGeom prst="roundRect">
            <a:avLst>
              <a:gd name="adj" fmla="val 3333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2: EXISTING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Traditional Process &amp; Core Bottlenecks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Pharmacy Inventory Management System (EPIMS)  |  Woldia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pharmacies in Woldia and regional hubs rely on fragmented paper bin cards, handwritten ledger books, and verbal purchasing. Below is an evaluation of traditional workflows and their operational penalties: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20240"/>
          <a:ext cx="106984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657600"/>
                <a:gridCol w="649224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Process Limitation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Operational &amp; Financial Consequence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5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Fragmented Paper Records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unified single source of truth; persistent discrepancies between shelf counts &amp; ledger.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5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Stock Tracking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human calculation error; unrecorded stock shrinkage &amp; shrinkage cannot be audited.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5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Absence of Automated FEFO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Expired medicines remain undetected; causes financial loss and patient safety risks.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5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Uncontrolled Access &amp; Roles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Lack of segregation; unauthorized staff may alter prices, batch quantities, or discard records.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5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Informal Procurement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Verbal/paper purchase orders prevent tracking supplier delivery lead times and QC validation.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5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 Bottlenecks &amp; Audit Gaps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Conflating dispensing and payment causes queue delays; no immutable EFDA compliance log.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560320" cy="274320"/>
          </a:xfrm>
          <a:prstGeom prst="roundRect">
            <a:avLst>
              <a:gd name="adj" fmla="val 3333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2: BUSINESS LOGIC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Core Business Rules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Pharmacy Inventory Management System (EPIMS)  |  Woldia University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4592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0D5C75"/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45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94560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Approval Gate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194560" y="187452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users authenticate via Sanctum tokens. Newly registered accounts require explicit Administrator approval before accessing any protected routes.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42316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60604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0D5C75"/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606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94560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RBAC Security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194560" y="283464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operations (medicine CRUD, role assignment, system audit reviews) are restricted strictly by middleware permissions mapped to active roles.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338328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56616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0D5C75"/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566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94560" y="3520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FEFO Inventory Deduction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194560" y="379476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dispensing and retail checkout automatically select and prioritize batches possessing the earliest expiration date to minimize drug waste.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" y="434340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52628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0D5C75"/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526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94560" y="4480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 Integrity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194560" y="47548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levels increase atomically ONLY when a Purchase Order transitions into 'COMPLETED' state, preventing premature or duplicate additions.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1520" y="530352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548640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0D5C75"/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486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194560" y="5440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Segregated Dispensing Workflow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194560" y="571500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Pharmacists review clinical dosages and stage orders into a pending queue; cashiers retrieve the order, collect payments, and finalize the sale.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560320" cy="274320"/>
          </a:xfrm>
          <a:prstGeom prst="roundRect">
            <a:avLst>
              <a:gd name="adj" fmla="val 3333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3: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System Architecture &amp; Technology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Pharmacy Inventory Management System (EPIMS)  |  Woldia University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383280" cy="47548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3383280" cy="54864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4630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CLIENT (SPA)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30175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18 SPA: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Component-based UI, reactive state, virtual DOM re-renders.
</a:t>
            </a:r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Vite &amp; NPM: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Lightning-fast HMR and minified asset bundle builds.
</a:t>
            </a:r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Tailwind CSS: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Utility-first responsive layouts and custom dashboard theme.
</a:t>
            </a:r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Chart.js &amp; Recharts: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Interactive visual analytics for sales and inventory.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1463040"/>
            <a:ext cx="3383280" cy="47548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0D5C7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463040"/>
            <a:ext cx="3383280" cy="548640"/>
          </a:xfrm>
          <a:prstGeom prst="rect">
            <a:avLst/>
          </a:prstGeom>
          <a:solidFill>
            <a:srgbClr val="0D5C75"/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4630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BACKEND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2103120"/>
            <a:ext cx="30175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Laravel 12 / PHP 8.2+: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High-throughput RESTful routing and clean MVC controllers.
</a:t>
            </a:r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Laravel Sanctum: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Cryptographically signed bearer token authentication.
</a:t>
            </a:r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Eloquent ORM: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Expressive relational queries with pessimistic row locking.
</a:t>
            </a:r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FormRequest Validation: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Strict payload sanitization and HTTP 422 error interception.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1463040"/>
            <a:ext cx="3383280" cy="47548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0A25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1463040"/>
            <a:ext cx="3383280" cy="5486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14630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REPORTING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0" y="2103120"/>
            <a:ext cx="30175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MySQL 8.0 / MariaDB: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ACID relational integrity, indexed foreign keys, 23 tables.
</a:t>
            </a:r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barryvdh/laravel-dompdf: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Printable thermal sales slips &amp; vendor Purchase Order PDFs.
</a:t>
            </a:r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maatwebsite/excel: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Multi-sheet data export for stock valuations &amp; financial logs.
</a:t>
            </a:r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Redis / File Cache: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High-performance caching for administrative dashboard KPIs.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560320" cy="274320"/>
          </a:xfrm>
          <a:prstGeom prst="roundRect">
            <a:avLst>
              <a:gd name="adj" fmla="val 3333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4: SYSTEM MODELING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Actors &amp; Role Responsibilities (RBAC)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Pharmacy Inventory Management System (EPIMS)  |  Woldia University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0020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Governance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108960" y="157276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user accounts, manage security roles &amp; dynamic permissions, oversee branch operations, monitor immutable audit logs, configure global master data.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42316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56032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560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834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Dispensing &amp; Inventory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08960" y="253288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medicine catalog, validate prescriptions, execute FEFO batch allocations, stage orders into pending sales queue, monitor expiry thresholds.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338328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52044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520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794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POS &amp; Receipting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108960" y="349300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staged prescription orders, execute retail OTC barcode sales, collect payments (Telebirr, CBE Birr, Cash), issue sequential thermal receipts.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" y="434340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48056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480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Staff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47548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Suppliers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108960" y="445312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wholesale vendor registers, generate draft purchase orders, submit requisitions for review, dispatch PDF orders to suppliers via email.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1520" y="530352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544068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440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Clerk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57150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Stock Handling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108960" y="54132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quality control inspection on arriving shipments, record batch numbers and shelf locations, execute inter-branch transfers, log damage adjustments.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560320" cy="274320"/>
          </a:xfrm>
          <a:prstGeom prst="roundRect">
            <a:avLst>
              <a:gd name="adj" fmla="val 3333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4: FUNCTIONAL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Use Case Architecture (18 Core Use Cases)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Pharmacy Inventory Management System (EPIMS)  |  Woldia University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2120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5212080" cy="411480"/>
          </a:xfrm>
          <a:prstGeom prst="rect">
            <a:avLst/>
          </a:prstGeom>
          <a:solidFill>
            <a:srgbClr val="0D5C75"/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630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Authentication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96596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UC-01: Authenticate &amp; Login (Sanctum)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UC-15: Manage User Accounts &amp; Approval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UC-16: Manage Dynamic Roles &amp; Permissions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UC-18: Review Immutable Audit Logs
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2120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5212080" cy="411480"/>
          </a:xfrm>
          <a:prstGeom prst="rect">
            <a:avLst/>
          </a:prstGeom>
          <a:solidFill>
            <a:srgbClr val="0D5C75"/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4630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&amp; Stock Control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196596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UC-02: Manage Medicine Master Data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UC-03: Manage Categories &amp; Shelf Locations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UC-06: Manage Multi-Batch Stock &amp; Ledger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UC-07: Monitor Low-Stock Threshold Alerts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UC-08: Monitor Expiry Dates (FEFO Engine)
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886200"/>
            <a:ext cx="52120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886200"/>
            <a:ext cx="5212080" cy="411480"/>
          </a:xfrm>
          <a:prstGeom prst="rect">
            <a:avLst/>
          </a:prstGeom>
          <a:solidFill>
            <a:srgbClr val="0D5C75"/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8862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Warehousing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438912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UC-04: Manage Supplier Registers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UC-09: Create Purchase Orders (PO)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UC-10: Process Multi-State PO Workflows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UC-17: Manage Branches &amp; Stock Transfers
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2120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886200"/>
            <a:ext cx="5212080" cy="411480"/>
          </a:xfrm>
          <a:prstGeom prst="rect">
            <a:avLst/>
          </a:prstGeom>
          <a:solidFill>
            <a:srgbClr val="0D5C75"/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8862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Dispensing &amp; Point of Sale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438912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UC-05: Manage Retail OTC Products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UC-11: Dispense Prescription Sales Queue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UC-12: Execute Retail POS Checkout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UC-13: View Sales History &amp; Receipts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UC-14: Generate Analytics &amp; Excel Reports
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560320" cy="274320"/>
          </a:xfrm>
          <a:prstGeom prst="roundRect">
            <a:avLst>
              <a:gd name="adj" fmla="val 3333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4: DYNAMIC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Dispensing: Clinical Staging &amp; POS Checkout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Pharmacy Inventory Management System (EPIMS)  |  Woldia University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PHARMACIST (CLINICAL DISPENSING)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219456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30428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Review Prescription &amp; Patient Info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43000" y="257860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 inspects doctor's prescription, verifying dosage, safety contraindications, and patient identity.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05840" y="35204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6301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Automated FEFO Batch Allocation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43000" y="390448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engine automatically queries batches and suggests earliest expiring active stock first.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5840" y="484632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9560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Stage into Cashier Queue (PENDING)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43000" y="523036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is saved with PENDING_PAYMENT status. Inventory is locked to prevent duplicate selection.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46304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463040"/>
            <a:ext cx="521208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4630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CASHIER (FINANCIAL POS CHECKOUT)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2240" y="219456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30428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Pull Staged Order / Scan Retail Barcodes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29400" y="257860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selects customer name from the active queue or scans OTC retail goods with the barcode reader.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92240" y="35204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36301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Select Payment (Telebirr / CBE / Cash)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29400" y="390448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modal supports seamless Ethiopian digital payment workflows: Telebirr, CBE Birr, or Cash.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92240" y="484632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49560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Atomic Stock Deduction &amp; Print Receipt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629400" y="523036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transaction executes: stock quantity deducted, ledger updated, and thermal receipt/PDF generated.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560320" cy="274320"/>
          </a:xfrm>
          <a:prstGeom prst="roundRect">
            <a:avLst>
              <a:gd name="adj" fmla="val 3333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4: INVENTORY ENGINE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FEFO Batch Engine &amp; Immutable Stock Ledger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Pharmacy Inventory Management System (EPIMS)  |  Woldia University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FEFO DISPENSING ALGORITHM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2057400"/>
            <a:ext cx="4663440" cy="685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13055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Trigger Event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43000" y="235000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order or retail barcode sale initiated for Medicine ID.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05840" y="2834640"/>
            <a:ext cx="4663440" cy="685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9077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Query Active Batches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43000" y="312724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queries: WHERE medicine_id = X AND quantity &gt; 0.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05840" y="3611880"/>
            <a:ext cx="4663440" cy="685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68503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Ascending Expiry Sort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43000" y="390448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sorted ORDER BY expiry_date ASC; expired items auto-filtered.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05840" y="4389120"/>
            <a:ext cx="4663440" cy="685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446227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Multi-Batch Deduction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43000" y="468172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Deducts needed quantity from earliest batch; cascades to next batch if needed.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05840" y="5166360"/>
            <a:ext cx="4663440" cy="685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523951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Threshold Check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43000" y="545896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remaining stock &lt; reorder_level, low-stock visual alert is triggered.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0" y="146304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1645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STOCK LEDGER (`stock_movements`)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20116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stock mutation appends an immutable transaction record to guarantee total audit traceability for regulatory inspections: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92240" y="2606040"/>
            <a:ext cx="4663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29400" y="27889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27889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(Receipt)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46720" y="27432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incremented automatically upon PO Completion.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92240" y="3474720"/>
            <a:ext cx="4663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29400" y="365760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3657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(Dispensed)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46720" y="36118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decremented upon finalized cashier POS checkout.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92240" y="4343400"/>
            <a:ext cx="4663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29400" y="452628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0D5C75"/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9400" y="4526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46720" y="4480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moved between warehouse and branch dispensary.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92240" y="5212080"/>
            <a:ext cx="4663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29400" y="539496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9400" y="5394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046720" y="53492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batch write-off or damaged vial recording with notes.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560320" cy="274320"/>
          </a:xfrm>
          <a:prstGeom prst="roundRect">
            <a:avLst>
              <a:gd name="adj" fmla="val 3333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4: PROCUREMENT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 Lifecycle &amp; Controlled State Machine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Pharmacy Inventory Management System (EPIMS)  |  Woldia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eliminate inventory discrepancies and prevent premature or duplicate stock additions, EPIMS enforces a strict multi-stage PO state machine: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2057400" cy="40233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011680"/>
            <a:ext cx="205740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116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Staff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310896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supplier, specify medicines, requested batch quantities, and negotiated unit costs.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9748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907792" y="2011680"/>
            <a:ext cx="2057400" cy="40233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07792" y="2011680"/>
            <a:ext cx="205740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07792" y="20116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99232" y="26060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Review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44952" y="310896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requisition is locked against informal edits awaiting administrative approval.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73752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84064" y="2011680"/>
            <a:ext cx="2057400" cy="40233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84064" y="2011680"/>
            <a:ext cx="2057400" cy="4572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84064" y="20116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75504" y="26060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21224" y="310896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auto-generates professional PDF purchase order and dispatches it via email to vendor.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50024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260336" y="2011680"/>
            <a:ext cx="2057400" cy="40233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0D5C7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60336" y="2011680"/>
            <a:ext cx="2057400" cy="457200"/>
          </a:xfrm>
          <a:prstGeom prst="rect">
            <a:avLst/>
          </a:prstGeom>
          <a:solidFill>
            <a:srgbClr val="0D5C75"/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0336" y="20116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51776" y="26060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QC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97496" y="310896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goods arrive; warehouse clerk conducts physical count, checks expiries, and verifies lot #.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226296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436608" y="2011680"/>
            <a:ext cx="2057400" cy="40233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36608" y="2011680"/>
            <a:ext cx="205740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36608" y="20116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528048" y="26060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Credited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573768" y="310896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confirmed: system ATOMICALLY increments batch stock and writes immutable stock ledger.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1520" y="6172200"/>
            <a:ext cx="10698480" cy="41148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61722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Duplicate Stock Prevention: The system verifies prior completion logs before crediting inventory. Rejected orders transition to CANCELLED.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560320" cy="274320"/>
          </a:xfrm>
          <a:prstGeom prst="roundRect">
            <a:avLst>
              <a:gd name="adj" fmla="val 3333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4: DATA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Specification (23 Normalized Tables)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Pharmacy Inventory Management System (EPIMS)  |  Woldia University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RBAC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8745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users, roles, permissions, role_permission, personal_access_tokens, password_reset_tokens, sessions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0" y="1600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Sanctum authentication, role-based authorization matrices, and session control.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42316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&amp; Storage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834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categories, shelves, medicines, batches, retail_products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0" y="2560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Generic/brand names, therapeutic classes, shelf coordinates, unit prices, expiries.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38328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Lifecycle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794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suppliers, purchase_orders, purchase_order_items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4048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registry, PO headers, line-item quantities, unit purchase costs, status tracking.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434340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480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of Sale &amp; Clinical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4754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sales, sale_items, stock_movements, stock_transfers, branches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4048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and retail checkout, transaction headers, immutable stock ledger, branches.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530352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5440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Infrastructure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57150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audit_logs, cache, jobs, failed_jobs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840480" y="5440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administrative activity logs, KPI cache keys, queued background email jobs.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560320" cy="274320"/>
          </a:xfrm>
          <a:prstGeom prst="roundRect">
            <a:avLst>
              <a:gd name="adj" fmla="val 3333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4: SECURITY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Security, Sanctum &amp; RBAC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Pharmacy Inventory Management System (EPIMS)  |  Woldia University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429000" cy="47548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3429000" cy="54864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630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Sanctum Token Pipeline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19456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User authenticates with email &amp; password via /api/login.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Bcrypt hash verification via Hash::check().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Administrative approval check (is_approved boolean).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Cryptographically signed Bearer API token issued.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Stored in client localStorage; sent with every Axios header.
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1463040"/>
            <a:ext cx="3429000" cy="47548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0D5C7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463040"/>
            <a:ext cx="3429000" cy="548640"/>
          </a:xfrm>
          <a:prstGeom prst="rect">
            <a:avLst/>
          </a:prstGeom>
          <a:solidFill>
            <a:srgbClr val="0D5C75"/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4630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Middleware Gatekeepers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19456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EnsureUserApproved: Blocks unactivated users with HTTP 403.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EnsureHasRole: Validates user's operational role context.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EnsureHasPermission: Verifies granular capability per endpoint.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Cross-Site Request Forgery (CSRF) mitigation active.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Automated rate-limiting on sensitive authentication routes.
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55280" y="1463040"/>
            <a:ext cx="3429000" cy="47548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0A25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463040"/>
            <a:ext cx="3429000" cy="5486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14630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Concurrency &amp; Audit Integrity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83880" y="219456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Pessimistic Locking: lockForUpdate() prevents batch overselling.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ACID Transactions: DB::transaction() auto-rollbacks errors.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audit_logs Table: Captures user_id, action, IP, timestamp.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Immutable stock movements prevent ledger tampering.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Parameterized PDO queries defend against SQL injections.
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560320" cy="274320"/>
          </a:xfrm>
          <a:prstGeom prst="roundRect">
            <a:avLst>
              <a:gd name="adj" fmla="val 3333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5: VERIFICATION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Verification &amp; 4-Tier Testing Hierarchy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Pharmacy Inventory Management System (EPIMS)  |  Woldia University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4592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E0F2FE"/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0" y="1645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1: Unit Testing (PHPUnit)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0574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unit tests validating core business calculations, batch deduction algorithms, FEFO sorting logic, and password hashing security.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69748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88036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26080" y="2880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2: API Integration Testing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29184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testing of JSON payloads across Laravel API routes, FormRequest validation errors (HTTP 422), and database transaction rollbacks.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393192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11480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2608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3: Security &amp; RBAC Boundary Tests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452628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route middleware barriers against unauthorized token access, role elevation attempts, inactive account logins, and SQL injection payloads.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" y="516636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534924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349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EVALUATION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926080" y="5349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4: User Acceptance Testing (UAT)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576072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with practicing pharmacists and cashiers in Woldia pharmacies to validate ease of POS checkout, FEFO clarity, and report exports.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560320" cy="274320"/>
          </a:xfrm>
          <a:prstGeom prst="roundRect">
            <a:avLst>
              <a:gd name="adj" fmla="val 3333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5: PROJECT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Innovations &amp; Stakeholder Impact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Pharmacy Inventory Management System (EPIMS)  |  Woldia University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00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Pharmacy Owners &amp; Managers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06240" y="1572768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stock valuation visibility, eradication of paper-based shrinkage, and data-driven procurement through automated sales analytics.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242316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Dispensing Pharmacists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06240" y="2532888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bin card math, automated FEFO batch suggestions, immediate visibility into near-expiry stock (&lt;90 days), and dedicated clinical focus.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38328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520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Cashiers &amp; Counter Staff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06240" y="3493008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Lightning-fast barcode scanner POS cart, dedicated pending prescription queue, Telebirr/CBE Birr support, and automated thermal printing.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434340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480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Patients &amp; Consumers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06240" y="4453128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Drastic reduction in counter waiting queues, 100% protection against dispensing expired medicines, and itemized transparent receipts.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530352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440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Regulatory Authorities (EFDA)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06240" y="5413248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batch lot traceability, strict audit trails for controlled substances, and standardized electronic compliance reporting.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560320" cy="274320"/>
          </a:xfrm>
          <a:prstGeom prst="roundRect">
            <a:avLst>
              <a:gd name="adj" fmla="val 3333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5: RECOMMENDATIONS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Engineering Horizons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Pharmacy Inventory Management System (EPIMS)  |  Woldia University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CONCLUSIONS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103120"/>
            <a:ext cx="46634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Successful Modernization: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EPIMS eliminates paper-based operational bottlenecks across community and hospital dispensaries in Ethiopia.
</a:t>
            </a:r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High-Performance Decoupled Architecture: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12 REST API + React 18 SPA delivers sub-second POS checkouts and robust concurrency management.
</a:t>
            </a:r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Verified Clinical Accountability: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FEFO inventory deduction prevents expired medicine dispensing, while Sanctum and RBAC enforce institutional security.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5212080" cy="5029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4630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RECOMMENDATIONS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21031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Direct Payment Webhooks: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Server-to-server API webhooks with Telebirr SuperApp and CBE Birr for automated payment verification.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2999232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Predictive Demand AI (ML):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time-series models (ARIMA/Random Forest) forecasting seasonal disease medication spikes.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92240" y="3895344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EFDA &amp; EHR Interoperability: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secure FHIR/HL7 compliant data bridges with national regulatory verification registries.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0" y="4791456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Offline PWA Support: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workers and IndexedDB caching for uninterrupted cashier checkout during intermittent internet outages.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097280"/>
            <a:ext cx="576072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109728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WOLDIA UNIVERSITY  •  FACULTY OF COMPUTING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182880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0" y="3840480"/>
            <a:ext cx="6675120" cy="1828800"/>
          </a:xfrm>
          <a:prstGeom prst="roundRect">
            <a:avLst>
              <a:gd name="adj" fmla="val 5000"/>
            </a:avLst>
          </a:prstGeom>
          <a:solidFill>
            <a:srgbClr val="132F4C"/>
          </a:solidFill>
          <a:ln w="12700">
            <a:solidFill>
              <a:srgbClr val="234E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4023360"/>
            <a:ext cx="6309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Pharmacy Inventory Management System (EPIMS)
</a:t>
            </a:r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Undergraduate Internship Defense Project
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Presenters: Mahlet Yimenu (160805) &amp; Kidist Getaneh (160785)
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|  August,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Woldia University - School of Computing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Ethiopian Pharmacy Inventory Management System (EPIMS)</dc:title>
  <dc:subject>PptxGenJS Presentation</dc:subject>
  <dc:creator>Mahlet Yimenu &amp; Kidist Getaneh</dc:creator>
  <cp:lastModifiedBy>Mahlet Yimenu &amp; Kidist Getaneh</cp:lastModifiedBy>
  <cp:revision>1</cp:revision>
  <dcterms:created xsi:type="dcterms:W3CDTF">2026-10-12T15:36:58Z</dcterms:created>
  <dcterms:modified xsi:type="dcterms:W3CDTF">2026-10-12T15:36:58Z</dcterms:modified>
</cp:coreProperties>
</file>