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457200"/>
            <a:ext cx="5486400" cy="7772400"/>
          </a:xfrm>
          <a:prstGeom prst="roundRect">
            <a:avLst>
              <a:gd name="adj" fmla="val 6667"/>
            </a:avLst>
          </a:prstGeom>
          <a:solidFill>
            <a:srgbClr val="132044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365760"/>
            <a:ext cx="4389120" cy="6126480"/>
          </a:xfrm>
          <a:prstGeom prst="roundRect">
            <a:avLst>
              <a:gd name="adj" fmla="val 6250"/>
            </a:avLst>
          </a:prstGeom>
          <a:solidFill>
            <a:srgbClr val="162B56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77240"/>
            <a:ext cx="4389120" cy="347472"/>
          </a:xfrm>
          <a:prstGeom prst="roundRect">
            <a:avLst>
              <a:gd name="adj" fmla="val 26316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77724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WOLDIA UNIVERSITY  •  INSTITUTE OF TECHNOLOGY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28016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 OF COMPUTER SCIENCE  •  INTERNSHIP DEFENSE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Ethiopian Pharmacy Inventory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 System (EPIMS)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Decoupled Full-Stack Architecture for Streamlined Clinical Dispensing, Automated FEFO Batch Control, and Regulatory Procurement Transparency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4389120"/>
            <a:ext cx="3200400" cy="1737360"/>
          </a:xfrm>
          <a:prstGeom prst="roundRect">
            <a:avLst>
              <a:gd name="adj" fmla="val 5263"/>
            </a:avLst>
          </a:prstGeom>
          <a:solidFill>
            <a:srgbClr val="132044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5262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MEMBERS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97280" y="4800600"/>
            <a:ext cx="2834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Mahlet Yimenu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ID: 160805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Kidist Getaneh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ID: 160785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4389120"/>
            <a:ext cx="3200400" cy="1737360"/>
          </a:xfrm>
          <a:prstGeom prst="roundRect">
            <a:avLst>
              <a:gd name="adj" fmla="val 5263"/>
            </a:avLst>
          </a:prstGeom>
          <a:solidFill>
            <a:srgbClr val="132044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45262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SPECIFICATIONS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0" y="4800600"/>
            <a:ext cx="2834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Framework: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Laravel 12 (PHP 8.2+)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Frontend: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 SPA + Vite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Database: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(23 Tables, 3NF)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Defense: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August 2026, Woldia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0" y="685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PROJECT HIGHLIGHTS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12480" y="114300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0B132B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9640" y="12801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52560" y="1234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FEFO Automation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Guarantees earliest expiring drugs are dispensed first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412480" y="210312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0B132B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49640" y="22402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52560" y="21945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Two-Stage Dispensing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Pharmacist prescription staging + Cashier POS payment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412480" y="306324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0B132B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32004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052560" y="31546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Ethiopian POS Payments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support for Telebirr, CBE Birr &amp; Cash checkout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412480" y="402336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0B132B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49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052560" y="41148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Procurement PO Machine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5-State lifecycle preventing duplicate inventory additions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412480" y="498348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0B132B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49640" y="51206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052560" y="50749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EFDA Audit Trail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 stock movement logs &amp; user action tracking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840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Defense Presentation Outline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Ethiopian Pharmacy Inventory Management System (EPIMS)  |  Woldia University  |  August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5257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645920"/>
            <a:ext cx="548640" cy="530352"/>
          </a:xfrm>
          <a:prstGeom prst="roundRect">
            <a:avLst>
              <a:gd name="adj" fmla="val 1034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645920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54480" y="1618488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Background &amp; Context
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Healthcare in Ethiopian dispensaries &amp; distribution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441448"/>
            <a:ext cx="5257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578608"/>
            <a:ext cx="548640" cy="530352"/>
          </a:xfrm>
          <a:prstGeom prst="roundRect">
            <a:avLst>
              <a:gd name="adj" fmla="val 1034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578608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54480" y="2551176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 &amp; Gaps
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 card errors, expiry losses &amp; lack of audit trails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374136"/>
            <a:ext cx="5257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511296"/>
            <a:ext cx="548640" cy="530352"/>
          </a:xfrm>
          <a:prstGeom prst="roundRect">
            <a:avLst>
              <a:gd name="adj" fmla="val 1034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511296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54480" y="3483864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Objectives &amp; Scope
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Centralized goals, boundaries &amp; project delimitations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306824"/>
            <a:ext cx="5257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443984"/>
            <a:ext cx="548640" cy="530352"/>
          </a:xfrm>
          <a:prstGeom prst="roundRect">
            <a:avLst>
              <a:gd name="adj" fmla="val 1034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443984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54480" y="4416552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Methodology &amp; Agile SDLC
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Woldia pharmacy interviews &amp; 5 functional sprints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5239512"/>
            <a:ext cx="5257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5376672"/>
            <a:ext cx="548640" cy="530352"/>
          </a:xfrm>
          <a:prstGeom prst="roundRect">
            <a:avLst>
              <a:gd name="adj" fmla="val 1034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376672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554480" y="5349240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vs. Proposed System
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process analysis &amp; Business Rules BR1-BR5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1508760"/>
            <a:ext cx="5257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55080" y="1645920"/>
            <a:ext cx="548640" cy="530352"/>
          </a:xfrm>
          <a:prstGeom prst="roundRect">
            <a:avLst>
              <a:gd name="adj" fmla="val 1034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1645920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40880" y="1618488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 &amp; Stack
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Decoupled React 18 SPA + Laravel 12 REST API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2441448"/>
            <a:ext cx="5257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55080" y="2578608"/>
            <a:ext cx="548640" cy="530352"/>
          </a:xfrm>
          <a:prstGeom prst="roundRect">
            <a:avLst>
              <a:gd name="adj" fmla="val 1034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2578608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040880" y="2551176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Modeling (UML)
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Use cases, sequence diagrams &amp; activity swimlanes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17920" y="3374136"/>
            <a:ext cx="5257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55080" y="3511296"/>
            <a:ext cx="548640" cy="530352"/>
          </a:xfrm>
          <a:prstGeom prst="roundRect">
            <a:avLst>
              <a:gd name="adj" fmla="val 1034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3511296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040880" y="3483864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&amp; Security Engine
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23-Table 3NF schema, Sanctum tokens &amp; RBAC pipeline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17920" y="4306824"/>
            <a:ext cx="5257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55080" y="4443984"/>
            <a:ext cx="548640" cy="530352"/>
          </a:xfrm>
          <a:prstGeom prst="roundRect">
            <a:avLst>
              <a:gd name="adj" fmla="val 1034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4443984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040880" y="4416552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Innovations &amp; Impact
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Two-stage POS, Telebirr integration &amp; FEFO algorithm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217920" y="5239512"/>
            <a:ext cx="5257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55080" y="5376672"/>
            <a:ext cx="548640" cy="530352"/>
          </a:xfrm>
          <a:prstGeom prst="roundRect">
            <a:avLst>
              <a:gd name="adj" fmla="val 1034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55080" y="5376672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040880" y="5349240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 &amp; Future Work
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deliverables &amp; roadmap for EHR/ML forecasting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840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1 • INTRODUCTION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Healthcare Context &amp; The Pharmacy Lifecycle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Ethiopian Pharmacy Inventory Management System (EPIMS)  |  Woldia University  |  August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3429000" cy="4709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69164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691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NATIONAL CONTEXT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60120" y="205740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Foundational Healthcare Pillar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743200"/>
            <a:ext cx="2971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Pharmaceutical distribution is the bedrock of healthcare delivery across Ethiopian hospital dispensaries and community pharmacies.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In urban centers like Woldia, Dessie, and Addis Ababa, consistent drug availability directly determines clinical recovery outcomes.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Ensuring timely replenishment while complying with national safety standards is vital for public health.
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43400" y="1508760"/>
            <a:ext cx="3429000" cy="4709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69164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691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LIFECYCLE DOMAINS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0" y="205740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Pharmacy Lifecycle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2743200"/>
            <a:ext cx="2971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Procurement: Supplier requisitioning, purchase orders, and lead time tracking.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Receiving &amp; Warehousing: Batch verification, manufacturing/expiry logging, and shelf placement.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Clinical Dispensing: Prescription dosage validation and patient safety checks.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Point of Sale &amp; Audit: Financial checkout, thermal receipting, and EFDA regulatory reporting.
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955280" y="1508760"/>
            <a:ext cx="3429000" cy="4709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3880" y="169164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1691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MODERNIZATION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183880" y="205740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Digital Transformation Need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83880" y="2743200"/>
            <a:ext cx="2971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Rapid population growth and rising prescription volumes overwhelm manual bin cards.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Dispensaries urgently require real-time stock visibility and barcode identification.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 centralized web platform bridges the gap between clinical safety and business accountability.
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840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1 • PROBLEM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Statement: Systemic Inefficiencies in Traditional Practice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Ethiopian Pharmacy Inventory Management System (EPIMS)  |  Woldia University  |  August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342900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5240">
            <a:solidFill>
              <a:srgbClr val="FECD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69164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FE4E6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6916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DISCREPANCIES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60120" y="203911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Stock Inaccuracies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42316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paper bin cards frequently deviate from physical shelf tallies, creating unrecorded stock discrepancies and undetectable inventory shrinkage.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43400" y="1508760"/>
            <a:ext cx="342900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5240">
            <a:solidFill>
              <a:srgbClr val="FECD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69164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FE4E6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6916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LOSS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0" y="203911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Medication Expiry Waste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242316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Absence of automated First Expiry, First Out (FEFO) mechanisms causes older medication batches to expire on shelves unnoticed, threatening patients and finances.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955280" y="1508760"/>
            <a:ext cx="342900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5240">
            <a:solidFill>
              <a:srgbClr val="FECD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3880" y="169164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FE4E6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16916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UNVERIFIED ORDERS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183880" y="203911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Disconnected Purchasing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83880" y="242316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Informal paper and verbal requisitions make tracking supplier lead times impossible and result in unverified deliveries against approved purchase orders.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" y="406908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5240">
            <a:solidFill>
              <a:srgbClr val="FECDD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" y="425196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FE4E6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42519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 QUEUES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60120" y="4599432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Counter Checkout Bottlenecks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498348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Conflating clinical prescription checking with cashier cash collection creates long patient waiting queues, cash shortages, and manual accounting reconciliation errors.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0" y="406908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5240">
            <a:solidFill>
              <a:srgbClr val="FECDD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6520" y="425196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FE4E6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42519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REGULATORY RISK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446520" y="4599432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Absence of EFDA Traceability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46520" y="498348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registries fail to provide the immutable, chronological audit trails legally mandated by the Ethiopian Food and Drug Authority (EFDA) for regulated pharmaceuticals.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840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1 • OBJECTIVES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Objectives: General &amp; Specific Milestones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Ethiopian Pharmacy Inventory Management System (EPIMS)  |  Woldia University  |  August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10725912" cy="1234440"/>
          </a:xfrm>
          <a:prstGeom prst="roundRect">
            <a:avLst>
              <a:gd name="adj" fmla="val 7407"/>
            </a:avLst>
          </a:prstGeom>
          <a:solidFill>
            <a:srgbClr val="0B132B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459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GENERAL OBJECTIVE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1920240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design, develop, test, and document a secure, automated, and full-stack web-based Ethiopian Pharmacy Inventory Management System (EPIMS) that centralizes pharmaceutical inventory control, procurement workflows, two-stage prescription and retail sales dispensing, financial checkout, and role-based auditing.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971800"/>
            <a:ext cx="523951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154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54480" y="3154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Relational Modeling &amp; FEFO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54480" y="3502152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a 3NF relational database schema modeling medicine catalogs, multi-batch records, dynamic reorder thresholds, and strict First Expiry, First Out (FEFO) dispensing algorithms.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2971800"/>
            <a:ext cx="523951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3154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0" y="3154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Procurement PO State Machine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40880" y="3502152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 an automated multi-stage Purchase Order lifecycle (Draft → Pending → Sent → Received → Completed) to eliminate duplicate stock entries and generate vendor PDF purchase orders.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617720"/>
            <a:ext cx="523951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8006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800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54480" y="48006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Two-Stage Dispensing &amp; POS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554480" y="5148072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a segregated clinical prescription dispensing queue for pharmacists and a high-speed cashier POS interface supporting cash, Telebirr, and CBE Birr payments.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4617720"/>
            <a:ext cx="523951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48006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4800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40880" y="48006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RBAC &amp; Automated Exports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40880" y="5148072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 Sanctum bearer token security with fine-grained RBAC permission middleware, automated DOMPDF thermal receipts/invoices, and Laravel Excel report streams.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840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1 • SCOPE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Scope &amp; Operational Boundaries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Ethiopian Pharmacy Inventory Management System (EPIMS)  |  Woldia University  |  August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621792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69164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6916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IN-SCOPE SYSTEM CAPABILITIES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210312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Authentication &amp; User Governance: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Sanctum bearer token auth, admin approval gate, and dynamic RBAC roles.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761488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Medicine Master Catalog: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CRUD, dosage forms, therapeutic categories, barcodes, and shelf codes.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3419856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Multi-Batch Inventory &amp; FEFO: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 records, mfg/exp dates, unit costs, and automated low-stock alerts.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4078224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Purchase Order Lifecycle: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register, multi-stage state transitions, and atomic stock incrementation.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4736592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Two-Stage Dispensing &amp; POS: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prescription staging queue, cashier retail cart, and Telebirr/CBE Birr.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539496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Reporting &amp; Auditing: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Chart.js visual dashboards, DOMPDF invoices, Excel export, and immutable audit logs.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0" y="1508760"/>
            <a:ext cx="4142232" cy="4709160"/>
          </a:xfrm>
          <a:prstGeom prst="roundRect">
            <a:avLst>
              <a:gd name="adj" fmla="val 2208"/>
            </a:avLst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0" y="1691640"/>
            <a:ext cx="2560320" cy="292608"/>
          </a:xfrm>
          <a:prstGeom prst="roundRect">
            <a:avLst>
              <a:gd name="adj" fmla="val 15625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16916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DELIMITATIONS (FUTURE SCOPE)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589520" y="22402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✖  Public Patient E-Commerce
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public medication home ordering, customer cart, and courier dispatch portals.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589520" y="32004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✖  Robotic Dispensing Hardware
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 with physical automated pick-and-pack dispensing robotics in hospital wards.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589520" y="41605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✖  National EHR Telecommunication
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bidirectional HL7 / FHIR integrations with national electronic health databases.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589520" y="5257800"/>
            <a:ext cx="3593592" cy="73152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26680" y="53035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Decision: Delimitations focus EPIMS on immediate institutional pharmacy dispensary operations before national federation.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840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1 • METHODOLOGY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 Methodology &amp; 5-Sprint Agile Lifecycle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Ethiopian Pharmacy Inventory Management System (EPIMS)  |  Woldia University  |  August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002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Stakeholder Interviews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87452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In-depth structured sessions with licensed pharmacists, cashiers, and branch managers across Woldia healthcare centers.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43400" y="150876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6002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Observation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26280" y="187452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observation of dispensary counter workflows, customer queuing, shelf locations, and receipt reconciliation routines.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955280" y="150876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6002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Analysis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38160" y="187452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Systematic review of paper bin cards, supplier invoices, sales balance books, and EFDA Good Dispensing Practice manuals.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31520" y="2926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Iterative &amp; Incremental Agile Development Lifecycle (5 Sprints)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3337560"/>
            <a:ext cx="2057400" cy="28346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337560"/>
            <a:ext cx="20574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3375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38862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Architecture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438912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migrations, Sanctum auth tokens, and RBAC permission tables.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907792" y="3337560"/>
            <a:ext cx="2057400" cy="28346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07792" y="3337560"/>
            <a:ext cx="20574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07792" y="33375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999232" y="38862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Medicine Catalog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44952" y="438912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Medicine master CRUD, multi-batch records, shelf locations, and suppliers.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84064" y="3337560"/>
            <a:ext cx="2057400" cy="28346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84064" y="3337560"/>
            <a:ext cx="20574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84064" y="33375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75504" y="38862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Procurement PO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21224" y="438912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Purchase order state machine, supplier PDF generation, and stock movements.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260336" y="3337560"/>
            <a:ext cx="2057400" cy="28346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60336" y="3337560"/>
            <a:ext cx="20574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0336" y="33375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51776" y="38862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Dispensing &amp; POS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97496" y="438912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Prescription staging queue, retail cashier cart, Telebirr payments, and receipts.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436608" y="3337560"/>
            <a:ext cx="2057400" cy="28346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436608" y="3337560"/>
            <a:ext cx="20574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436608" y="33375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528048" y="38862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&amp; UAT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573768" y="438912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Chart.js dashboards, immutable audit trails, security tests, and pharmacy UAT.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840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1 • FEASIBILITY STUDY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Feasibility &amp; Implementation Viability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Ethiopian Pharmacy Inventory Management System (EPIMS)  |  Woldia University  |  August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5239512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69164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6916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0584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Feasibility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05840" y="2103120"/>
            <a:ext cx="4709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Proven modern web technologies: Laravel 12 on PHP 8.2+ and React 18 SPA.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Stateless RESTful API ensures low server resource consumption and horizontal scalability.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Native Sanctum token issuance and Eloquent ORM ensure rapid data modeling.
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508760"/>
            <a:ext cx="5239512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66960" y="169164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0" y="16916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SEAMLESS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9224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Feasibility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92240" y="2103120"/>
            <a:ext cx="4709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Tailwind CSS delivers clean, role-tailored dashboards minimizing staff training time.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High-speed barcode scanner listener reduces cashier checkout clicks dramatically.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Integrated localized payment options (Telebirr &amp; CBE Birr) mirror everyday customer behavior.
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931920"/>
            <a:ext cx="5239512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0560" y="411480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41148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ROI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05840" y="4114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Economic Feasibility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05840" y="4526280"/>
            <a:ext cx="4709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100% open-source software stack with zero proprietary vendor licensing fees.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Drastically curtails financial losses by preventing unmonitored medication expiration.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Eliminates recurring physical paper stationery, ledger books, and bin card printing costs.
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3931920"/>
            <a:ext cx="5239512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66960" y="411480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EE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66960" y="41148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92240" y="4114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Scheduling Feasibility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92240" y="4526280"/>
            <a:ext cx="4709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Project planned and structured across a 4-month senior academic capstone timeline.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Iterative sprint milestones ensured progressive validation of database, API, and UI.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All software features, test suites, and documentation delivered on schedule.
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840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2 • EXISTING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Traditional Process vs. Operational Consequences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Ethiopian Pharmacy Inventory Management System (EPIMS)  |  Woldia University  |  August 2026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72591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657600"/>
                <a:gridCol w="651967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Traditional Process Limitation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Direct Operational &amp; Financial Consequence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Fragmented Paper Records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unified single source of truth; persistent discrepancies between shelf counts &amp; ledgers.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Manual Stock Tracking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 human calculation errors; unrecorded stock shrinkage and theft cannot be traced.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Absence of Automated FEFO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Expired medicines remain undetected on shelves; severe financial losses &amp; patient health hazards.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Uncontrolled Staff Access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Lack of role segregation; unauthorized staff may modify medicine prices or alter inventory counts.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Informal Procurement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Verbal/paper purchase orders prevent tracking supplier delivery lead times and verifying quantities.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Dispensing &amp; Checkout Bottlenecks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Conflating dispensing and payment causes queue delays; lacks auditable digital receipts for EFDA.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840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2 • BUSINESS RULES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Business Rules (BR-1 to BR-5)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Ethiopian Pharmacy Inventory Management System (EPIMS)  |  Woldia University  |  August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655064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55064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BR-1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94560" y="1618488"/>
            <a:ext cx="9052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 &amp; Admin Approval Gate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94560" y="1911096"/>
            <a:ext cx="9052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users authenticate via Sanctum tokens. Newly registered accounts remain inactive until an Administrator explicitly reviews and activates the account.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441448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587752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58775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BR-2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94560" y="2551176"/>
            <a:ext cx="9052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Granular Role-Based Access Control (RBAC)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94560" y="2843784"/>
            <a:ext cx="9052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mutations (medicine CRUD, user approvals, role configurations, audit trail inspection) are protected by strict route middleware permissions.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374136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352044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5204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BR-3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194560" y="3483864"/>
            <a:ext cx="9052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Expiry, First Out (FEFO) Inventory Deduction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94560" y="3776472"/>
            <a:ext cx="9052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Prescription dispensing and retail POS sales automatically allocate stock from active batches possessing the earliest expiration date to minimize waste.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4306824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4453128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45312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BR-4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194560" y="4416552"/>
            <a:ext cx="9052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Purchase Order Lifecycle &amp; Stock Integrity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194560" y="4709160"/>
            <a:ext cx="9052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quantities increment atomically ONLY when a Purchase Order transitions to 'COMPLETED' status after QC inspection, preventing duplicate counts.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5239512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5385816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385816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BR-5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194560" y="5349240"/>
            <a:ext cx="9052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Segregated Clinical &amp; Financial Dispensing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194560" y="5641848"/>
            <a:ext cx="9052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Pharmacists validate prescriptions and stage orders in a PENDING queue; Cashiers retrieve the order, collect payments, and finalize the transaction.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840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3 •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Decoupled Client-Server System Architecture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Ethiopian Pharmacy Inventory Management System (EPIMS)  |  Woldia University  |  August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3429000" cy="4709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508760"/>
            <a:ext cx="342900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50876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Single Page App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463040" y="2240280"/>
            <a:ext cx="1965960" cy="256032"/>
          </a:xfrm>
          <a:prstGeom prst="roundRect">
            <a:avLst>
              <a:gd name="adj" fmla="val 17857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224028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 + VITE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0120" y="2651760"/>
            <a:ext cx="29718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React 18 SPA: Reusable component hierarchy with virtual DOM rendering.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Tailwind CSS: Utility-first responsive design for desktop &amp; POS terminals.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Vite &amp; NPM: Rapid Hot Module Replacement and production bundling.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Axios HTTP Client: Intercepts Sanctum tokens and dispatches API calls.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Chart.js &amp; Recharts: Visual revenue trends and inventory stock charts.
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43400" y="1508760"/>
            <a:ext cx="3429000" cy="4709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1508760"/>
            <a:ext cx="342900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150876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RESTful API Backend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74920" y="2240280"/>
            <a:ext cx="1965960" cy="256032"/>
          </a:xfrm>
          <a:prstGeom prst="roundRect">
            <a:avLst>
              <a:gd name="adj" fmla="val 17857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224028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LARAVEL 12 (PHP 8.2+)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0" y="2651760"/>
            <a:ext cx="29718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MVC Architecture: Modular controllers, FormRequest validation layers.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Laravel Sanctum: Cryptographically signed Bearer API tokens.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Eloquent ORM: Object-relational mapping with pessimistic row locks.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Middleware Security: EnsureApproved &amp; EnsureHasPermission filters.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ACID Transactions: Automatic DB rollback upon transaction failure.
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955280" y="1508760"/>
            <a:ext cx="3429000" cy="4709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115E5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0" y="1508760"/>
            <a:ext cx="3429000" cy="594360"/>
          </a:xfrm>
          <a:prstGeom prst="rect">
            <a:avLst/>
          </a:prstGeom>
          <a:solidFill>
            <a:srgbClr val="115E59"/>
          </a:solidFill>
          <a:ln w="12700">
            <a:solidFill>
              <a:srgbClr val="115E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0" y="150876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&amp; Output Layer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686800" y="2240280"/>
            <a:ext cx="1965960" cy="256032"/>
          </a:xfrm>
          <a:prstGeom prst="roundRect">
            <a:avLst>
              <a:gd name="adj" fmla="val 17857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0" y="224028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+ EXPORTS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183880" y="2651760"/>
            <a:ext cx="29718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MySQL 8.0: 23 normalized tables adhering to 3NF schema constraints.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barryvdh/laravel-dompdf: Formatted thermal slips and A4 invoices.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maatwebsite/excel: Multi-sheet inventory valuation exports.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Immutable Audit Logs: User ID, event type, IP address, and timestamps.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Redis / Cache Store: Optimized performance for dashboard KPIs.
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840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4 • SYSTEM ACTORS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Actors &amp; Operational Responsibilities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Ethiopian Pharmacy Inventory Management System (EPIMS)  |  Woldia University  |  August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645920"/>
            <a:ext cx="2011680" cy="530352"/>
          </a:xfrm>
          <a:prstGeom prst="roundRect">
            <a:avLst>
              <a:gd name="adj" fmla="val 103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459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System Governance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108960" y="161848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Approves newly registered user accounts, assigns roles &amp; dynamic permissions, monitors branch analytics, audits sensitive logs, and manages system categories.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441448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578608"/>
            <a:ext cx="2011680" cy="530352"/>
          </a:xfrm>
          <a:prstGeom prst="roundRect">
            <a:avLst>
              <a:gd name="adj" fmla="val 103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57860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Pharmacist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85292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Dispensing &amp; Inventory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108960" y="2551176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Maintains medicine catalog, validates doctor prescriptions, allocates FEFO batches, stages pending orders for cashiers, and monitors expiration dates.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374136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3511296"/>
            <a:ext cx="2011680" cy="530352"/>
          </a:xfrm>
          <a:prstGeom prst="roundRect">
            <a:avLst>
              <a:gd name="adj" fmla="val 103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51129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Cashier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78561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 of Sale &amp; Payments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108960" y="3483864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Retrieves staged prescription orders, scans OTC retail barcodes, accepts payments (Telebirr, CBE Birr, Cash), prints thermal receipts, and audits sales.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4306824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4443984"/>
            <a:ext cx="2011680" cy="530352"/>
          </a:xfrm>
          <a:prstGeom prst="roundRect">
            <a:avLst>
              <a:gd name="adj" fmla="val 103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44398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Purchasing Staff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471830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Procurement &amp; Suppliers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108960" y="4416552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Registers wholesale pharmaceutical suppliers, drafts purchase requisitions, submits POs for manager approval, and dispatches PDF orders to vendors.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5239512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5376672"/>
            <a:ext cx="2011680" cy="530352"/>
          </a:xfrm>
          <a:prstGeom prst="roundRect">
            <a:avLst>
              <a:gd name="adj" fmla="val 103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37667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Warehouse Clerk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56509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Physical Stock Receiving &amp; QC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108960" y="534924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Inspects incoming shipments, records batch numbers and manufacturing/expiry dates, executes inter-branch stock transfers, and logs damaged items.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840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4 • FUNCTIONAL MODEL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Functional Use Case Architecture (UC-01 to UC-18)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Ethiopian Pharmacy Inventory Management System (EPIMS)  |  Woldia University  |  August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5239512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508760"/>
            <a:ext cx="5239512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087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Security &amp; Authentication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" y="201168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UC-01: Authenticate &amp; Login (Sanctum Tokens)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UC-15: Manage User Accounts &amp; Approval Gate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UC-16: Configure Dynamic Roles &amp; Permissions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UC-18: Review Immutable Administrative Audit Logs
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508760"/>
            <a:ext cx="5239512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508760"/>
            <a:ext cx="5239512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5087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Medicine &amp; Stock Control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46520" y="201168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UC-02: Manage Medicine Master Data (Full CRUD)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UC-03: Manage Therapeutic Categories &amp; Shelves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UC-06: Manage Multi-Batch Inventory &amp; Stock Ledger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UC-07: Monitor Low-Stock Reorder Threshold Alerts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UC-08: Monitor Batch Expiry Dates (FEFO Engine)
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5239512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931920"/>
            <a:ext cx="5239512" cy="411480"/>
          </a:xfrm>
          <a:prstGeom prst="rect">
            <a:avLst/>
          </a:prstGeom>
          <a:solidFill>
            <a:srgbClr val="115E59"/>
          </a:solidFill>
          <a:ln w="12700">
            <a:solidFill>
              <a:srgbClr val="115E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9319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Procurement &amp; Warehousing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60120" y="443484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UC-04: Manage Wholesale Supplier Directory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UC-09: Create Requisition Purchase Orders (PO)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UC-10: Process Multi-State PO Workflows (QC &amp; Add)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UC-17: Manage Pharmacy Branches &amp; Inter-Branch Transfers
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3931920"/>
            <a:ext cx="5239512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931920"/>
            <a:ext cx="5239512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9319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Clinical Dispensing &amp; POS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46520" y="443484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UC-05: Manage Retail OTC Products &amp; Barcodes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UC-11: Dispense Prescription Orders (Staging Queue)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UC-12: Execute Retail / OTC Point of Sale Checkout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UC-13: Inspect Historical Sales &amp; Print Receipts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UC-14: Generate Analytical Charts &amp; Excel Reports
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840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4 • OPERATIONAL WORKFLOW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Two-Stage Dispensing: Clinical Staging &amp; POS Checkout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Ethiopian Pharmacy Inventory Management System (EPIMS)  |  Woldia University  |  August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5239512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508760"/>
            <a:ext cx="5239512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508760"/>
            <a:ext cx="5239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1: PHARMACIST (CLINICAL STAGING)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2194560"/>
            <a:ext cx="4690872" cy="1143000"/>
          </a:xfrm>
          <a:prstGeom prst="roundRect">
            <a:avLst>
              <a:gd name="adj" fmla="val 64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30428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01.  Prescription &amp; Dosage Review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43000" y="257860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Pharmacist verifies physician prescription, dosage instructions, contraindications, and patient info.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05840" y="3520440"/>
            <a:ext cx="4690872" cy="1143000"/>
          </a:xfrm>
          <a:prstGeom prst="roundRect">
            <a:avLst>
              <a:gd name="adj" fmla="val 64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6301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02.  Automated FEFO Batch Allocation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43000" y="390448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engine queries inventory and automatically binds units from earliest expiring active batches.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05840" y="4846320"/>
            <a:ext cx="4690872" cy="1143000"/>
          </a:xfrm>
          <a:prstGeom prst="roundRect">
            <a:avLst>
              <a:gd name="adj" fmla="val 64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9560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03.  Stage to Cashier Queue (PENDING)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43000" y="523036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is registered with status 'PENDING_PAYMENT'. Stock is temporarily reserved to prevent collisions.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1508760"/>
            <a:ext cx="5239512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508760"/>
            <a:ext cx="5239512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508760"/>
            <a:ext cx="5239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2: CASHIER (FINANCIAL POS CHECKOUT)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2194560"/>
            <a:ext cx="4690872" cy="1143000"/>
          </a:xfrm>
          <a:prstGeom prst="roundRect">
            <a:avLst>
              <a:gd name="adj" fmla="val 64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30428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04.  Retrieve Staged Order / Scan Barcode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629400" y="257860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Cashier pulls patient order from queue or scans retail health/OTC items with the barcode listener.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92240" y="3520440"/>
            <a:ext cx="4690872" cy="1143000"/>
          </a:xfrm>
          <a:prstGeom prst="roundRect">
            <a:avLst>
              <a:gd name="adj" fmla="val 64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36301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05.  Collect Payment (Telebirr / CBE / Cash)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629400" y="390448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modal supports popular Ethiopian channels: Telebirr, CBE Birr mobile banking, or Cash.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92240" y="4846320"/>
            <a:ext cx="4690872" cy="1143000"/>
          </a:xfrm>
          <a:prstGeom prst="roundRect">
            <a:avLst>
              <a:gd name="adj" fmla="val 64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49560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06.  Atomic Deduction &amp; Receipt Printing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629400" y="523036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ACID transaction finalizes: inventory decrements, ledger updates, and thermal receipt prints instantly.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840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4 • INVENTORY ENGINE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FEFO Batch Allocation &amp; Immutable Stock Ledger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Ethiopian Pharmacy Inventory Management System (EPIMS)  |  Woldia University  |  August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5239512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916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FEFO DISPENSING ENGINE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2057400"/>
            <a:ext cx="4690872" cy="6858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13055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Trigger Event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43000" y="235000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Prescription sale or retail barcode checkout initiated.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05840" y="2834640"/>
            <a:ext cx="4690872" cy="6858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9077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Active Batch Query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43000" y="312724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queries batches table for non-zero stock (quantity &gt; 0).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05840" y="3611880"/>
            <a:ext cx="4690872" cy="6858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368503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Ascending Expiry Sort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43000" y="390448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Sorts ORDER BY expiry_date ASC; expired items automatically filtered out.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05840" y="4389120"/>
            <a:ext cx="4690872" cy="6858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446227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Waterfall Deduction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43000" y="468172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Deducts quantity from earliest batch; cascades to next batch if needed.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05840" y="5166360"/>
            <a:ext cx="4690872" cy="6858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23951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Threshold Alert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43000" y="545896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Calculates total remaining stock; flags low-stock alert if below reorder level.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1508760"/>
            <a:ext cx="5239512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16916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 STOCK LEDGER (`stock_movements`)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20116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eliminate untracked stock leakage and satisfy EFDA audits, every inventory mutation appends an immutable transaction record: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92240" y="2606040"/>
            <a:ext cx="46908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29400" y="278892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27889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(Receipt)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046720" y="27432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incremented automatically upon PO Completion.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92240" y="3474720"/>
            <a:ext cx="46908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29400" y="365760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3657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 (Dispensed)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046720" y="36118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decremented upon finalized cashier POS checkout.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92240" y="4343400"/>
            <a:ext cx="46908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29400" y="452628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45262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TRANSFER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046720" y="4480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transferred between warehouse and dispensary.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92240" y="5212080"/>
            <a:ext cx="46908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29400" y="539496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29400" y="5394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ADJUSTMENT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046720" y="53492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Damaged vial write-off or expired batch disposal with reason.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840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4 • PROCUREMENT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Procurement State Machine &amp; Lifecycle Control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Ethiopian Pharmacy Inventory Management System (EPIMS)  |  Woldia University  |  August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31520" y="141732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eliminate inventory discrepancies and prevent premature or duplicate stock additions, EPIMS enforces a strict multi-stage state machine: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965960"/>
            <a:ext cx="2057400" cy="40233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965960"/>
            <a:ext cx="2057400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9659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514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Purchasing Staff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92608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supplier, specify medicines, requested batch quantities, and negotiated unit costs.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69748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907792" y="1965960"/>
            <a:ext cx="2057400" cy="40233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07792" y="1965960"/>
            <a:ext cx="205740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07792" y="19659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99232" y="2514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 Review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44952" y="292608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Requisition is locked against unauthorized edits awaiting administrative review.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73752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84064" y="1965960"/>
            <a:ext cx="2057400" cy="40233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84064" y="1965960"/>
            <a:ext cx="205740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84064" y="19659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75504" y="2514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Dispatched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21224" y="292608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auto-generates professional PDF purchase order and dispatches it via email to vendor.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050024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260336" y="1965960"/>
            <a:ext cx="2057400" cy="40233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60336" y="1965960"/>
            <a:ext cx="20574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60336" y="19659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51776" y="2514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Warehouse QC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97496" y="292608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Goods arrive physically; warehouse clerk inspects lot numbers, expiries, and packaging integrity.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226296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436608" y="1965960"/>
            <a:ext cx="2057400" cy="40233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36608" y="1965960"/>
            <a:ext cx="205740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36608" y="19659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528048" y="2514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Credited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573768" y="292608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QC verified: system ATOMICALLY increments batch stock and writes immutable stock ledger.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31520" y="6172200"/>
            <a:ext cx="10725912" cy="411480"/>
          </a:xfrm>
          <a:prstGeom prst="roundRect">
            <a:avLst>
              <a:gd name="adj" fmla="val 13333"/>
            </a:avLst>
          </a:prstGeom>
          <a:solidFill>
            <a:srgbClr val="FFE4E6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617220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Duplicate Stock Prevention: The system checks existing completion logs before crediting inventory. Rejected orders transition to CANCELLED.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840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4 • DATABASE DESIGN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Relational Database Specification (23 Tables, 3NF)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Ethiopian Pharmacy Inventory Management System (EPIMS)  |  Woldia University  |  August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45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RBAC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05840" y="1920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users, roles, permissions, role_permission, personal_access_tokens, password_reset_tokens, sessions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0" y="1645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credentials (Bcrypt), approval gates, Sanctum tokens, and dynamic role matrices.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2441448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5786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Catalog &amp; Shelves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05840" y="285292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categories, shelves, medicines, batches, retail_products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0" y="2578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Therapeutic categories, physical shelf codes, medicine attributes, batch expiries, barcodes.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3374136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5112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Procurement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05840" y="3785616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suppliers, purchase_orders, purchase_order_items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0480" y="351129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Wholesale vendor profiles (TIN, contact), PO state transitions, line-item batch costs.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4306824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4439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&amp; POS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05840" y="471830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sales, sale_items, stock_movements, stock_transfers, branches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40480" y="444398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Prescription/retail orders, payment channels, immutable stock ledgers, and branches.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1520" y="5239512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53766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05840" y="56509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audit_logs, cache, jobs, failed_jobs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40480" y="5376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 administrative audit trail, dashboard KPI cache, and queued email notifications.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840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4 • SECURITY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Security, Sanctum &amp; RBAC Pipeline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Ethiopian Pharmacy Inventory Management System (EPIMS)  |  Woldia University  |  August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3429000" cy="4709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508760"/>
            <a:ext cx="342900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50876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Sanctum Token Auth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554480" y="2240280"/>
            <a:ext cx="1783080" cy="256032"/>
          </a:xfrm>
          <a:prstGeom prst="roundRect">
            <a:avLst>
              <a:gd name="adj" fmla="val 17857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22402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0120" y="2651760"/>
            <a:ext cx="29718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User authenticates with email &amp; password via /api/login.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Bcrypt hash verification via Hash::check().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Administrative account approval gate (is_approved flag).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Cryptographically signed Bearer API token issued.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Tokens passed asynchronously in Axios headers.
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43400" y="1508760"/>
            <a:ext cx="3429000" cy="4709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1508760"/>
            <a:ext cx="342900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150876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Middleware Barriers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166360" y="2240280"/>
            <a:ext cx="1783080" cy="256032"/>
          </a:xfrm>
          <a:prstGeom prst="roundRect">
            <a:avLst>
              <a:gd name="adj" fmla="val 17857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22402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AUTHORIZATION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0" y="2651760"/>
            <a:ext cx="29718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EnsureUserApproved: Blocks unapproved user accounts with 403.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EnsureHasRole: Validates user operational role boundary.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EnsureHasPermission: Verifies granular route permission.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CSRF Protection: Shields state-changing API mutations.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Rate Limiting: Prevents brute-force authentication attempts.
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955280" y="1508760"/>
            <a:ext cx="3429000" cy="4709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115E5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0" y="1508760"/>
            <a:ext cx="3429000" cy="594360"/>
          </a:xfrm>
          <a:prstGeom prst="rect">
            <a:avLst/>
          </a:prstGeom>
          <a:solidFill>
            <a:srgbClr val="115E59"/>
          </a:solidFill>
          <a:ln w="12700">
            <a:solidFill>
              <a:srgbClr val="115E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0" y="150876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 &amp; Audit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778240" y="2240280"/>
            <a:ext cx="1783080" cy="256032"/>
          </a:xfrm>
          <a:prstGeom prst="roundRect">
            <a:avLst>
              <a:gd name="adj" fmla="val 17857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78240" y="22402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INTEGRITY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183880" y="2651760"/>
            <a:ext cx="29718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Pessimistic Locking: lockForUpdate() prevents batch overselling.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ACID DB Transactions: DB::transaction() auto-rollbacks failures.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audit_logs Table: Logs user ID, action, model, IP, timestamp.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Immutable stock ledger records prevent tampering.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PDO parameterized queries defend against SQL injection.
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840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5 • VERIFICATION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Verification &amp; 4-Tier Testing Hierarchy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Ethiopian Pharmacy Inventory Management System (EPIMS)  |  Woldia University  |  August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107259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673352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7335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ALGORITHMS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017520" y="16733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1: Unit Testing (PHPUnit)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205740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test cases validating core calculations, batch deduction logic, FEFO expiration date sorting, and Bcrypt security hashing.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715768"/>
            <a:ext cx="107259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880360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8803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ENDPOINTS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017520" y="28803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2: API Integration Testing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400" y="3264408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of JSON API payloads, FormRequest error responses (HTTP 422), foreign key constraints, and database transaction rollbacks.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922776"/>
            <a:ext cx="107259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087368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E0F2FE"/>
          </a:solidFill>
          <a:ln w="12700">
            <a:solidFill>
              <a:srgbClr val="115E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08736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BARRIERS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017520" y="40873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3: Security &amp; RBAC Boundary Tests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14400" y="4471416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Rigorous verification of route middleware gates preventing unapproved user logins, cross-role tampering, and SQL injection exploits.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5129784"/>
            <a:ext cx="107259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5294376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29437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EVALUATION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017520" y="529437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4: User Acceptance Testing (UAT)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14400" y="5678424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Conducted with practicing pharmacists and cashiers in Woldia pharmacies to evaluate POS checkout speed, FEFO clarity, and report export usability.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840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5 • PROJECT IMPACT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Software Innovations &amp; Stakeholder Impact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Ethiopian Pharmacy Inventory Management System (EPIMS)  |  Woldia University  |  August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45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 Pharmacy Owners &amp; Managers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06240" y="1618488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real-time inventory valuation visibility, eradication of stock pilferage, and data-driven procurement through automated sales analytics.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441448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5786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💊  Dispensing Pharmacists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06240" y="2551176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manual bin card tallying, automated FEFO batch allocation suggestions, immediate alerts for near-expiry drugs (&lt; 90 days), and dedicated clinical focus.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374136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5112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Cashiers &amp; Counter Personnel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06240" y="3483864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High-speed barcode scanner POS shopping cart, dedicated staged prescription queue, native Telebirr/CBE Birr support, and automated thermal printing.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4306824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44398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 Patients &amp; Consumers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06240" y="4416552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Significant reduction in counter waiting times, 100% protection against receiving expired pharmaceuticals, and transparent itemized receipts.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5239512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53766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📜  Regulatory Bodies (EFDA)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06240" y="5349240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batch number lot traceability, permanent audit trail logs for controlled medications, and standardized electronic compliance reporting.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84048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840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5 • RECOMMENDATIONS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 &amp; Future Research Horizons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Ethiopian Pharmacy Inventory Management System (EPIMS)  |  Woldia University  |  August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5239512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508760"/>
            <a:ext cx="5239512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508760"/>
            <a:ext cx="5239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CONCLUSIONS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05840" y="219456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Operational Modernization:
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replaces error-prone paper bin cards and manual registers with an integrated, high-speed digital solution.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Modern Decoupled Architecture:
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Laravel 12 API + React 18 SPA delivers sub-second POS checkout transactions and robust concurrency management.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Clinical Safety &amp; Accountability:
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FEFO algorithm systematically prioritizes expiring stock, eliminating waste while ensuring strict EFDA audit compliance.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508760"/>
            <a:ext cx="5239512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508760"/>
            <a:ext cx="5239512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08760"/>
            <a:ext cx="5239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WORK RECOMMENDATIONS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92240" y="214884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 Direct Payment Webhooks: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Server-to-server API webhooks with Telebirr SuperApp and CBE Birr for automated confirmation without manual verification.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92240" y="30175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 Predictive Demand AI (ML):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Time-series machine learning models (ARIMA / Random Forest) to forecast seasonal disease medication spikes (e.g., malaria).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0" y="388620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 EFDA &amp; EHR Interoperability: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FHIR / HL7 compliant API bridges with national food and drug portals and regional hospital health records.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92240" y="475488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 Offline PWA Support: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workers and IndexedDB caching for continuous POS checkout during intermittent regional internet connectivity outages.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097280"/>
            <a:ext cx="5788152" cy="411480"/>
          </a:xfrm>
          <a:prstGeom prst="roundRect">
            <a:avLst>
              <a:gd name="adj" fmla="val 22222"/>
            </a:avLst>
          </a:prstGeom>
          <a:solidFill>
            <a:srgbClr val="1320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0" y="1097280"/>
            <a:ext cx="5788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WOLDIA UNIVERSITY  •  FACULTY OF COMPUTING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0" y="1828800"/>
            <a:ext cx="85313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0" y="3840480"/>
            <a:ext cx="7068312" cy="1920240"/>
          </a:xfrm>
          <a:prstGeom prst="roundRect">
            <a:avLst>
              <a:gd name="adj" fmla="val 4762"/>
            </a:avLst>
          </a:prstGeom>
          <a:solidFill>
            <a:srgbClr val="132044"/>
          </a:solidFill>
          <a:ln w="1524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4023360"/>
            <a:ext cx="670255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Ethiopian Pharmacy Inventory Management System (EPIMS)
</a:t>
            </a:r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Senior Undergraduate Internship Defense Project
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Presenters: Mahlet Yimenu (160805) &amp; Kidist Getaneh (160785)
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 of Computer Science  |  August,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Woldia University - School of Computing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Ethiopian Pharmacy Inventory Management System (EPIMS)</dc:title>
  <dc:subject>PptxGenJS Presentation</dc:subject>
  <dc:creator>Mahlet Yimenu &amp; Kidist Getaneh</dc:creator>
  <cp:lastModifiedBy>Mahlet Yimenu &amp; Kidist Getaneh</cp:lastModifiedBy>
  <cp:revision>1</cp:revision>
  <dcterms:created xsi:type="dcterms:W3CDTF">2026-10-12T16:06:44Z</dcterms:created>
  <dcterms:modified xsi:type="dcterms:W3CDTF">2026-10-12T16:06:44Z</dcterms:modified>
</cp:coreProperties>
</file>